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2" r:id="rId1"/>
    <p:sldMasterId id="2147483670" r:id="rId2"/>
    <p:sldMasterId id="2147483681" r:id="rId3"/>
  </p:sldMasterIdLst>
  <p:notesMasterIdLst>
    <p:notesMasterId r:id="rId49"/>
  </p:notesMasterIdLst>
  <p:sldIdLst>
    <p:sldId id="423" r:id="rId4"/>
    <p:sldId id="494" r:id="rId5"/>
    <p:sldId id="492" r:id="rId6"/>
    <p:sldId id="450" r:id="rId7"/>
    <p:sldId id="451" r:id="rId8"/>
    <p:sldId id="488" r:id="rId9"/>
    <p:sldId id="501" r:id="rId10"/>
    <p:sldId id="503" r:id="rId11"/>
    <p:sldId id="500" r:id="rId12"/>
    <p:sldId id="493" r:id="rId13"/>
    <p:sldId id="457" r:id="rId14"/>
    <p:sldId id="453" r:id="rId15"/>
    <p:sldId id="485" r:id="rId16"/>
    <p:sldId id="460" r:id="rId17"/>
    <p:sldId id="458" r:id="rId18"/>
    <p:sldId id="461" r:id="rId19"/>
    <p:sldId id="462" r:id="rId20"/>
    <p:sldId id="497" r:id="rId21"/>
    <p:sldId id="489" r:id="rId22"/>
    <p:sldId id="465" r:id="rId23"/>
    <p:sldId id="504" r:id="rId24"/>
    <p:sldId id="463" r:id="rId25"/>
    <p:sldId id="505" r:id="rId26"/>
    <p:sldId id="464" r:id="rId27"/>
    <p:sldId id="466" r:id="rId28"/>
    <p:sldId id="467" r:id="rId29"/>
    <p:sldId id="468" r:id="rId30"/>
    <p:sldId id="470" r:id="rId31"/>
    <p:sldId id="473" r:id="rId32"/>
    <p:sldId id="474" r:id="rId33"/>
    <p:sldId id="475" r:id="rId34"/>
    <p:sldId id="506" r:id="rId35"/>
    <p:sldId id="476" r:id="rId36"/>
    <p:sldId id="498" r:id="rId37"/>
    <p:sldId id="496" r:id="rId38"/>
    <p:sldId id="477" r:id="rId39"/>
    <p:sldId id="478" r:id="rId40"/>
    <p:sldId id="479" r:id="rId41"/>
    <p:sldId id="499" r:id="rId42"/>
    <p:sldId id="495" r:id="rId43"/>
    <p:sldId id="484" r:id="rId44"/>
    <p:sldId id="480" r:id="rId45"/>
    <p:sldId id="482" r:id="rId46"/>
    <p:sldId id="481" r:id="rId47"/>
    <p:sldId id="507" r:id="rId48"/>
  </p:sldIdLst>
  <p:sldSz cx="12192000" cy="6858000"/>
  <p:notesSz cx="6858000" cy="9144000"/>
  <p:embeddedFontLst>
    <p:embeddedFont>
      <p:font typeface="Calibri" panose="020F0502020204030204" pitchFamily="34" charset="0"/>
      <p:regular r:id="rId50"/>
      <p:bold r:id="rId51"/>
      <p:italic r:id="rId52"/>
      <p:boldItalic r:id="rId53"/>
    </p:embeddedFont>
    <p:embeddedFont>
      <p:font typeface="MS PGothic" panose="020B0600070205080204" pitchFamily="34" charset="-128"/>
      <p:regular r:id="rId54"/>
    </p:embeddedFont>
    <p:embeddedFont>
      <p:font typeface="Cambria" panose="02040503050406030204" pitchFamily="18" charset="0"/>
      <p:regular r:id="rId55"/>
      <p:bold r:id="rId56"/>
      <p:italic r:id="rId57"/>
      <p:boldItalic r:id="rId58"/>
    </p:embeddedFont>
    <p:embeddedFont>
      <p:font typeface="Times" panose="02020603050405020304" pitchFamily="18" charset="0"/>
      <p:regular r:id="rId59"/>
      <p:bold r:id="rId60"/>
      <p:italic r:id="rId61"/>
      <p:boldItalic r:id="rId62"/>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ille de Paris" id="{69363AC6-17A9-4254-B8E5-04F59463C2F4}">
          <p14:sldIdLst>
            <p14:sldId id="423"/>
            <p14:sldId id="494"/>
          </p14:sldIdLst>
        </p14:section>
        <p14:section name="Ville de Paris - Partie 1" id="{2E105918-A185-4971-BE0E-193C6D62C75B}">
          <p14:sldIdLst>
            <p14:sldId id="492"/>
            <p14:sldId id="450"/>
            <p14:sldId id="451"/>
            <p14:sldId id="488"/>
            <p14:sldId id="501"/>
            <p14:sldId id="503"/>
            <p14:sldId id="500"/>
            <p14:sldId id="493"/>
            <p14:sldId id="457"/>
            <p14:sldId id="453"/>
            <p14:sldId id="485"/>
            <p14:sldId id="460"/>
            <p14:sldId id="458"/>
            <p14:sldId id="461"/>
            <p14:sldId id="462"/>
            <p14:sldId id="497"/>
            <p14:sldId id="489"/>
            <p14:sldId id="465"/>
            <p14:sldId id="504"/>
            <p14:sldId id="463"/>
            <p14:sldId id="505"/>
            <p14:sldId id="464"/>
            <p14:sldId id="466"/>
            <p14:sldId id="467"/>
            <p14:sldId id="468"/>
            <p14:sldId id="470"/>
            <p14:sldId id="473"/>
            <p14:sldId id="474"/>
            <p14:sldId id="475"/>
            <p14:sldId id="506"/>
            <p14:sldId id="476"/>
            <p14:sldId id="498"/>
            <p14:sldId id="496"/>
            <p14:sldId id="477"/>
            <p14:sldId id="478"/>
            <p14:sldId id="479"/>
            <p14:sldId id="499"/>
            <p14:sldId id="495"/>
            <p14:sldId id="484"/>
            <p14:sldId id="480"/>
            <p14:sldId id="482"/>
            <p14:sldId id="481"/>
            <p14:sldId id="507"/>
          </p14:sldIdLst>
        </p14:section>
        <p14:section name="Ville de Paris - Partie 6" id="{92EAC61B-53FB-7A4C-8E67-0EA4C3FA24EC}">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1F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751" autoAdjust="0"/>
    <p:restoredTop sz="92727" autoAdjust="0"/>
  </p:normalViewPr>
  <p:slideViewPr>
    <p:cSldViewPr snapToGrid="0" showGuides="1">
      <p:cViewPr varScale="1">
        <p:scale>
          <a:sx n="72" d="100"/>
          <a:sy n="72" d="100"/>
        </p:scale>
        <p:origin x="678" y="60"/>
      </p:cViewPr>
      <p:guideLst>
        <p:guide orient="horz" pos="2160"/>
        <p:guide pos="3840"/>
      </p:guideLst>
    </p:cSldViewPr>
  </p:slideViewPr>
  <p:notesTextViewPr>
    <p:cViewPr>
      <p:scale>
        <a:sx n="1" d="1"/>
        <a:sy n="1" d="1"/>
      </p:scale>
      <p:origin x="0" y="0"/>
    </p:cViewPr>
  </p:notesTextViewPr>
  <p:sorterViewPr>
    <p:cViewPr varScale="1">
      <p:scale>
        <a:sx n="1" d="1"/>
        <a:sy n="1" d="1"/>
      </p:scale>
      <p:origin x="0" y="20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font" Target="fonts/font1.fntdata"/><Relationship Id="rId55" Type="http://schemas.openxmlformats.org/officeDocument/2006/relationships/font" Target="fonts/font6.fntdata"/><Relationship Id="rId63"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font" Target="fonts/font5.fntdata"/><Relationship Id="rId62"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notesMaster" Target="notesMasters/notesMaster1.xml"/><Relationship Id="rId57" Type="http://schemas.openxmlformats.org/officeDocument/2006/relationships/font" Target="fonts/font8.fntdata"/><Relationship Id="rId61" Type="http://schemas.openxmlformats.org/officeDocument/2006/relationships/font" Target="fonts/font12.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font" Target="fonts/font7.fntdata"/><Relationship Id="rId64"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font" Target="fonts/font2.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59CDCFA-5BA2-4CEF-900E-E9DFAB8AE87B}" type="datetimeFigureOut">
              <a:rPr lang="fr-FR" smtClean="0"/>
              <a:t>30/09/2022</a:t>
            </a:fld>
            <a:endParaRPr lang="fr-FR"/>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EA8C49C-F461-49D9-92F3-EE9304A0BFC4}" type="slidenum">
              <a:rPr lang="fr-FR" smtClean="0"/>
              <a:t>‹N°›</a:t>
            </a:fld>
            <a:endParaRPr lang="fr-FR"/>
          </a:p>
        </p:txBody>
      </p:sp>
    </p:spTree>
    <p:extLst>
      <p:ext uri="{BB962C8B-B14F-4D97-AF65-F5344CB8AC3E}">
        <p14:creationId xmlns:p14="http://schemas.microsoft.com/office/powerpoint/2010/main" val="3905887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EA8C49C-F461-49D9-92F3-EE9304A0BFC4}" type="slidenum">
              <a:rPr lang="fr-FR" smtClean="0"/>
              <a:t>4</a:t>
            </a:fld>
            <a:endParaRPr lang="fr-FR"/>
          </a:p>
        </p:txBody>
      </p:sp>
    </p:spTree>
    <p:extLst>
      <p:ext uri="{BB962C8B-B14F-4D97-AF65-F5344CB8AC3E}">
        <p14:creationId xmlns:p14="http://schemas.microsoft.com/office/powerpoint/2010/main" val="8210952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Lien LOPSI</a:t>
            </a:r>
            <a:r>
              <a:rPr lang="fr-FR" baseline="0" dirty="0" smtClean="0"/>
              <a:t> : </a:t>
            </a:r>
            <a:r>
              <a:rPr lang="fr-FR" dirty="0" smtClean="0"/>
              <a:t>https://www.legifrance.gouv.fr/loda/id/JORFTEXT000000780288/</a:t>
            </a:r>
          </a:p>
          <a:p>
            <a:endParaRPr lang="fr-FR" dirty="0" smtClean="0"/>
          </a:p>
          <a:p>
            <a:endParaRPr lang="fr-FR" dirty="0"/>
          </a:p>
        </p:txBody>
      </p:sp>
      <p:sp>
        <p:nvSpPr>
          <p:cNvPr id="4" name="Espace réservé du numéro de diapositive 3"/>
          <p:cNvSpPr>
            <a:spLocks noGrp="1"/>
          </p:cNvSpPr>
          <p:nvPr>
            <p:ph type="sldNum" sz="quarter" idx="10"/>
          </p:nvPr>
        </p:nvSpPr>
        <p:spPr/>
        <p:txBody>
          <a:bodyPr/>
          <a:lstStyle/>
          <a:p>
            <a:fld id="{BEA8C49C-F461-49D9-92F3-EE9304A0BFC4}" type="slidenum">
              <a:rPr lang="fr-FR" smtClean="0"/>
              <a:t>15</a:t>
            </a:fld>
            <a:endParaRPr lang="fr-FR"/>
          </a:p>
        </p:txBody>
      </p:sp>
    </p:spTree>
    <p:extLst>
      <p:ext uri="{BB962C8B-B14F-4D97-AF65-F5344CB8AC3E}">
        <p14:creationId xmlns:p14="http://schemas.microsoft.com/office/powerpoint/2010/main" val="41288132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L531-1: https://www.legifrance.gouv.fr/codes/article_lc/LEGIARTI000032285774/2021-04-08</a:t>
            </a:r>
          </a:p>
          <a:p>
            <a:r>
              <a:rPr lang="fr-FR" sz="1200" kern="1200" dirty="0" smtClean="0">
                <a:solidFill>
                  <a:schemeClr val="tx1"/>
                </a:solidFill>
                <a:latin typeface="+mn-lt"/>
                <a:ea typeface="+mn-ea"/>
                <a:cs typeface="+mn-cs"/>
              </a:rPr>
              <a:t>R-15-33-29-3  CPP</a:t>
            </a:r>
            <a:r>
              <a:rPr lang="fr-FR" dirty="0" smtClean="0"/>
              <a:t>   https://www.legifrance.gouv.fr/codes/id/LEGIARTI000042663171/2020-12-14</a:t>
            </a:r>
          </a:p>
          <a:p>
            <a:endParaRPr lang="fr-FR" dirty="0" smtClean="0"/>
          </a:p>
          <a:p>
            <a:endParaRPr lang="fr-FR" dirty="0"/>
          </a:p>
        </p:txBody>
      </p:sp>
      <p:sp>
        <p:nvSpPr>
          <p:cNvPr id="4" name="Espace réservé du numéro de diapositive 3"/>
          <p:cNvSpPr>
            <a:spLocks noGrp="1"/>
          </p:cNvSpPr>
          <p:nvPr>
            <p:ph type="sldNum" sz="quarter" idx="10"/>
          </p:nvPr>
        </p:nvSpPr>
        <p:spPr/>
        <p:txBody>
          <a:bodyPr/>
          <a:lstStyle/>
          <a:p>
            <a:fld id="{BEA8C49C-F461-49D9-92F3-EE9304A0BFC4}" type="slidenum">
              <a:rPr lang="fr-FR" smtClean="0"/>
              <a:t>24</a:t>
            </a:fld>
            <a:endParaRPr lang="fr-FR"/>
          </a:p>
        </p:txBody>
      </p:sp>
    </p:spTree>
    <p:extLst>
      <p:ext uri="{BB962C8B-B14F-4D97-AF65-F5344CB8AC3E}">
        <p14:creationId xmlns:p14="http://schemas.microsoft.com/office/powerpoint/2010/main" val="987847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smtClean="0">
                <a:effectLst/>
                <a:latin typeface="Calibri" panose="020F0502020204030204" pitchFamily="34" charset="0"/>
                <a:ea typeface="Times New Roman" panose="02020603050405020304" pitchFamily="18" charset="0"/>
                <a:cs typeface="Calibri" panose="020F0502020204030204" pitchFamily="34" charset="0"/>
              </a:rPr>
              <a:t>un nouveau concept de </a:t>
            </a:r>
            <a:r>
              <a:rPr lang="fr-FR" sz="1200" b="1" dirty="0" smtClean="0">
                <a:effectLst/>
                <a:latin typeface="Calibri" panose="020F0502020204030204" pitchFamily="34" charset="0"/>
                <a:ea typeface="Calibri" panose="020F0502020204030204" pitchFamily="34" charset="0"/>
                <a:cs typeface="Calibri" panose="020F0502020204030204" pitchFamily="34" charset="0"/>
              </a:rPr>
              <a:t>Carlos Moreno</a:t>
            </a:r>
            <a:r>
              <a:rPr lang="fr-FR" sz="1200" dirty="0" smtClean="0">
                <a:effectLst/>
                <a:latin typeface="Calibri" panose="020F0502020204030204" pitchFamily="34" charset="0"/>
                <a:ea typeface="Calibri" panose="020F0502020204030204" pitchFamily="34" charset="0"/>
                <a:cs typeface="Calibri" panose="020F0502020204030204" pitchFamily="34" charset="0"/>
              </a:rPr>
              <a:t> « Nous vivons dans des cités fragmentées, où l’on travaille fréquemment loin d’où l’on habite, où l’on ne connaît pas ses voisins, où l’on est seul, où l’on en souffre »,</a:t>
            </a:r>
            <a:endParaRPr lang="fr-FR" sz="1200" kern="1200" dirty="0" smtClean="0">
              <a:solidFill>
                <a:schemeClr val="tx1"/>
              </a:solidFill>
              <a:effectLst/>
              <a:latin typeface="+mn-lt"/>
              <a:ea typeface="Calibri" panose="020F0502020204030204" pitchFamily="34" charset="0"/>
              <a:cs typeface="Times New Roman" panose="02020603050405020304" pitchFamily="18" charset="0"/>
            </a:endParaRPr>
          </a:p>
          <a:p>
            <a:endParaRPr lang="fr-FR" dirty="0"/>
          </a:p>
        </p:txBody>
      </p:sp>
      <p:sp>
        <p:nvSpPr>
          <p:cNvPr id="4" name="Espace réservé du numéro de diapositive 3"/>
          <p:cNvSpPr>
            <a:spLocks noGrp="1"/>
          </p:cNvSpPr>
          <p:nvPr>
            <p:ph type="sldNum" sz="quarter" idx="10"/>
          </p:nvPr>
        </p:nvSpPr>
        <p:spPr/>
        <p:txBody>
          <a:bodyPr/>
          <a:lstStyle/>
          <a:p>
            <a:fld id="{BEA8C49C-F461-49D9-92F3-EE9304A0BFC4}" type="slidenum">
              <a:rPr lang="fr-FR" smtClean="0"/>
              <a:t>44</a:t>
            </a:fld>
            <a:endParaRPr lang="fr-FR"/>
          </a:p>
        </p:txBody>
      </p:sp>
    </p:spTree>
    <p:extLst>
      <p:ext uri="{BB962C8B-B14F-4D97-AF65-F5344CB8AC3E}">
        <p14:creationId xmlns:p14="http://schemas.microsoft.com/office/powerpoint/2010/main" val="12207305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uverture avec fond bleu anthracit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C5EE01-F973-4120-91B8-34CAA765DBA3}"/>
              </a:ext>
            </a:extLst>
          </p:cNvPr>
          <p:cNvSpPr>
            <a:spLocks noGrp="1"/>
          </p:cNvSpPr>
          <p:nvPr>
            <p:ph type="ctrTitle"/>
          </p:nvPr>
        </p:nvSpPr>
        <p:spPr>
          <a:xfrm>
            <a:off x="596664" y="3129138"/>
            <a:ext cx="10800000" cy="1800000"/>
          </a:xfrm>
        </p:spPr>
        <p:txBody>
          <a:bodyPr anchor="t"/>
          <a:lstStyle>
            <a:lvl1pPr algn="l">
              <a:lnSpc>
                <a:spcPct val="115000"/>
              </a:lnSpc>
              <a:defRPr sz="3400">
                <a:solidFill>
                  <a:schemeClr val="tx1"/>
                </a:solidFill>
              </a:defRPr>
            </a:lvl1pPr>
          </a:lstStyle>
          <a:p>
            <a:r>
              <a:rPr lang="fr-FR"/>
              <a:t>Modifiez le style du titre</a:t>
            </a:r>
            <a:endParaRPr lang="fr-FR" dirty="0"/>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p:nvPr>
        </p:nvSpPr>
        <p:spPr>
          <a:xfrm>
            <a:off x="596664" y="5051807"/>
            <a:ext cx="10800000" cy="720000"/>
          </a:xfrm>
        </p:spPr>
        <p:txBody>
          <a:bodyPr anchor="t"/>
          <a:lstStyle>
            <a:lvl1pPr marL="0" indent="0" algn="l">
              <a:lnSpc>
                <a:spcPct val="115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cxnSp>
        <p:nvCxnSpPr>
          <p:cNvPr id="10" name="Connecteur droit 9">
            <a:extLst>
              <a:ext uri="{FF2B5EF4-FFF2-40B4-BE49-F238E27FC236}">
                <a16:creationId xmlns:a16="http://schemas.microsoft.com/office/drawing/2014/main" id="{20F605FF-A3F4-4B25-8AB3-DFD7CC06BF28}"/>
              </a:ext>
            </a:extLst>
          </p:cNvPr>
          <p:cNvCxnSpPr/>
          <p:nvPr userDrawn="1"/>
        </p:nvCxnSpPr>
        <p:spPr>
          <a:xfrm>
            <a:off x="684000" y="2043904"/>
            <a:ext cx="10821600" cy="0"/>
          </a:xfrm>
          <a:prstGeom prst="line">
            <a:avLst/>
          </a:prstGeom>
          <a:ln w="889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Image 5">
            <a:extLst>
              <a:ext uri="{FF2B5EF4-FFF2-40B4-BE49-F238E27FC236}">
                <a16:creationId xmlns:a16="http://schemas.microsoft.com/office/drawing/2014/main" id="{4B053746-5C00-2744-AF94-AEB9A694CD9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284800" y="307181"/>
            <a:ext cx="1623206" cy="1409700"/>
          </a:xfrm>
          <a:prstGeom prst="rect">
            <a:avLst/>
          </a:prstGeom>
        </p:spPr>
      </p:pic>
    </p:spTree>
    <p:extLst>
      <p:ext uri="{BB962C8B-B14F-4D97-AF65-F5344CB8AC3E}">
        <p14:creationId xmlns:p14="http://schemas.microsoft.com/office/powerpoint/2010/main" val="1118252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uverture avec photo">
    <p:bg>
      <p:bgPr>
        <a:solidFill>
          <a:schemeClr val="bg1"/>
        </a:solidFill>
        <a:effectLst/>
      </p:bgPr>
    </p:bg>
    <p:spTree>
      <p:nvGrpSpPr>
        <p:cNvPr id="1" name=""/>
        <p:cNvGrpSpPr/>
        <p:nvPr/>
      </p:nvGrpSpPr>
      <p:grpSpPr>
        <a:xfrm>
          <a:off x="0" y="0"/>
          <a:ext cx="0" cy="0"/>
          <a:chOff x="0" y="0"/>
          <a:chExt cx="0" cy="0"/>
        </a:xfrm>
      </p:grpSpPr>
      <p:sp>
        <p:nvSpPr>
          <p:cNvPr id="21" name="Espace réservé pour une image  2">
            <a:extLst>
              <a:ext uri="{FF2B5EF4-FFF2-40B4-BE49-F238E27FC236}">
                <a16:creationId xmlns:a16="http://schemas.microsoft.com/office/drawing/2014/main" id="{A7CA01CA-E7C9-4000-B256-470DC3596DD7}"/>
              </a:ext>
            </a:extLst>
          </p:cNvPr>
          <p:cNvSpPr>
            <a:spLocks noGrp="1"/>
          </p:cNvSpPr>
          <p:nvPr>
            <p:ph type="pic" idx="13"/>
          </p:nvPr>
        </p:nvSpPr>
        <p:spPr>
          <a:xfrm>
            <a:off x="0" y="-1"/>
            <a:ext cx="12193200" cy="6858000"/>
          </a:xfrm>
          <a:solidFill>
            <a:schemeClr val="bg1">
              <a:lumMod val="95000"/>
            </a:schemeClr>
          </a:solidFill>
        </p:spPr>
        <p:txBody>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2" name="Titre 1">
            <a:extLst>
              <a:ext uri="{FF2B5EF4-FFF2-40B4-BE49-F238E27FC236}">
                <a16:creationId xmlns:a16="http://schemas.microsoft.com/office/drawing/2014/main" id="{50C5EE01-F973-4120-91B8-34CAA765DBA3}"/>
              </a:ext>
            </a:extLst>
          </p:cNvPr>
          <p:cNvSpPr>
            <a:spLocks noGrp="1"/>
          </p:cNvSpPr>
          <p:nvPr>
            <p:ph type="ctrTitle"/>
          </p:nvPr>
        </p:nvSpPr>
        <p:spPr>
          <a:xfrm>
            <a:off x="596664" y="3129138"/>
            <a:ext cx="10800000" cy="1800000"/>
          </a:xfrm>
        </p:spPr>
        <p:txBody>
          <a:bodyPr anchor="t"/>
          <a:lstStyle>
            <a:lvl1pPr algn="l">
              <a:lnSpc>
                <a:spcPct val="115000"/>
              </a:lnSpc>
              <a:defRPr sz="3400">
                <a:solidFill>
                  <a:schemeClr val="bg1"/>
                </a:solidFill>
              </a:defRPr>
            </a:lvl1pPr>
          </a:lstStyle>
          <a:p>
            <a:r>
              <a:rPr lang="fr-FR"/>
              <a:t>Modifiez le style du titre</a:t>
            </a:r>
            <a:endParaRPr lang="fr-FR" dirty="0"/>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p:nvPr>
        </p:nvSpPr>
        <p:spPr>
          <a:xfrm>
            <a:off x="596664" y="5051807"/>
            <a:ext cx="10800000" cy="720000"/>
          </a:xfrm>
        </p:spPr>
        <p:txBody>
          <a:bodyPr anchor="t"/>
          <a:lstStyle>
            <a:lvl1pPr marL="0" indent="0" algn="l">
              <a:lnSpc>
                <a:spcPct val="115000"/>
              </a:lnSpc>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Tree>
    <p:extLst>
      <p:ext uri="{BB962C8B-B14F-4D97-AF65-F5344CB8AC3E}">
        <p14:creationId xmlns:p14="http://schemas.microsoft.com/office/powerpoint/2010/main" val="364751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uverture avec fond blanc">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BFBB1DE-C598-4A6D-8805-D938CF78ADD4}"/>
              </a:ext>
            </a:extLst>
          </p:cNvPr>
          <p:cNvSpPr/>
          <p:nvPr userDrawn="1"/>
        </p:nvSpPr>
        <p:spPr>
          <a:xfrm>
            <a:off x="684000" y="2049780"/>
            <a:ext cx="10821600" cy="4122000"/>
          </a:xfrm>
          <a:prstGeom prst="rect">
            <a:avLst/>
          </a:prstGeom>
          <a:solidFill>
            <a:schemeClr val="tx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50C5EE01-F973-4120-91B8-34CAA765DBA3}"/>
              </a:ext>
            </a:extLst>
          </p:cNvPr>
          <p:cNvSpPr>
            <a:spLocks noGrp="1"/>
          </p:cNvSpPr>
          <p:nvPr>
            <p:ph type="ctrTitle"/>
          </p:nvPr>
        </p:nvSpPr>
        <p:spPr>
          <a:xfrm>
            <a:off x="1034814" y="3129138"/>
            <a:ext cx="10080000" cy="1800000"/>
          </a:xfrm>
        </p:spPr>
        <p:txBody>
          <a:bodyPr anchor="t"/>
          <a:lstStyle>
            <a:lvl1pPr algn="l">
              <a:lnSpc>
                <a:spcPct val="115000"/>
              </a:lnSpc>
              <a:defRPr sz="3400">
                <a:solidFill>
                  <a:schemeClr val="bg1"/>
                </a:solidFill>
              </a:defRPr>
            </a:lvl1pPr>
          </a:lstStyle>
          <a:p>
            <a:r>
              <a:rPr lang="fr-FR"/>
              <a:t>Modifiez le style du titre</a:t>
            </a:r>
            <a:endParaRPr lang="fr-FR" dirty="0"/>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p:nvPr>
        </p:nvSpPr>
        <p:spPr>
          <a:xfrm>
            <a:off x="1034814" y="5051807"/>
            <a:ext cx="10080000" cy="720000"/>
          </a:xfrm>
        </p:spPr>
        <p:txBody>
          <a:bodyPr anchor="t"/>
          <a:lstStyle>
            <a:lvl1pPr marL="0" indent="0" algn="l">
              <a:lnSpc>
                <a:spcPct val="115000"/>
              </a:lnSpc>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pic>
        <p:nvPicPr>
          <p:cNvPr id="18" name="Image 17">
            <a:extLst>
              <a:ext uri="{FF2B5EF4-FFF2-40B4-BE49-F238E27FC236}">
                <a16:creationId xmlns:a16="http://schemas.microsoft.com/office/drawing/2014/main" id="{3B06373D-E409-4968-8D09-4F76DAA501A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284800" y="307181"/>
            <a:ext cx="1623206" cy="1409700"/>
          </a:xfrm>
          <a:prstGeom prst="rect">
            <a:avLst/>
          </a:prstGeom>
        </p:spPr>
      </p:pic>
      <p:sp>
        <p:nvSpPr>
          <p:cNvPr id="11"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5406720" y="6371431"/>
            <a:ext cx="5870880"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mtClean="0"/>
              <a:t>Ecole des Métiers de la Sécurité - Septembre 2022</a:t>
            </a:r>
            <a:endParaRPr lang="fr-FR" dirty="0"/>
          </a:p>
        </p:txBody>
      </p:sp>
      <p:sp>
        <p:nvSpPr>
          <p:cNvPr id="12"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1163300" y="6371431"/>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mtClean="0"/>
              <a:pPr/>
              <a:t>‹N°›</a:t>
            </a:fld>
            <a:endParaRPr lang="fr-FR" dirty="0"/>
          </a:p>
        </p:txBody>
      </p:sp>
    </p:spTree>
    <p:extLst>
      <p:ext uri="{BB962C8B-B14F-4D97-AF65-F5344CB8AC3E}">
        <p14:creationId xmlns:p14="http://schemas.microsoft.com/office/powerpoint/2010/main" val="197690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uverture avec fond blanc + photo">
    <p:bg>
      <p:bgPr>
        <a:solidFill>
          <a:schemeClr val="bg1"/>
        </a:solidFill>
        <a:effectLst/>
      </p:bgPr>
    </p:bg>
    <p:spTree>
      <p:nvGrpSpPr>
        <p:cNvPr id="1" name=""/>
        <p:cNvGrpSpPr/>
        <p:nvPr/>
      </p:nvGrpSpPr>
      <p:grpSpPr>
        <a:xfrm>
          <a:off x="0" y="0"/>
          <a:ext cx="0" cy="0"/>
          <a:chOff x="0" y="0"/>
          <a:chExt cx="0" cy="0"/>
        </a:xfrm>
      </p:grpSpPr>
      <p:sp>
        <p:nvSpPr>
          <p:cNvPr id="12" name="Espace réservé pour une image  2">
            <a:extLst>
              <a:ext uri="{FF2B5EF4-FFF2-40B4-BE49-F238E27FC236}">
                <a16:creationId xmlns:a16="http://schemas.microsoft.com/office/drawing/2014/main" id="{76C2C82B-E95D-4A35-8039-E73BF518D7C9}"/>
              </a:ext>
            </a:extLst>
          </p:cNvPr>
          <p:cNvSpPr>
            <a:spLocks noGrp="1"/>
          </p:cNvSpPr>
          <p:nvPr>
            <p:ph type="pic" idx="13"/>
          </p:nvPr>
        </p:nvSpPr>
        <p:spPr>
          <a:xfrm>
            <a:off x="684000" y="2049780"/>
            <a:ext cx="10821600" cy="4122000"/>
          </a:xfrm>
          <a:solidFill>
            <a:schemeClr val="bg1">
              <a:lumMod val="95000"/>
            </a:schemeClr>
          </a:solidFill>
        </p:spPr>
        <p:txBody>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2" name="Titre 1">
            <a:extLst>
              <a:ext uri="{FF2B5EF4-FFF2-40B4-BE49-F238E27FC236}">
                <a16:creationId xmlns:a16="http://schemas.microsoft.com/office/drawing/2014/main" id="{50C5EE01-F973-4120-91B8-34CAA765DBA3}"/>
              </a:ext>
            </a:extLst>
          </p:cNvPr>
          <p:cNvSpPr>
            <a:spLocks noGrp="1"/>
          </p:cNvSpPr>
          <p:nvPr>
            <p:ph type="ctrTitle"/>
          </p:nvPr>
        </p:nvSpPr>
        <p:spPr>
          <a:xfrm>
            <a:off x="1034814" y="3129138"/>
            <a:ext cx="10080000" cy="1800000"/>
          </a:xfrm>
        </p:spPr>
        <p:txBody>
          <a:bodyPr anchor="t"/>
          <a:lstStyle>
            <a:lvl1pPr algn="l">
              <a:lnSpc>
                <a:spcPct val="115000"/>
              </a:lnSpc>
              <a:defRPr sz="3400">
                <a:solidFill>
                  <a:schemeClr val="bg1"/>
                </a:solidFill>
              </a:defRPr>
            </a:lvl1pPr>
          </a:lstStyle>
          <a:p>
            <a:r>
              <a:rPr lang="fr-FR"/>
              <a:t>Modifiez le style du titre</a:t>
            </a:r>
            <a:endParaRPr lang="fr-FR" dirty="0"/>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p:nvPr>
        </p:nvSpPr>
        <p:spPr>
          <a:xfrm>
            <a:off x="1034814" y="5051807"/>
            <a:ext cx="10080000" cy="720000"/>
          </a:xfrm>
        </p:spPr>
        <p:txBody>
          <a:bodyPr anchor="t"/>
          <a:lstStyle>
            <a:lvl1pPr marL="0" indent="0" algn="l">
              <a:lnSpc>
                <a:spcPct val="115000"/>
              </a:lnSpc>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pic>
        <p:nvPicPr>
          <p:cNvPr id="9" name="Image 8">
            <a:extLst>
              <a:ext uri="{FF2B5EF4-FFF2-40B4-BE49-F238E27FC236}">
                <a16:creationId xmlns:a16="http://schemas.microsoft.com/office/drawing/2014/main" id="{8135F9C0-973F-420D-A7A2-E122081B7D2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284800" y="307181"/>
            <a:ext cx="1623206" cy="1409700"/>
          </a:xfrm>
          <a:prstGeom prst="rect">
            <a:avLst/>
          </a:prstGeom>
        </p:spPr>
      </p:pic>
      <p:sp>
        <p:nvSpPr>
          <p:cNvPr id="13"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5406720" y="6371431"/>
            <a:ext cx="5870880"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mtClean="0"/>
              <a:t>Ecole des Métiers de la Sécurité - Septembre 2022</a:t>
            </a:r>
            <a:endParaRPr lang="fr-FR" dirty="0"/>
          </a:p>
        </p:txBody>
      </p:sp>
      <p:sp>
        <p:nvSpPr>
          <p:cNvPr id="14"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1163300" y="6371431"/>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mtClean="0"/>
              <a:pPr/>
              <a:t>‹N°›</a:t>
            </a:fld>
            <a:endParaRPr lang="fr-FR" dirty="0"/>
          </a:p>
        </p:txBody>
      </p:sp>
    </p:spTree>
    <p:extLst>
      <p:ext uri="{BB962C8B-B14F-4D97-AF65-F5344CB8AC3E}">
        <p14:creationId xmlns:p14="http://schemas.microsoft.com/office/powerpoint/2010/main" val="2847897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3" name="Espace réservé du texte 1">
            <a:extLst>
              <a:ext uri="{FF2B5EF4-FFF2-40B4-BE49-F238E27FC236}">
                <a16:creationId xmlns:a16="http://schemas.microsoft.com/office/drawing/2014/main" id="{31BF3A9F-5739-4B40-A377-C403E92DB704}"/>
              </a:ext>
            </a:extLst>
          </p:cNvPr>
          <p:cNvSpPr>
            <a:spLocks noGrp="1"/>
          </p:cNvSpPr>
          <p:nvPr>
            <p:ph type="body" idx="1" hasCustomPrompt="1"/>
          </p:nvPr>
        </p:nvSpPr>
        <p:spPr>
          <a:xfrm>
            <a:off x="580231" y="1722433"/>
            <a:ext cx="1260000" cy="900000"/>
          </a:xfrm>
        </p:spPr>
        <p:txBody>
          <a:bodyPr anchor="t"/>
          <a:lstStyle>
            <a:lvl1pPr marL="0" indent="0" algn="l">
              <a:buNone/>
              <a:defRPr sz="5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01</a:t>
            </a:r>
          </a:p>
        </p:txBody>
      </p:sp>
      <p:sp>
        <p:nvSpPr>
          <p:cNvPr id="4" name="Titre 3">
            <a:extLst>
              <a:ext uri="{FF2B5EF4-FFF2-40B4-BE49-F238E27FC236}">
                <a16:creationId xmlns:a16="http://schemas.microsoft.com/office/drawing/2014/main" id="{180F2F98-BBD9-47DE-A62F-B4E02FBAA56B}"/>
              </a:ext>
            </a:extLst>
          </p:cNvPr>
          <p:cNvSpPr>
            <a:spLocks noGrp="1"/>
          </p:cNvSpPr>
          <p:nvPr>
            <p:ph type="title"/>
          </p:nvPr>
        </p:nvSpPr>
        <p:spPr/>
        <p:txBody>
          <a:bodyPr/>
          <a:lstStyle/>
          <a:p>
            <a:r>
              <a:rPr lang="fr-FR"/>
              <a:t>Modifiez le style du titre</a:t>
            </a:r>
          </a:p>
        </p:txBody>
      </p:sp>
      <p:sp>
        <p:nvSpPr>
          <p:cNvPr id="23" name="Espace réservé du texte 2">
            <a:extLst>
              <a:ext uri="{FF2B5EF4-FFF2-40B4-BE49-F238E27FC236}">
                <a16:creationId xmlns:a16="http://schemas.microsoft.com/office/drawing/2014/main" id="{4807FE6C-2700-4312-B656-5D27E1B8FE31}"/>
              </a:ext>
            </a:extLst>
          </p:cNvPr>
          <p:cNvSpPr>
            <a:spLocks noGrp="1"/>
          </p:cNvSpPr>
          <p:nvPr>
            <p:ph type="body" sz="quarter" idx="13"/>
          </p:nvPr>
        </p:nvSpPr>
        <p:spPr>
          <a:xfrm>
            <a:off x="1590677" y="1906528"/>
            <a:ext cx="2700000" cy="1620000"/>
          </a:xfrm>
        </p:spPr>
        <p:txBody>
          <a:bodyPr/>
          <a:lstStyle>
            <a:lvl1pPr>
              <a:defRPr sz="2000" b="1">
                <a:solidFill>
                  <a:schemeClr val="tx1"/>
                </a:solidFill>
              </a:defRPr>
            </a:lvl1pPr>
            <a:lvl2pPr marL="0" indent="0">
              <a:lnSpc>
                <a:spcPct val="100000"/>
              </a:lnSpc>
              <a:spcBef>
                <a:spcPts val="600"/>
              </a:spcBef>
              <a:buNone/>
              <a:defRPr sz="1300" b="0"/>
            </a:lvl2pPr>
          </a:lstStyle>
          <a:p>
            <a:pPr lvl="0"/>
            <a:r>
              <a:rPr lang="fr-FR"/>
              <a:t>Modifiez les styles du texte du masque</a:t>
            </a:r>
          </a:p>
        </p:txBody>
      </p:sp>
      <p:sp>
        <p:nvSpPr>
          <p:cNvPr id="24" name="Espace réservé du texte 1">
            <a:extLst>
              <a:ext uri="{FF2B5EF4-FFF2-40B4-BE49-F238E27FC236}">
                <a16:creationId xmlns:a16="http://schemas.microsoft.com/office/drawing/2014/main" id="{A6981A8F-77C7-411B-AAED-B9A79088774E}"/>
              </a:ext>
            </a:extLst>
          </p:cNvPr>
          <p:cNvSpPr>
            <a:spLocks noGrp="1"/>
          </p:cNvSpPr>
          <p:nvPr>
            <p:ph type="body" idx="14" hasCustomPrompt="1"/>
          </p:nvPr>
        </p:nvSpPr>
        <p:spPr>
          <a:xfrm>
            <a:off x="4335554" y="1722433"/>
            <a:ext cx="1260000" cy="900000"/>
          </a:xfrm>
        </p:spPr>
        <p:txBody>
          <a:bodyPr anchor="t"/>
          <a:lstStyle>
            <a:lvl1pPr marL="0" indent="0" algn="l">
              <a:buNone/>
              <a:defRPr sz="5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02</a:t>
            </a:r>
          </a:p>
        </p:txBody>
      </p:sp>
      <p:sp>
        <p:nvSpPr>
          <p:cNvPr id="25" name="Espace réservé du texte 2">
            <a:extLst>
              <a:ext uri="{FF2B5EF4-FFF2-40B4-BE49-F238E27FC236}">
                <a16:creationId xmlns:a16="http://schemas.microsoft.com/office/drawing/2014/main" id="{843578C5-E261-4DCD-96E3-E1231B8E5193}"/>
              </a:ext>
            </a:extLst>
          </p:cNvPr>
          <p:cNvSpPr>
            <a:spLocks noGrp="1"/>
          </p:cNvSpPr>
          <p:nvPr>
            <p:ph type="body" sz="quarter" idx="15"/>
          </p:nvPr>
        </p:nvSpPr>
        <p:spPr>
          <a:xfrm>
            <a:off x="5346000" y="1906528"/>
            <a:ext cx="2700000" cy="1620000"/>
          </a:xfrm>
        </p:spPr>
        <p:txBody>
          <a:bodyPr/>
          <a:lstStyle>
            <a:lvl1pPr>
              <a:defRPr sz="2000" b="1">
                <a:solidFill>
                  <a:schemeClr val="tx1"/>
                </a:solidFill>
              </a:defRPr>
            </a:lvl1pPr>
            <a:lvl2pPr marL="0" indent="0">
              <a:lnSpc>
                <a:spcPct val="100000"/>
              </a:lnSpc>
              <a:spcBef>
                <a:spcPts val="600"/>
              </a:spcBef>
              <a:buNone/>
              <a:defRPr sz="1300" b="0"/>
            </a:lvl2pPr>
          </a:lstStyle>
          <a:p>
            <a:pPr lvl="0"/>
            <a:r>
              <a:rPr lang="fr-FR"/>
              <a:t>Modifiez les styles du texte du masque</a:t>
            </a:r>
          </a:p>
        </p:txBody>
      </p:sp>
      <p:sp>
        <p:nvSpPr>
          <p:cNvPr id="26" name="Espace réservé du texte 1">
            <a:extLst>
              <a:ext uri="{FF2B5EF4-FFF2-40B4-BE49-F238E27FC236}">
                <a16:creationId xmlns:a16="http://schemas.microsoft.com/office/drawing/2014/main" id="{F77A9180-B139-47B4-AD37-6C7C80D2A8E3}"/>
              </a:ext>
            </a:extLst>
          </p:cNvPr>
          <p:cNvSpPr>
            <a:spLocks noGrp="1"/>
          </p:cNvSpPr>
          <p:nvPr>
            <p:ph type="body" idx="16" hasCustomPrompt="1"/>
          </p:nvPr>
        </p:nvSpPr>
        <p:spPr>
          <a:xfrm>
            <a:off x="8097855" y="1722433"/>
            <a:ext cx="1260000" cy="900000"/>
          </a:xfrm>
        </p:spPr>
        <p:txBody>
          <a:bodyPr anchor="t"/>
          <a:lstStyle>
            <a:lvl1pPr marL="0" indent="0" algn="l">
              <a:buNone/>
              <a:defRPr sz="5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03</a:t>
            </a:r>
          </a:p>
        </p:txBody>
      </p:sp>
      <p:sp>
        <p:nvSpPr>
          <p:cNvPr id="27" name="Espace réservé du texte 2">
            <a:extLst>
              <a:ext uri="{FF2B5EF4-FFF2-40B4-BE49-F238E27FC236}">
                <a16:creationId xmlns:a16="http://schemas.microsoft.com/office/drawing/2014/main" id="{128E1425-609B-454E-B008-1ECCD3D43774}"/>
              </a:ext>
            </a:extLst>
          </p:cNvPr>
          <p:cNvSpPr>
            <a:spLocks noGrp="1"/>
          </p:cNvSpPr>
          <p:nvPr>
            <p:ph type="body" sz="quarter" idx="17"/>
          </p:nvPr>
        </p:nvSpPr>
        <p:spPr>
          <a:xfrm>
            <a:off x="9108301" y="1906528"/>
            <a:ext cx="2700000" cy="1620000"/>
          </a:xfrm>
        </p:spPr>
        <p:txBody>
          <a:bodyPr/>
          <a:lstStyle>
            <a:lvl1pPr>
              <a:defRPr sz="2000" b="1">
                <a:solidFill>
                  <a:schemeClr val="tx1"/>
                </a:solidFill>
              </a:defRPr>
            </a:lvl1pPr>
            <a:lvl2pPr marL="0" indent="0">
              <a:lnSpc>
                <a:spcPct val="100000"/>
              </a:lnSpc>
              <a:spcBef>
                <a:spcPts val="600"/>
              </a:spcBef>
              <a:buNone/>
              <a:defRPr sz="1300" b="0"/>
            </a:lvl2pPr>
          </a:lstStyle>
          <a:p>
            <a:pPr lvl="0"/>
            <a:r>
              <a:rPr lang="fr-FR"/>
              <a:t>Modifiez les styles du texte du masque</a:t>
            </a:r>
          </a:p>
        </p:txBody>
      </p:sp>
      <p:sp>
        <p:nvSpPr>
          <p:cNvPr id="28" name="Espace réservé du texte 1">
            <a:extLst>
              <a:ext uri="{FF2B5EF4-FFF2-40B4-BE49-F238E27FC236}">
                <a16:creationId xmlns:a16="http://schemas.microsoft.com/office/drawing/2014/main" id="{15B11B44-A2CD-4B94-8ED3-2E10AB80EE5B}"/>
              </a:ext>
            </a:extLst>
          </p:cNvPr>
          <p:cNvSpPr>
            <a:spLocks noGrp="1"/>
          </p:cNvSpPr>
          <p:nvPr>
            <p:ph type="body" idx="18" hasCustomPrompt="1"/>
          </p:nvPr>
        </p:nvSpPr>
        <p:spPr>
          <a:xfrm>
            <a:off x="580231" y="3327868"/>
            <a:ext cx="1260000" cy="900000"/>
          </a:xfrm>
        </p:spPr>
        <p:txBody>
          <a:bodyPr anchor="t"/>
          <a:lstStyle>
            <a:lvl1pPr marL="0" indent="0" algn="l">
              <a:buNone/>
              <a:defRPr sz="5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04</a:t>
            </a:r>
          </a:p>
        </p:txBody>
      </p:sp>
      <p:sp>
        <p:nvSpPr>
          <p:cNvPr id="29" name="Espace réservé du texte 2">
            <a:extLst>
              <a:ext uri="{FF2B5EF4-FFF2-40B4-BE49-F238E27FC236}">
                <a16:creationId xmlns:a16="http://schemas.microsoft.com/office/drawing/2014/main" id="{17F534A3-63A0-48F3-B4C0-880990E4196C}"/>
              </a:ext>
            </a:extLst>
          </p:cNvPr>
          <p:cNvSpPr>
            <a:spLocks noGrp="1"/>
          </p:cNvSpPr>
          <p:nvPr>
            <p:ph type="body" sz="quarter" idx="19"/>
          </p:nvPr>
        </p:nvSpPr>
        <p:spPr>
          <a:xfrm>
            <a:off x="1590677" y="3511963"/>
            <a:ext cx="2700000" cy="1620000"/>
          </a:xfrm>
        </p:spPr>
        <p:txBody>
          <a:bodyPr/>
          <a:lstStyle>
            <a:lvl1pPr>
              <a:defRPr sz="2000" b="1">
                <a:solidFill>
                  <a:schemeClr val="tx1"/>
                </a:solidFill>
              </a:defRPr>
            </a:lvl1pPr>
            <a:lvl2pPr marL="0" indent="0">
              <a:lnSpc>
                <a:spcPct val="100000"/>
              </a:lnSpc>
              <a:spcBef>
                <a:spcPts val="600"/>
              </a:spcBef>
              <a:buNone/>
              <a:defRPr sz="1300" b="0"/>
            </a:lvl2pPr>
          </a:lstStyle>
          <a:p>
            <a:pPr lvl="0"/>
            <a:r>
              <a:rPr lang="fr-FR"/>
              <a:t>Modifiez les styles du texte du masque</a:t>
            </a:r>
          </a:p>
        </p:txBody>
      </p:sp>
      <p:sp>
        <p:nvSpPr>
          <p:cNvPr id="30" name="Espace réservé du texte 1">
            <a:extLst>
              <a:ext uri="{FF2B5EF4-FFF2-40B4-BE49-F238E27FC236}">
                <a16:creationId xmlns:a16="http://schemas.microsoft.com/office/drawing/2014/main" id="{5F450093-699E-4314-94A2-1BABC6A0C0E4}"/>
              </a:ext>
            </a:extLst>
          </p:cNvPr>
          <p:cNvSpPr>
            <a:spLocks noGrp="1"/>
          </p:cNvSpPr>
          <p:nvPr>
            <p:ph type="body" idx="20" hasCustomPrompt="1"/>
          </p:nvPr>
        </p:nvSpPr>
        <p:spPr>
          <a:xfrm>
            <a:off x="4335554" y="3327868"/>
            <a:ext cx="1260000" cy="900000"/>
          </a:xfrm>
        </p:spPr>
        <p:txBody>
          <a:bodyPr anchor="t"/>
          <a:lstStyle>
            <a:lvl1pPr marL="0" indent="0" algn="l">
              <a:buNone/>
              <a:defRPr sz="5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05</a:t>
            </a:r>
          </a:p>
        </p:txBody>
      </p:sp>
      <p:sp>
        <p:nvSpPr>
          <p:cNvPr id="31" name="Espace réservé du texte 2">
            <a:extLst>
              <a:ext uri="{FF2B5EF4-FFF2-40B4-BE49-F238E27FC236}">
                <a16:creationId xmlns:a16="http://schemas.microsoft.com/office/drawing/2014/main" id="{4F2A0D90-060C-47C3-9DC7-957B9D56ACBC}"/>
              </a:ext>
            </a:extLst>
          </p:cNvPr>
          <p:cNvSpPr>
            <a:spLocks noGrp="1"/>
          </p:cNvSpPr>
          <p:nvPr>
            <p:ph type="body" sz="quarter" idx="21"/>
          </p:nvPr>
        </p:nvSpPr>
        <p:spPr>
          <a:xfrm>
            <a:off x="5346000" y="3511963"/>
            <a:ext cx="2700000" cy="1620000"/>
          </a:xfrm>
        </p:spPr>
        <p:txBody>
          <a:bodyPr/>
          <a:lstStyle>
            <a:lvl1pPr>
              <a:defRPr sz="2000" b="1">
                <a:solidFill>
                  <a:schemeClr val="tx1"/>
                </a:solidFill>
              </a:defRPr>
            </a:lvl1pPr>
            <a:lvl2pPr marL="0" indent="0">
              <a:lnSpc>
                <a:spcPct val="100000"/>
              </a:lnSpc>
              <a:spcBef>
                <a:spcPts val="600"/>
              </a:spcBef>
              <a:buNone/>
              <a:defRPr sz="1300" b="0"/>
            </a:lvl2pPr>
          </a:lstStyle>
          <a:p>
            <a:pPr lvl="0"/>
            <a:r>
              <a:rPr lang="fr-FR"/>
              <a:t>Modifiez les styles du texte du masque</a:t>
            </a:r>
          </a:p>
        </p:txBody>
      </p:sp>
      <p:sp>
        <p:nvSpPr>
          <p:cNvPr id="32" name="Espace réservé du texte 1">
            <a:extLst>
              <a:ext uri="{FF2B5EF4-FFF2-40B4-BE49-F238E27FC236}">
                <a16:creationId xmlns:a16="http://schemas.microsoft.com/office/drawing/2014/main" id="{BD6AAA97-755D-40DC-9159-3AF393AA2BEC}"/>
              </a:ext>
            </a:extLst>
          </p:cNvPr>
          <p:cNvSpPr>
            <a:spLocks noGrp="1"/>
          </p:cNvSpPr>
          <p:nvPr>
            <p:ph type="body" idx="22" hasCustomPrompt="1"/>
          </p:nvPr>
        </p:nvSpPr>
        <p:spPr>
          <a:xfrm>
            <a:off x="8097855" y="3327868"/>
            <a:ext cx="1260000" cy="900000"/>
          </a:xfrm>
        </p:spPr>
        <p:txBody>
          <a:bodyPr anchor="t"/>
          <a:lstStyle>
            <a:lvl1pPr marL="0" indent="0" algn="l">
              <a:buNone/>
              <a:defRPr sz="5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06</a:t>
            </a:r>
          </a:p>
        </p:txBody>
      </p:sp>
      <p:sp>
        <p:nvSpPr>
          <p:cNvPr id="33" name="Espace réservé du texte 2">
            <a:extLst>
              <a:ext uri="{FF2B5EF4-FFF2-40B4-BE49-F238E27FC236}">
                <a16:creationId xmlns:a16="http://schemas.microsoft.com/office/drawing/2014/main" id="{F6AA69BB-FE81-47A7-9178-8F577AA2B66B}"/>
              </a:ext>
            </a:extLst>
          </p:cNvPr>
          <p:cNvSpPr>
            <a:spLocks noGrp="1"/>
          </p:cNvSpPr>
          <p:nvPr>
            <p:ph type="body" sz="quarter" idx="23"/>
          </p:nvPr>
        </p:nvSpPr>
        <p:spPr>
          <a:xfrm>
            <a:off x="9108301" y="3511963"/>
            <a:ext cx="2700000" cy="1620000"/>
          </a:xfrm>
        </p:spPr>
        <p:txBody>
          <a:bodyPr/>
          <a:lstStyle>
            <a:lvl1pPr>
              <a:defRPr sz="2000" b="1">
                <a:solidFill>
                  <a:schemeClr val="tx1"/>
                </a:solidFill>
              </a:defRPr>
            </a:lvl1pPr>
            <a:lvl2pPr marL="0" indent="0">
              <a:lnSpc>
                <a:spcPct val="100000"/>
              </a:lnSpc>
              <a:spcBef>
                <a:spcPts val="600"/>
              </a:spcBef>
              <a:buNone/>
              <a:defRPr sz="1300" b="0"/>
            </a:lvl2pPr>
          </a:lstStyle>
          <a:p>
            <a:pPr lvl="0"/>
            <a:r>
              <a:rPr lang="fr-FR"/>
              <a:t>Modifiez les styles du texte du masque</a:t>
            </a:r>
          </a:p>
        </p:txBody>
      </p:sp>
      <p:sp>
        <p:nvSpPr>
          <p:cNvPr id="20"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5406720" y="6371431"/>
            <a:ext cx="5870880"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mtClean="0"/>
              <a:t>Ecole des Métiers de la Sécurité - Septembre 2022</a:t>
            </a:r>
            <a:endParaRPr lang="fr-FR" dirty="0"/>
          </a:p>
        </p:txBody>
      </p:sp>
      <p:sp>
        <p:nvSpPr>
          <p:cNvPr id="21"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1163300" y="6371431"/>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mtClean="0"/>
              <a:pPr/>
              <a:t>‹N°›</a:t>
            </a:fld>
            <a:endParaRPr lang="fr-FR" dirty="0"/>
          </a:p>
        </p:txBody>
      </p:sp>
    </p:spTree>
    <p:extLst>
      <p:ext uri="{BB962C8B-B14F-4D97-AF65-F5344CB8AC3E}">
        <p14:creationId xmlns:p14="http://schemas.microsoft.com/office/powerpoint/2010/main" val="4138274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hoto">
    <p:spTree>
      <p:nvGrpSpPr>
        <p:cNvPr id="1" name=""/>
        <p:cNvGrpSpPr/>
        <p:nvPr/>
      </p:nvGrpSpPr>
      <p:grpSpPr>
        <a:xfrm>
          <a:off x="0" y="0"/>
          <a:ext cx="0" cy="0"/>
          <a:chOff x="0" y="0"/>
          <a:chExt cx="0" cy="0"/>
        </a:xfrm>
      </p:grpSpPr>
      <p:sp>
        <p:nvSpPr>
          <p:cNvPr id="7" name="Espace réservé pour une image  2">
            <a:extLst>
              <a:ext uri="{FF2B5EF4-FFF2-40B4-BE49-F238E27FC236}">
                <a16:creationId xmlns:a16="http://schemas.microsoft.com/office/drawing/2014/main" id="{CE97E421-9E9C-4E00-98BD-C089CD74EB4D}"/>
              </a:ext>
            </a:extLst>
          </p:cNvPr>
          <p:cNvSpPr>
            <a:spLocks noGrp="1"/>
          </p:cNvSpPr>
          <p:nvPr>
            <p:ph type="pic" idx="1"/>
          </p:nvPr>
        </p:nvSpPr>
        <p:spPr>
          <a:xfrm>
            <a:off x="684000" y="683999"/>
            <a:ext cx="10825200" cy="5490000"/>
          </a:xfrm>
          <a:solidFill>
            <a:schemeClr val="bg1">
              <a:lumMod val="95000"/>
            </a:schemeClr>
          </a:solidFill>
        </p:spPr>
        <p:txBody>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9"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5406720" y="6371431"/>
            <a:ext cx="5870880"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mtClean="0"/>
              <a:t>Ecole des Métiers de la Sécurité - Septembre 2022</a:t>
            </a:r>
            <a:endParaRPr lang="fr-FR" dirty="0"/>
          </a:p>
        </p:txBody>
      </p:sp>
      <p:sp>
        <p:nvSpPr>
          <p:cNvPr id="1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1163300" y="6371431"/>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mtClean="0"/>
              <a:pPr/>
              <a:t>‹N°›</a:t>
            </a:fld>
            <a:endParaRPr lang="fr-FR" dirty="0"/>
          </a:p>
        </p:txBody>
      </p:sp>
    </p:spTree>
    <p:extLst>
      <p:ext uri="{BB962C8B-B14F-4D97-AF65-F5344CB8AC3E}">
        <p14:creationId xmlns:p14="http://schemas.microsoft.com/office/powerpoint/2010/main" val="1826422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Fi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50C95A-056C-429F-A1B6-8B1CDC140D27}"/>
              </a:ext>
            </a:extLst>
          </p:cNvPr>
          <p:cNvSpPr>
            <a:spLocks noGrp="1"/>
          </p:cNvSpPr>
          <p:nvPr>
            <p:ph type="title"/>
          </p:nvPr>
        </p:nvSpPr>
        <p:spPr>
          <a:xfrm>
            <a:off x="593180" y="3233455"/>
            <a:ext cx="10912419" cy="1800000"/>
          </a:xfrm>
        </p:spPr>
        <p:txBody>
          <a:bodyPr anchor="ctr"/>
          <a:lstStyle>
            <a:lvl1pPr>
              <a:defRPr sz="3500"/>
            </a:lvl1pPr>
          </a:lstStyle>
          <a:p>
            <a:r>
              <a:rPr lang="fr-FR"/>
              <a:t>Modifiez le style du titre</a:t>
            </a:r>
            <a:endParaRPr lang="fr-FR" dirty="0"/>
          </a:p>
        </p:txBody>
      </p:sp>
      <p:cxnSp>
        <p:nvCxnSpPr>
          <p:cNvPr id="8" name="Connecteur droit 7">
            <a:extLst>
              <a:ext uri="{FF2B5EF4-FFF2-40B4-BE49-F238E27FC236}">
                <a16:creationId xmlns:a16="http://schemas.microsoft.com/office/drawing/2014/main" id="{3F388440-4500-4C20-AC17-72F465DBE225}"/>
              </a:ext>
            </a:extLst>
          </p:cNvPr>
          <p:cNvCxnSpPr/>
          <p:nvPr userDrawn="1"/>
        </p:nvCxnSpPr>
        <p:spPr>
          <a:xfrm>
            <a:off x="684000" y="2043904"/>
            <a:ext cx="10821600" cy="0"/>
          </a:xfrm>
          <a:prstGeom prst="line">
            <a:avLst/>
          </a:prstGeom>
          <a:ln w="889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Image 4">
            <a:extLst>
              <a:ext uri="{FF2B5EF4-FFF2-40B4-BE49-F238E27FC236}">
                <a16:creationId xmlns:a16="http://schemas.microsoft.com/office/drawing/2014/main" id="{169A56B3-8EAD-4F3A-86F8-7C6D0F3CF6E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284800" y="307181"/>
            <a:ext cx="1623206" cy="1409700"/>
          </a:xfrm>
          <a:prstGeom prst="rect">
            <a:avLst/>
          </a:prstGeom>
        </p:spPr>
      </p:pic>
    </p:spTree>
    <p:extLst>
      <p:ext uri="{BB962C8B-B14F-4D97-AF65-F5344CB8AC3E}">
        <p14:creationId xmlns:p14="http://schemas.microsoft.com/office/powerpoint/2010/main" val="3520424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uverture avec fond bleu anthracite">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C5EE01-F973-4120-91B8-34CAA765DBA3}"/>
              </a:ext>
            </a:extLst>
          </p:cNvPr>
          <p:cNvSpPr>
            <a:spLocks noGrp="1"/>
          </p:cNvSpPr>
          <p:nvPr>
            <p:ph type="ctrTitle" hasCustomPrompt="1"/>
          </p:nvPr>
        </p:nvSpPr>
        <p:spPr>
          <a:xfrm>
            <a:off x="450079" y="1795927"/>
            <a:ext cx="4320000" cy="3240000"/>
          </a:xfrm>
        </p:spPr>
        <p:txBody>
          <a:bodyPr anchor="t"/>
          <a:lstStyle>
            <a:lvl1pPr algn="l">
              <a:lnSpc>
                <a:spcPct val="115000"/>
              </a:lnSpc>
              <a:defRPr sz="20000">
                <a:solidFill>
                  <a:schemeClr val="tx1"/>
                </a:solidFill>
              </a:defRPr>
            </a:lvl1pPr>
          </a:lstStyle>
          <a:p>
            <a:r>
              <a:rPr lang="fr-FR" dirty="0"/>
              <a:t>01</a:t>
            </a:r>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p:nvPr>
        </p:nvSpPr>
        <p:spPr>
          <a:xfrm>
            <a:off x="4473146" y="2526858"/>
            <a:ext cx="7236872" cy="1440000"/>
          </a:xfrm>
        </p:spPr>
        <p:txBody>
          <a:bodyPr anchor="t"/>
          <a:lstStyle>
            <a:lvl1pPr marL="0" indent="0" algn="l">
              <a:lnSpc>
                <a:spcPct val="135000"/>
              </a:lnSpc>
              <a:buNone/>
              <a:defRPr sz="29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sp>
        <p:nvSpPr>
          <p:cNvPr id="12" name="Espace réservé du texte 2">
            <a:extLst>
              <a:ext uri="{FF2B5EF4-FFF2-40B4-BE49-F238E27FC236}">
                <a16:creationId xmlns:a16="http://schemas.microsoft.com/office/drawing/2014/main" id="{1804ABAE-D1B5-49C1-BC81-DA26BA538614}"/>
              </a:ext>
            </a:extLst>
          </p:cNvPr>
          <p:cNvSpPr>
            <a:spLocks noGrp="1"/>
          </p:cNvSpPr>
          <p:nvPr>
            <p:ph type="body" idx="13"/>
          </p:nvPr>
        </p:nvSpPr>
        <p:spPr>
          <a:xfrm>
            <a:off x="4473145" y="4126553"/>
            <a:ext cx="7236872" cy="720000"/>
          </a:xfrm>
        </p:spPr>
        <p:txBody>
          <a:bodyPr anchor="t"/>
          <a:lstStyle>
            <a:lvl1pPr marL="0" indent="0">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Modifier les styles du texte du masque</a:t>
            </a:r>
          </a:p>
        </p:txBody>
      </p:sp>
    </p:spTree>
    <p:extLst>
      <p:ext uri="{BB962C8B-B14F-4D97-AF65-F5344CB8AC3E}">
        <p14:creationId xmlns:p14="http://schemas.microsoft.com/office/powerpoint/2010/main" val="1952311779"/>
      </p:ext>
    </p:extLst>
  </p:cSld>
  <p:clrMapOvr>
    <a:overrideClrMapping bg1="lt1" tx1="dk1" bg2="lt2" tx2="dk2" accent1="accent1" accent2="accent2" accent3="accent3" accent4="accent4" accent5="accent5" accent6="accent6" hlink="hlink" folHlink="folHlink"/>
  </p:clrMapOvr>
  <p:extLst mod="1">
    <p:ext uri="{DCECCB84-F9BA-43D5-87BE-67443E8EF086}">
      <p15:sldGuideLst xmlns:p15="http://schemas.microsoft.com/office/powerpoint/2012/main">
        <p15:guide id="1" orient="horz" pos="281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e">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31BF3A9F-5739-4B40-A377-C403E92DB704}"/>
              </a:ext>
            </a:extLst>
          </p:cNvPr>
          <p:cNvSpPr>
            <a:spLocks noGrp="1"/>
          </p:cNvSpPr>
          <p:nvPr>
            <p:ph type="body" idx="1"/>
          </p:nvPr>
        </p:nvSpPr>
        <p:spPr>
          <a:xfrm>
            <a:off x="590324" y="948136"/>
            <a:ext cx="10800000" cy="373459"/>
          </a:xfrm>
        </p:spPr>
        <p:txBody>
          <a:bodyPr anchor="b"/>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Modifier les styles du texte du masque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p:nvPr>
        </p:nvSpPr>
        <p:spPr>
          <a:xfrm>
            <a:off x="590324" y="1813717"/>
            <a:ext cx="10800000" cy="3960000"/>
          </a:xfrm>
        </p:spPr>
        <p:txBody>
          <a:bodyPr/>
          <a:lstStyle>
            <a:lvl1pPr>
              <a:lnSpc>
                <a:spcPct val="130000"/>
              </a:lnSpc>
              <a:defRPr sz="1400">
                <a:solidFill>
                  <a:schemeClr val="tx1"/>
                </a:solidFill>
              </a:defRPr>
            </a:lvl1pPr>
            <a:lvl2pPr marL="0" indent="179388">
              <a:lnSpc>
                <a:spcPct val="130000"/>
              </a:lnSpc>
              <a:buClr>
                <a:schemeClr val="tx1"/>
              </a:buClr>
              <a:defRPr sz="1400"/>
            </a:lvl2pPr>
            <a:lvl3pPr marL="216000" indent="109538">
              <a:lnSpc>
                <a:spcPct val="130000"/>
              </a:lnSpc>
              <a:spcBef>
                <a:spcPts val="300"/>
              </a:spcBef>
              <a:defRPr sz="1400">
                <a:solidFill>
                  <a:schemeClr val="tx1"/>
                </a:solidFill>
              </a:defRPr>
            </a:lvl3pPr>
            <a:lvl4pPr marL="360000" indent="126000">
              <a:lnSpc>
                <a:spcPct val="130000"/>
              </a:lnSpc>
              <a:spcBef>
                <a:spcPts val="300"/>
              </a:spcBef>
              <a:defRPr sz="1400">
                <a:solidFill>
                  <a:schemeClr val="tx1"/>
                </a:solidFill>
              </a:defRPr>
            </a:lvl4pPr>
            <a:lvl5pPr marL="360000" indent="0">
              <a:lnSpc>
                <a:spcPct val="130000"/>
              </a:lnSpc>
              <a:spcBef>
                <a:spcPts val="300"/>
              </a:spcBef>
              <a:defRPr sz="1400">
                <a:solidFill>
                  <a:schemeClr val="tx1"/>
                </a:solidFill>
              </a:defRPr>
            </a:lvl5pPr>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0" name="Titre 9">
            <a:extLst>
              <a:ext uri="{FF2B5EF4-FFF2-40B4-BE49-F238E27FC236}">
                <a16:creationId xmlns:a16="http://schemas.microsoft.com/office/drawing/2014/main" id="{6F48ADC4-A9D9-4DF3-8EBA-2466D4BD9B4D}"/>
              </a:ext>
            </a:extLst>
          </p:cNvPr>
          <p:cNvSpPr>
            <a:spLocks noGrp="1"/>
          </p:cNvSpPr>
          <p:nvPr>
            <p:ph type="title"/>
          </p:nvPr>
        </p:nvSpPr>
        <p:spPr>
          <a:xfrm>
            <a:off x="590324" y="540541"/>
            <a:ext cx="10800000" cy="468000"/>
          </a:xfrm>
        </p:spPr>
        <p:txBody>
          <a:bodyPr/>
          <a:lstStyle>
            <a:lvl1pPr>
              <a:defRPr>
                <a:solidFill>
                  <a:schemeClr val="tx1"/>
                </a:solidFill>
              </a:defRPr>
            </a:lvl1pPr>
          </a:lstStyle>
          <a:p>
            <a:r>
              <a:rPr lang="fr-FR" dirty="0"/>
              <a:t>Modifiez le style du titre</a:t>
            </a:r>
          </a:p>
        </p:txBody>
      </p:sp>
      <p:sp>
        <p:nvSpPr>
          <p:cNvPr id="16"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5406720" y="6371431"/>
            <a:ext cx="5870880"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mtClean="0"/>
              <a:t>Ecole des Métiers de la Sécurité - Septembre 2022</a:t>
            </a:r>
            <a:endParaRPr lang="fr-FR" dirty="0"/>
          </a:p>
        </p:txBody>
      </p:sp>
      <p:sp>
        <p:nvSpPr>
          <p:cNvPr id="17"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1163300" y="6371431"/>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mtClean="0"/>
              <a:pPr/>
              <a:t>‹N°›</a:t>
            </a:fld>
            <a:endParaRPr lang="fr-FR" dirty="0"/>
          </a:p>
        </p:txBody>
      </p:sp>
    </p:spTree>
    <p:extLst>
      <p:ext uri="{BB962C8B-B14F-4D97-AF65-F5344CB8AC3E}">
        <p14:creationId xmlns:p14="http://schemas.microsoft.com/office/powerpoint/2010/main" val="3159349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hoto + texte">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31BF3A9F-5739-4B40-A377-C403E92DB704}"/>
              </a:ext>
            </a:extLst>
          </p:cNvPr>
          <p:cNvSpPr>
            <a:spLocks noGrp="1"/>
          </p:cNvSpPr>
          <p:nvPr>
            <p:ph type="body" idx="1"/>
          </p:nvPr>
        </p:nvSpPr>
        <p:spPr>
          <a:xfrm>
            <a:off x="590324" y="948136"/>
            <a:ext cx="10800000" cy="373459"/>
          </a:xfrm>
        </p:spPr>
        <p:txBody>
          <a:bodyPr anchor="b"/>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Modifier les styles du texte du masque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p:nvPr>
        </p:nvSpPr>
        <p:spPr>
          <a:xfrm>
            <a:off x="6765131" y="1814400"/>
            <a:ext cx="4625193" cy="3960000"/>
          </a:xfrm>
        </p:spPr>
        <p:txBody>
          <a:bodyPr/>
          <a:lstStyle>
            <a:lvl1pPr>
              <a:defRPr sz="1400"/>
            </a:lvl1pPr>
            <a:lvl2pPr>
              <a:buClr>
                <a:schemeClr val="tx1"/>
              </a:buClr>
              <a:defRPr sz="1400"/>
            </a:lvl2pPr>
            <a:lvl3pPr>
              <a:spcBef>
                <a:spcPts val="300"/>
              </a:spcBef>
              <a:defRPr sz="1400"/>
            </a:lvl3pPr>
            <a:lvl4pPr>
              <a:spcBef>
                <a:spcPts val="300"/>
              </a:spcBef>
              <a:defRPr sz="1400"/>
            </a:lvl4pPr>
            <a:lvl5pPr>
              <a:spcBef>
                <a:spcPts val="300"/>
              </a:spcBef>
              <a:defRPr sz="1400"/>
            </a:lvl5pPr>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0" name="Titre 9">
            <a:extLst>
              <a:ext uri="{FF2B5EF4-FFF2-40B4-BE49-F238E27FC236}">
                <a16:creationId xmlns:a16="http://schemas.microsoft.com/office/drawing/2014/main" id="{6F48ADC4-A9D9-4DF3-8EBA-2466D4BD9B4D}"/>
              </a:ext>
            </a:extLst>
          </p:cNvPr>
          <p:cNvSpPr>
            <a:spLocks noGrp="1"/>
          </p:cNvSpPr>
          <p:nvPr>
            <p:ph type="title"/>
          </p:nvPr>
        </p:nvSpPr>
        <p:spPr>
          <a:xfrm>
            <a:off x="590324" y="540541"/>
            <a:ext cx="10800000" cy="468000"/>
          </a:xfrm>
        </p:spPr>
        <p:txBody>
          <a:bodyPr/>
          <a:lstStyle>
            <a:lvl1pPr>
              <a:defRPr>
                <a:solidFill>
                  <a:schemeClr val="tx1"/>
                </a:solidFill>
              </a:defRPr>
            </a:lvl1pPr>
          </a:lstStyle>
          <a:p>
            <a:r>
              <a:rPr lang="fr-FR" dirty="0"/>
              <a:t>Modifiez le style du titre</a:t>
            </a:r>
          </a:p>
        </p:txBody>
      </p:sp>
      <p:sp>
        <p:nvSpPr>
          <p:cNvPr id="12" name="Espace réservé pour une image  2">
            <a:extLst>
              <a:ext uri="{FF2B5EF4-FFF2-40B4-BE49-F238E27FC236}">
                <a16:creationId xmlns:a16="http://schemas.microsoft.com/office/drawing/2014/main" id="{9244C946-C589-4599-A34B-208F47A016BA}"/>
              </a:ext>
            </a:extLst>
          </p:cNvPr>
          <p:cNvSpPr>
            <a:spLocks noGrp="1"/>
          </p:cNvSpPr>
          <p:nvPr>
            <p:ph type="pic" idx="14"/>
          </p:nvPr>
        </p:nvSpPr>
        <p:spPr>
          <a:xfrm>
            <a:off x="684000" y="1938338"/>
            <a:ext cx="5952544" cy="4226400"/>
          </a:xfrm>
          <a:solidFill>
            <a:schemeClr val="accent1">
              <a:lumMod val="20000"/>
              <a:lumOff val="80000"/>
            </a:schemeClr>
          </a:solidFill>
        </p:spPr>
        <p:txBody>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15"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5406720" y="6371431"/>
            <a:ext cx="5870880"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mtClean="0"/>
              <a:t>Ecole des Métiers de la Sécurité - Septembre 2022</a:t>
            </a:r>
            <a:endParaRPr lang="fr-FR" dirty="0"/>
          </a:p>
        </p:txBody>
      </p:sp>
      <p:sp>
        <p:nvSpPr>
          <p:cNvPr id="16"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1163300" y="6371431"/>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mtClean="0"/>
              <a:pPr/>
              <a:t>‹N°›</a:t>
            </a:fld>
            <a:endParaRPr lang="fr-FR" dirty="0"/>
          </a:p>
        </p:txBody>
      </p:sp>
    </p:spTree>
    <p:extLst>
      <p:ext uri="{BB962C8B-B14F-4D97-AF65-F5344CB8AC3E}">
        <p14:creationId xmlns:p14="http://schemas.microsoft.com/office/powerpoint/2010/main" val="707782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e + photo ">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31BF3A9F-5739-4B40-A377-C403E92DB704}"/>
              </a:ext>
            </a:extLst>
          </p:cNvPr>
          <p:cNvSpPr>
            <a:spLocks noGrp="1"/>
          </p:cNvSpPr>
          <p:nvPr>
            <p:ph type="body" idx="1"/>
          </p:nvPr>
        </p:nvSpPr>
        <p:spPr>
          <a:xfrm>
            <a:off x="591424" y="948136"/>
            <a:ext cx="10800000" cy="373459"/>
          </a:xfrm>
        </p:spPr>
        <p:txBody>
          <a:bodyPr anchor="b"/>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Modifier les styles du texte du masque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p:nvPr>
        </p:nvSpPr>
        <p:spPr>
          <a:xfrm>
            <a:off x="590324" y="1814400"/>
            <a:ext cx="4625193" cy="3960000"/>
          </a:xfrm>
        </p:spPr>
        <p:txBody>
          <a:bodyPr/>
          <a:lstStyle>
            <a:lvl1pPr>
              <a:defRPr sz="1400"/>
            </a:lvl1pPr>
            <a:lvl2pPr>
              <a:buClr>
                <a:schemeClr val="tx1"/>
              </a:buClr>
              <a:defRPr sz="1400"/>
            </a:lvl2pPr>
            <a:lvl3pPr>
              <a:spcBef>
                <a:spcPts val="300"/>
              </a:spcBef>
              <a:defRPr sz="1400"/>
            </a:lvl3pPr>
            <a:lvl4pPr>
              <a:spcBef>
                <a:spcPts val="300"/>
              </a:spcBef>
              <a:defRPr sz="1400"/>
            </a:lvl4pPr>
            <a:lvl5pPr>
              <a:spcBef>
                <a:spcPts val="300"/>
              </a:spcBef>
              <a:defRPr sz="1400"/>
            </a:lvl5pPr>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0" name="Titre 9">
            <a:extLst>
              <a:ext uri="{FF2B5EF4-FFF2-40B4-BE49-F238E27FC236}">
                <a16:creationId xmlns:a16="http://schemas.microsoft.com/office/drawing/2014/main" id="{6F48ADC4-A9D9-4DF3-8EBA-2466D4BD9B4D}"/>
              </a:ext>
            </a:extLst>
          </p:cNvPr>
          <p:cNvSpPr>
            <a:spLocks noGrp="1"/>
          </p:cNvSpPr>
          <p:nvPr>
            <p:ph type="title"/>
          </p:nvPr>
        </p:nvSpPr>
        <p:spPr>
          <a:xfrm>
            <a:off x="590324" y="540541"/>
            <a:ext cx="10800000" cy="468000"/>
          </a:xfrm>
        </p:spPr>
        <p:txBody>
          <a:bodyPr/>
          <a:lstStyle>
            <a:lvl1pPr>
              <a:defRPr>
                <a:solidFill>
                  <a:schemeClr val="tx1"/>
                </a:solidFill>
              </a:defRPr>
            </a:lvl1pPr>
          </a:lstStyle>
          <a:p>
            <a:r>
              <a:rPr lang="fr-FR" dirty="0"/>
              <a:t>Modifiez le style du titre</a:t>
            </a:r>
          </a:p>
        </p:txBody>
      </p:sp>
      <p:sp>
        <p:nvSpPr>
          <p:cNvPr id="12" name="Espace réservé pour une image  2">
            <a:extLst>
              <a:ext uri="{FF2B5EF4-FFF2-40B4-BE49-F238E27FC236}">
                <a16:creationId xmlns:a16="http://schemas.microsoft.com/office/drawing/2014/main" id="{9244C946-C589-4599-A34B-208F47A016BA}"/>
              </a:ext>
            </a:extLst>
          </p:cNvPr>
          <p:cNvSpPr>
            <a:spLocks noGrp="1"/>
          </p:cNvSpPr>
          <p:nvPr>
            <p:ph type="pic" idx="14"/>
          </p:nvPr>
        </p:nvSpPr>
        <p:spPr>
          <a:xfrm>
            <a:off x="5750719" y="1911943"/>
            <a:ext cx="5760000" cy="4252795"/>
          </a:xfrm>
          <a:solidFill>
            <a:schemeClr val="accent1">
              <a:lumMod val="20000"/>
              <a:lumOff val="80000"/>
            </a:schemeClr>
          </a:solidFill>
        </p:spPr>
        <p:txBody>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dirty="0"/>
          </a:p>
        </p:txBody>
      </p:sp>
      <p:sp>
        <p:nvSpPr>
          <p:cNvPr id="15"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5406720" y="6371431"/>
            <a:ext cx="5870880"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mtClean="0"/>
              <a:t>Ecole des Métiers de la Sécurité - Septembre 2022</a:t>
            </a:r>
            <a:endParaRPr lang="fr-FR" dirty="0"/>
          </a:p>
        </p:txBody>
      </p:sp>
      <p:sp>
        <p:nvSpPr>
          <p:cNvPr id="16"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1163300" y="6371431"/>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mtClean="0"/>
              <a:pPr/>
              <a:t>‹N°›</a:t>
            </a:fld>
            <a:endParaRPr lang="fr-FR" dirty="0"/>
          </a:p>
        </p:txBody>
      </p:sp>
    </p:spTree>
    <p:extLst>
      <p:ext uri="{BB962C8B-B14F-4D97-AF65-F5344CB8AC3E}">
        <p14:creationId xmlns:p14="http://schemas.microsoft.com/office/powerpoint/2010/main" val="666520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e + graphique">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31BF3A9F-5739-4B40-A377-C403E92DB704}"/>
              </a:ext>
            </a:extLst>
          </p:cNvPr>
          <p:cNvSpPr>
            <a:spLocks noGrp="1"/>
          </p:cNvSpPr>
          <p:nvPr>
            <p:ph type="body" idx="1"/>
          </p:nvPr>
        </p:nvSpPr>
        <p:spPr>
          <a:xfrm>
            <a:off x="591424" y="948136"/>
            <a:ext cx="10800000" cy="373459"/>
          </a:xfrm>
        </p:spPr>
        <p:txBody>
          <a:bodyPr anchor="b"/>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Modifier les styles du texte du masque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p:nvPr>
        </p:nvSpPr>
        <p:spPr>
          <a:xfrm>
            <a:off x="590324" y="1814400"/>
            <a:ext cx="6840000" cy="3960000"/>
          </a:xfrm>
        </p:spPr>
        <p:txBody>
          <a:bodyPr/>
          <a:lstStyle>
            <a:lvl1pPr>
              <a:defRPr sz="1400"/>
            </a:lvl1pPr>
            <a:lvl2pPr>
              <a:buClr>
                <a:schemeClr val="tx1"/>
              </a:buClr>
              <a:defRPr sz="1400"/>
            </a:lvl2pPr>
            <a:lvl3pPr>
              <a:spcBef>
                <a:spcPts val="300"/>
              </a:spcBef>
              <a:defRPr sz="1400"/>
            </a:lvl3pPr>
            <a:lvl4pPr>
              <a:spcBef>
                <a:spcPts val="300"/>
              </a:spcBef>
              <a:defRPr sz="1400"/>
            </a:lvl4pPr>
            <a:lvl5pPr>
              <a:spcBef>
                <a:spcPts val="300"/>
              </a:spcBef>
              <a:defRPr sz="1400"/>
            </a:lvl5pPr>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0" name="Titre 9">
            <a:extLst>
              <a:ext uri="{FF2B5EF4-FFF2-40B4-BE49-F238E27FC236}">
                <a16:creationId xmlns:a16="http://schemas.microsoft.com/office/drawing/2014/main" id="{6F48ADC4-A9D9-4DF3-8EBA-2466D4BD9B4D}"/>
              </a:ext>
            </a:extLst>
          </p:cNvPr>
          <p:cNvSpPr>
            <a:spLocks noGrp="1"/>
          </p:cNvSpPr>
          <p:nvPr>
            <p:ph type="title"/>
          </p:nvPr>
        </p:nvSpPr>
        <p:spPr>
          <a:xfrm>
            <a:off x="590324" y="540541"/>
            <a:ext cx="10800000" cy="468000"/>
          </a:xfrm>
        </p:spPr>
        <p:txBody>
          <a:bodyPr/>
          <a:lstStyle>
            <a:lvl1pPr>
              <a:defRPr>
                <a:solidFill>
                  <a:schemeClr val="tx1"/>
                </a:solidFill>
              </a:defRPr>
            </a:lvl1pPr>
          </a:lstStyle>
          <a:p>
            <a:r>
              <a:rPr lang="fr-FR" dirty="0"/>
              <a:t>Modifiez le style du titre</a:t>
            </a:r>
          </a:p>
        </p:txBody>
      </p:sp>
      <p:sp>
        <p:nvSpPr>
          <p:cNvPr id="4" name="Espace réservé du graphique 3">
            <a:extLst>
              <a:ext uri="{FF2B5EF4-FFF2-40B4-BE49-F238E27FC236}">
                <a16:creationId xmlns:a16="http://schemas.microsoft.com/office/drawing/2014/main" id="{624FC36B-7B77-472F-B353-E017AF192473}"/>
              </a:ext>
            </a:extLst>
          </p:cNvPr>
          <p:cNvSpPr>
            <a:spLocks noGrp="1"/>
          </p:cNvSpPr>
          <p:nvPr>
            <p:ph type="chart" sz="quarter" idx="14"/>
          </p:nvPr>
        </p:nvSpPr>
        <p:spPr>
          <a:xfrm>
            <a:off x="7719373" y="1814400"/>
            <a:ext cx="3780000" cy="3959225"/>
          </a:xfrm>
          <a:solidFill>
            <a:schemeClr val="accent1">
              <a:lumMod val="20000"/>
              <a:lumOff val="80000"/>
            </a:schemeClr>
          </a:solidFill>
        </p:spPr>
        <p:txBody>
          <a:bodyPr/>
          <a:lstStyle/>
          <a:p>
            <a:endParaRPr lang="fr-FR" dirty="0"/>
          </a:p>
        </p:txBody>
      </p:sp>
      <p:sp>
        <p:nvSpPr>
          <p:cNvPr id="14"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5406720" y="6371431"/>
            <a:ext cx="5870880"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mtClean="0"/>
              <a:t>Ecole des Métiers de la Sécurité - Septembre 2022</a:t>
            </a:r>
            <a:endParaRPr lang="fr-FR" dirty="0"/>
          </a:p>
        </p:txBody>
      </p:sp>
      <p:sp>
        <p:nvSpPr>
          <p:cNvPr id="15"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1163300" y="6371431"/>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mtClean="0"/>
              <a:pPr/>
              <a:t>‹N°›</a:t>
            </a:fld>
            <a:endParaRPr lang="fr-FR" dirty="0"/>
          </a:p>
        </p:txBody>
      </p:sp>
    </p:spTree>
    <p:extLst>
      <p:ext uri="{BB962C8B-B14F-4D97-AF65-F5344CB8AC3E}">
        <p14:creationId xmlns:p14="http://schemas.microsoft.com/office/powerpoint/2010/main" val="32012837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phique + texte">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31BF3A9F-5739-4B40-A377-C403E92DB704}"/>
              </a:ext>
            </a:extLst>
          </p:cNvPr>
          <p:cNvSpPr>
            <a:spLocks noGrp="1"/>
          </p:cNvSpPr>
          <p:nvPr>
            <p:ph type="body" idx="1"/>
          </p:nvPr>
        </p:nvSpPr>
        <p:spPr>
          <a:xfrm>
            <a:off x="591424" y="948136"/>
            <a:ext cx="10800000" cy="373459"/>
          </a:xfrm>
        </p:spPr>
        <p:txBody>
          <a:bodyPr anchor="b"/>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Modifier les styles du texte du masque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p:nvPr>
        </p:nvSpPr>
        <p:spPr>
          <a:xfrm>
            <a:off x="5871777" y="1814400"/>
            <a:ext cx="5627596" cy="3960000"/>
          </a:xfrm>
        </p:spPr>
        <p:txBody>
          <a:bodyPr/>
          <a:lstStyle>
            <a:lvl1pPr>
              <a:defRPr sz="1400"/>
            </a:lvl1pPr>
            <a:lvl2pPr>
              <a:buClr>
                <a:schemeClr val="tx2"/>
              </a:buClr>
              <a:defRPr sz="1400"/>
            </a:lvl2pPr>
            <a:lvl3pPr>
              <a:spcBef>
                <a:spcPts val="300"/>
              </a:spcBef>
              <a:defRPr sz="1400"/>
            </a:lvl3pPr>
            <a:lvl4pPr>
              <a:spcBef>
                <a:spcPts val="300"/>
              </a:spcBef>
              <a:defRPr sz="1400"/>
            </a:lvl4pPr>
            <a:lvl5pPr>
              <a:spcBef>
                <a:spcPts val="300"/>
              </a:spcBef>
              <a:defRPr sz="1400"/>
            </a:lvl5pPr>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0" name="Titre 9">
            <a:extLst>
              <a:ext uri="{FF2B5EF4-FFF2-40B4-BE49-F238E27FC236}">
                <a16:creationId xmlns:a16="http://schemas.microsoft.com/office/drawing/2014/main" id="{6F48ADC4-A9D9-4DF3-8EBA-2466D4BD9B4D}"/>
              </a:ext>
            </a:extLst>
          </p:cNvPr>
          <p:cNvSpPr>
            <a:spLocks noGrp="1"/>
          </p:cNvSpPr>
          <p:nvPr>
            <p:ph type="title"/>
          </p:nvPr>
        </p:nvSpPr>
        <p:spPr>
          <a:xfrm>
            <a:off x="590324" y="540541"/>
            <a:ext cx="10800000" cy="468000"/>
          </a:xfrm>
        </p:spPr>
        <p:txBody>
          <a:bodyPr/>
          <a:lstStyle>
            <a:lvl1pPr>
              <a:defRPr>
                <a:solidFill>
                  <a:schemeClr val="tx1"/>
                </a:solidFill>
              </a:defRPr>
            </a:lvl1pPr>
          </a:lstStyle>
          <a:p>
            <a:r>
              <a:rPr lang="fr-FR" dirty="0"/>
              <a:t>Modifiez le style du titre</a:t>
            </a:r>
          </a:p>
        </p:txBody>
      </p:sp>
      <p:sp>
        <p:nvSpPr>
          <p:cNvPr id="4" name="Espace réservé du graphique 3">
            <a:extLst>
              <a:ext uri="{FF2B5EF4-FFF2-40B4-BE49-F238E27FC236}">
                <a16:creationId xmlns:a16="http://schemas.microsoft.com/office/drawing/2014/main" id="{624FC36B-7B77-472F-B353-E017AF192473}"/>
              </a:ext>
            </a:extLst>
          </p:cNvPr>
          <p:cNvSpPr>
            <a:spLocks noGrp="1"/>
          </p:cNvSpPr>
          <p:nvPr>
            <p:ph type="chart" sz="quarter" idx="14"/>
          </p:nvPr>
        </p:nvSpPr>
        <p:spPr>
          <a:xfrm>
            <a:off x="590324" y="1814400"/>
            <a:ext cx="4004536" cy="3959225"/>
          </a:xfrm>
          <a:solidFill>
            <a:schemeClr val="accent1">
              <a:lumMod val="20000"/>
              <a:lumOff val="80000"/>
            </a:schemeClr>
          </a:solidFill>
        </p:spPr>
        <p:txBody>
          <a:bodyPr/>
          <a:lstStyle/>
          <a:p>
            <a:endParaRPr lang="fr-FR" dirty="0"/>
          </a:p>
        </p:txBody>
      </p:sp>
      <p:sp>
        <p:nvSpPr>
          <p:cNvPr id="14"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5406720" y="6371431"/>
            <a:ext cx="5870880"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mtClean="0"/>
              <a:t>Ecole des Métiers de la Sécurité - Septembre 2022</a:t>
            </a:r>
            <a:endParaRPr lang="fr-FR" dirty="0"/>
          </a:p>
        </p:txBody>
      </p:sp>
      <p:sp>
        <p:nvSpPr>
          <p:cNvPr id="15"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1163300" y="6371431"/>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mtClean="0"/>
              <a:pPr/>
              <a:t>‹N°›</a:t>
            </a:fld>
            <a:endParaRPr lang="fr-FR" dirty="0"/>
          </a:p>
        </p:txBody>
      </p:sp>
    </p:spTree>
    <p:extLst>
      <p:ext uri="{BB962C8B-B14F-4D97-AF65-F5344CB8AC3E}">
        <p14:creationId xmlns:p14="http://schemas.microsoft.com/office/powerpoint/2010/main" val="5869034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hoto + légende">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31BF3A9F-5739-4B40-A377-C403E92DB704}"/>
              </a:ext>
            </a:extLst>
          </p:cNvPr>
          <p:cNvSpPr>
            <a:spLocks noGrp="1"/>
          </p:cNvSpPr>
          <p:nvPr>
            <p:ph type="body" idx="1"/>
          </p:nvPr>
        </p:nvSpPr>
        <p:spPr>
          <a:xfrm>
            <a:off x="590324" y="948136"/>
            <a:ext cx="10800000" cy="373459"/>
          </a:xfrm>
        </p:spPr>
        <p:txBody>
          <a:bodyPr anchor="b"/>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Modifier les styles du texte du masque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p:nvPr>
        </p:nvSpPr>
        <p:spPr>
          <a:xfrm>
            <a:off x="8573927" y="1938338"/>
            <a:ext cx="2916000" cy="4090649"/>
          </a:xfrm>
        </p:spPr>
        <p:txBody>
          <a:bodyPr anchor="b"/>
          <a:lstStyle>
            <a:lvl1pPr>
              <a:lnSpc>
                <a:spcPct val="135000"/>
              </a:lnSpc>
              <a:defRPr sz="1200" i="1"/>
            </a:lvl1pPr>
            <a:lvl2pPr>
              <a:lnSpc>
                <a:spcPct val="135000"/>
              </a:lnSpc>
              <a:buClr>
                <a:schemeClr val="tx1"/>
              </a:buClr>
              <a:defRPr sz="1200"/>
            </a:lvl2pPr>
            <a:lvl3pPr>
              <a:lnSpc>
                <a:spcPct val="135000"/>
              </a:lnSpc>
              <a:spcBef>
                <a:spcPts val="300"/>
              </a:spcBef>
              <a:defRPr sz="1200"/>
            </a:lvl3pPr>
            <a:lvl4pPr>
              <a:lnSpc>
                <a:spcPct val="135000"/>
              </a:lnSpc>
              <a:spcBef>
                <a:spcPts val="300"/>
              </a:spcBef>
              <a:defRPr sz="1200"/>
            </a:lvl4pPr>
            <a:lvl5pPr>
              <a:lnSpc>
                <a:spcPct val="135000"/>
              </a:lnSpc>
              <a:spcBef>
                <a:spcPts val="300"/>
              </a:spcBef>
              <a:defRPr sz="1200"/>
            </a:lvl5pPr>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0" name="Titre 9">
            <a:extLst>
              <a:ext uri="{FF2B5EF4-FFF2-40B4-BE49-F238E27FC236}">
                <a16:creationId xmlns:a16="http://schemas.microsoft.com/office/drawing/2014/main" id="{6F48ADC4-A9D9-4DF3-8EBA-2466D4BD9B4D}"/>
              </a:ext>
            </a:extLst>
          </p:cNvPr>
          <p:cNvSpPr>
            <a:spLocks noGrp="1"/>
          </p:cNvSpPr>
          <p:nvPr>
            <p:ph type="title"/>
          </p:nvPr>
        </p:nvSpPr>
        <p:spPr>
          <a:xfrm>
            <a:off x="590324" y="540541"/>
            <a:ext cx="10800000" cy="468000"/>
          </a:xfrm>
        </p:spPr>
        <p:txBody>
          <a:bodyPr/>
          <a:lstStyle>
            <a:lvl1pPr>
              <a:defRPr>
                <a:solidFill>
                  <a:schemeClr val="tx1"/>
                </a:solidFill>
              </a:defRPr>
            </a:lvl1pPr>
          </a:lstStyle>
          <a:p>
            <a:r>
              <a:rPr lang="fr-FR" dirty="0"/>
              <a:t>Modifiez le style du titre</a:t>
            </a:r>
          </a:p>
        </p:txBody>
      </p:sp>
      <p:sp>
        <p:nvSpPr>
          <p:cNvPr id="12" name="Espace réservé pour une image  2">
            <a:extLst>
              <a:ext uri="{FF2B5EF4-FFF2-40B4-BE49-F238E27FC236}">
                <a16:creationId xmlns:a16="http://schemas.microsoft.com/office/drawing/2014/main" id="{9244C946-C589-4599-A34B-208F47A016BA}"/>
              </a:ext>
            </a:extLst>
          </p:cNvPr>
          <p:cNvSpPr>
            <a:spLocks noGrp="1"/>
          </p:cNvSpPr>
          <p:nvPr>
            <p:ph type="pic" idx="14"/>
          </p:nvPr>
        </p:nvSpPr>
        <p:spPr>
          <a:xfrm>
            <a:off x="684000" y="1938338"/>
            <a:ext cx="7758000" cy="4226400"/>
          </a:xfrm>
          <a:solidFill>
            <a:schemeClr val="accent1">
              <a:lumMod val="20000"/>
              <a:lumOff val="80000"/>
            </a:schemeClr>
          </a:solidFill>
        </p:spPr>
        <p:txBody>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15"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5406720" y="6371431"/>
            <a:ext cx="5870880"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mtClean="0"/>
              <a:t>Ecole des Métiers de la Sécurité - Septembre 2022</a:t>
            </a:r>
            <a:endParaRPr lang="fr-FR" dirty="0"/>
          </a:p>
        </p:txBody>
      </p:sp>
      <p:sp>
        <p:nvSpPr>
          <p:cNvPr id="16"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1163300" y="6371431"/>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mtClean="0"/>
              <a:pPr/>
              <a:t>‹N°›</a:t>
            </a:fld>
            <a:endParaRPr lang="fr-FR" dirty="0"/>
          </a:p>
        </p:txBody>
      </p:sp>
    </p:spTree>
    <p:extLst>
      <p:ext uri="{BB962C8B-B14F-4D97-AF65-F5344CB8AC3E}">
        <p14:creationId xmlns:p14="http://schemas.microsoft.com/office/powerpoint/2010/main" val="2144144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ommaire">
    <p:spTree>
      <p:nvGrpSpPr>
        <p:cNvPr id="1" name=""/>
        <p:cNvGrpSpPr/>
        <p:nvPr/>
      </p:nvGrpSpPr>
      <p:grpSpPr>
        <a:xfrm>
          <a:off x="0" y="0"/>
          <a:ext cx="0" cy="0"/>
          <a:chOff x="0" y="0"/>
          <a:chExt cx="0" cy="0"/>
        </a:xfrm>
      </p:grpSpPr>
      <p:sp>
        <p:nvSpPr>
          <p:cNvPr id="3" name="Espace réservé du texte 1">
            <a:extLst>
              <a:ext uri="{FF2B5EF4-FFF2-40B4-BE49-F238E27FC236}">
                <a16:creationId xmlns:a16="http://schemas.microsoft.com/office/drawing/2014/main" id="{31BF3A9F-5739-4B40-A377-C403E92DB704}"/>
              </a:ext>
            </a:extLst>
          </p:cNvPr>
          <p:cNvSpPr>
            <a:spLocks noGrp="1"/>
          </p:cNvSpPr>
          <p:nvPr>
            <p:ph type="body" idx="1" hasCustomPrompt="1"/>
          </p:nvPr>
        </p:nvSpPr>
        <p:spPr>
          <a:xfrm>
            <a:off x="580231" y="1722433"/>
            <a:ext cx="1260000" cy="900000"/>
          </a:xfrm>
        </p:spPr>
        <p:txBody>
          <a:bodyPr anchor="t"/>
          <a:lstStyle>
            <a:lvl1pPr marL="0" indent="0" algn="l">
              <a:buNone/>
              <a:defRPr sz="5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01</a:t>
            </a:r>
          </a:p>
        </p:txBody>
      </p:sp>
      <p:sp>
        <p:nvSpPr>
          <p:cNvPr id="4" name="Titre 3">
            <a:extLst>
              <a:ext uri="{FF2B5EF4-FFF2-40B4-BE49-F238E27FC236}">
                <a16:creationId xmlns:a16="http://schemas.microsoft.com/office/drawing/2014/main" id="{180F2F98-BBD9-47DE-A62F-B4E02FBAA56B}"/>
              </a:ext>
            </a:extLst>
          </p:cNvPr>
          <p:cNvSpPr>
            <a:spLocks noGrp="1"/>
          </p:cNvSpPr>
          <p:nvPr>
            <p:ph type="title"/>
          </p:nvPr>
        </p:nvSpPr>
        <p:spPr/>
        <p:txBody>
          <a:bodyPr/>
          <a:lstStyle/>
          <a:p>
            <a:r>
              <a:rPr lang="fr-FR"/>
              <a:t>Modifiez le style du titre</a:t>
            </a:r>
          </a:p>
        </p:txBody>
      </p:sp>
      <p:sp>
        <p:nvSpPr>
          <p:cNvPr id="23" name="Espace réservé du texte 2">
            <a:extLst>
              <a:ext uri="{FF2B5EF4-FFF2-40B4-BE49-F238E27FC236}">
                <a16:creationId xmlns:a16="http://schemas.microsoft.com/office/drawing/2014/main" id="{4807FE6C-2700-4312-B656-5D27E1B8FE31}"/>
              </a:ext>
            </a:extLst>
          </p:cNvPr>
          <p:cNvSpPr>
            <a:spLocks noGrp="1"/>
          </p:cNvSpPr>
          <p:nvPr>
            <p:ph type="body" sz="quarter" idx="13"/>
          </p:nvPr>
        </p:nvSpPr>
        <p:spPr>
          <a:xfrm>
            <a:off x="1590677" y="1906528"/>
            <a:ext cx="2700000" cy="1620000"/>
          </a:xfrm>
        </p:spPr>
        <p:txBody>
          <a:bodyPr/>
          <a:lstStyle>
            <a:lvl1pPr>
              <a:defRPr sz="2000" b="1">
                <a:solidFill>
                  <a:schemeClr val="tx1"/>
                </a:solidFill>
              </a:defRPr>
            </a:lvl1pPr>
            <a:lvl2pPr marL="0" indent="0">
              <a:lnSpc>
                <a:spcPct val="100000"/>
              </a:lnSpc>
              <a:spcBef>
                <a:spcPts val="600"/>
              </a:spcBef>
              <a:buNone/>
              <a:defRPr sz="1300" b="0"/>
            </a:lvl2pPr>
          </a:lstStyle>
          <a:p>
            <a:pPr lvl="0"/>
            <a:r>
              <a:rPr lang="fr-FR"/>
              <a:t>Modifiez les styles du texte du masque</a:t>
            </a:r>
          </a:p>
        </p:txBody>
      </p:sp>
      <p:sp>
        <p:nvSpPr>
          <p:cNvPr id="24" name="Espace réservé du texte 1">
            <a:extLst>
              <a:ext uri="{FF2B5EF4-FFF2-40B4-BE49-F238E27FC236}">
                <a16:creationId xmlns:a16="http://schemas.microsoft.com/office/drawing/2014/main" id="{A6981A8F-77C7-411B-AAED-B9A79088774E}"/>
              </a:ext>
            </a:extLst>
          </p:cNvPr>
          <p:cNvSpPr>
            <a:spLocks noGrp="1"/>
          </p:cNvSpPr>
          <p:nvPr>
            <p:ph type="body" idx="14" hasCustomPrompt="1"/>
          </p:nvPr>
        </p:nvSpPr>
        <p:spPr>
          <a:xfrm>
            <a:off x="4335555" y="1722433"/>
            <a:ext cx="1260000" cy="900000"/>
          </a:xfrm>
        </p:spPr>
        <p:txBody>
          <a:bodyPr anchor="t"/>
          <a:lstStyle>
            <a:lvl1pPr marL="0" indent="0" algn="l">
              <a:buNone/>
              <a:defRPr sz="5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02</a:t>
            </a:r>
          </a:p>
        </p:txBody>
      </p:sp>
      <p:sp>
        <p:nvSpPr>
          <p:cNvPr id="25" name="Espace réservé du texte 2">
            <a:extLst>
              <a:ext uri="{FF2B5EF4-FFF2-40B4-BE49-F238E27FC236}">
                <a16:creationId xmlns:a16="http://schemas.microsoft.com/office/drawing/2014/main" id="{843578C5-E261-4DCD-96E3-E1231B8E5193}"/>
              </a:ext>
            </a:extLst>
          </p:cNvPr>
          <p:cNvSpPr>
            <a:spLocks noGrp="1"/>
          </p:cNvSpPr>
          <p:nvPr>
            <p:ph type="body" sz="quarter" idx="15"/>
          </p:nvPr>
        </p:nvSpPr>
        <p:spPr>
          <a:xfrm>
            <a:off x="5346000" y="1906528"/>
            <a:ext cx="2700000" cy="1620000"/>
          </a:xfrm>
        </p:spPr>
        <p:txBody>
          <a:bodyPr/>
          <a:lstStyle>
            <a:lvl1pPr>
              <a:defRPr sz="2000" b="1">
                <a:solidFill>
                  <a:schemeClr val="tx1"/>
                </a:solidFill>
              </a:defRPr>
            </a:lvl1pPr>
            <a:lvl2pPr marL="0" indent="0">
              <a:lnSpc>
                <a:spcPct val="100000"/>
              </a:lnSpc>
              <a:spcBef>
                <a:spcPts val="600"/>
              </a:spcBef>
              <a:buNone/>
              <a:defRPr sz="1300" b="0"/>
            </a:lvl2pPr>
          </a:lstStyle>
          <a:p>
            <a:pPr lvl="0"/>
            <a:r>
              <a:rPr lang="fr-FR"/>
              <a:t>Modifiez les styles du texte du masque</a:t>
            </a:r>
          </a:p>
        </p:txBody>
      </p:sp>
      <p:sp>
        <p:nvSpPr>
          <p:cNvPr id="26" name="Espace réservé du texte 1">
            <a:extLst>
              <a:ext uri="{FF2B5EF4-FFF2-40B4-BE49-F238E27FC236}">
                <a16:creationId xmlns:a16="http://schemas.microsoft.com/office/drawing/2014/main" id="{F77A9180-B139-47B4-AD37-6C7C80D2A8E3}"/>
              </a:ext>
            </a:extLst>
          </p:cNvPr>
          <p:cNvSpPr>
            <a:spLocks noGrp="1"/>
          </p:cNvSpPr>
          <p:nvPr>
            <p:ph type="body" idx="16" hasCustomPrompt="1"/>
          </p:nvPr>
        </p:nvSpPr>
        <p:spPr>
          <a:xfrm>
            <a:off x="8097855" y="1722433"/>
            <a:ext cx="1260000" cy="900000"/>
          </a:xfrm>
        </p:spPr>
        <p:txBody>
          <a:bodyPr anchor="t"/>
          <a:lstStyle>
            <a:lvl1pPr marL="0" indent="0" algn="l">
              <a:buNone/>
              <a:defRPr sz="5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03</a:t>
            </a:r>
          </a:p>
        </p:txBody>
      </p:sp>
      <p:sp>
        <p:nvSpPr>
          <p:cNvPr id="27" name="Espace réservé du texte 2">
            <a:extLst>
              <a:ext uri="{FF2B5EF4-FFF2-40B4-BE49-F238E27FC236}">
                <a16:creationId xmlns:a16="http://schemas.microsoft.com/office/drawing/2014/main" id="{128E1425-609B-454E-B008-1ECCD3D43774}"/>
              </a:ext>
            </a:extLst>
          </p:cNvPr>
          <p:cNvSpPr>
            <a:spLocks noGrp="1"/>
          </p:cNvSpPr>
          <p:nvPr>
            <p:ph type="body" sz="quarter" idx="17"/>
          </p:nvPr>
        </p:nvSpPr>
        <p:spPr>
          <a:xfrm>
            <a:off x="9108301" y="1906528"/>
            <a:ext cx="2700000" cy="1620000"/>
          </a:xfrm>
        </p:spPr>
        <p:txBody>
          <a:bodyPr/>
          <a:lstStyle>
            <a:lvl1pPr>
              <a:defRPr sz="2000" b="1">
                <a:solidFill>
                  <a:schemeClr val="tx1"/>
                </a:solidFill>
              </a:defRPr>
            </a:lvl1pPr>
            <a:lvl2pPr marL="0" indent="0">
              <a:lnSpc>
                <a:spcPct val="100000"/>
              </a:lnSpc>
              <a:spcBef>
                <a:spcPts val="600"/>
              </a:spcBef>
              <a:buNone/>
              <a:defRPr sz="1300" b="0"/>
            </a:lvl2pPr>
          </a:lstStyle>
          <a:p>
            <a:pPr lvl="0"/>
            <a:r>
              <a:rPr lang="fr-FR"/>
              <a:t>Modifiez les styles du texte du masque</a:t>
            </a:r>
          </a:p>
        </p:txBody>
      </p:sp>
      <p:sp>
        <p:nvSpPr>
          <p:cNvPr id="28" name="Espace réservé du texte 1">
            <a:extLst>
              <a:ext uri="{FF2B5EF4-FFF2-40B4-BE49-F238E27FC236}">
                <a16:creationId xmlns:a16="http://schemas.microsoft.com/office/drawing/2014/main" id="{15B11B44-A2CD-4B94-8ED3-2E10AB80EE5B}"/>
              </a:ext>
            </a:extLst>
          </p:cNvPr>
          <p:cNvSpPr>
            <a:spLocks noGrp="1"/>
          </p:cNvSpPr>
          <p:nvPr>
            <p:ph type="body" idx="18" hasCustomPrompt="1"/>
          </p:nvPr>
        </p:nvSpPr>
        <p:spPr>
          <a:xfrm>
            <a:off x="580231" y="3327868"/>
            <a:ext cx="1260000" cy="900000"/>
          </a:xfrm>
        </p:spPr>
        <p:txBody>
          <a:bodyPr anchor="t"/>
          <a:lstStyle>
            <a:lvl1pPr marL="0" indent="0" algn="l">
              <a:buNone/>
              <a:defRPr sz="5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04</a:t>
            </a:r>
          </a:p>
        </p:txBody>
      </p:sp>
      <p:sp>
        <p:nvSpPr>
          <p:cNvPr id="29" name="Espace réservé du texte 2">
            <a:extLst>
              <a:ext uri="{FF2B5EF4-FFF2-40B4-BE49-F238E27FC236}">
                <a16:creationId xmlns:a16="http://schemas.microsoft.com/office/drawing/2014/main" id="{17F534A3-63A0-48F3-B4C0-880990E4196C}"/>
              </a:ext>
            </a:extLst>
          </p:cNvPr>
          <p:cNvSpPr>
            <a:spLocks noGrp="1"/>
          </p:cNvSpPr>
          <p:nvPr>
            <p:ph type="body" sz="quarter" idx="19"/>
          </p:nvPr>
        </p:nvSpPr>
        <p:spPr>
          <a:xfrm>
            <a:off x="1590677" y="3511963"/>
            <a:ext cx="2700000" cy="1620000"/>
          </a:xfrm>
        </p:spPr>
        <p:txBody>
          <a:bodyPr/>
          <a:lstStyle>
            <a:lvl1pPr>
              <a:defRPr sz="2000" b="1">
                <a:solidFill>
                  <a:schemeClr val="tx1"/>
                </a:solidFill>
              </a:defRPr>
            </a:lvl1pPr>
            <a:lvl2pPr marL="0" indent="0">
              <a:lnSpc>
                <a:spcPct val="100000"/>
              </a:lnSpc>
              <a:spcBef>
                <a:spcPts val="600"/>
              </a:spcBef>
              <a:buNone/>
              <a:defRPr sz="1300" b="0"/>
            </a:lvl2pPr>
          </a:lstStyle>
          <a:p>
            <a:pPr lvl="0"/>
            <a:r>
              <a:rPr lang="fr-FR"/>
              <a:t>Modifiez les styles du texte du masque</a:t>
            </a:r>
          </a:p>
        </p:txBody>
      </p:sp>
      <p:sp>
        <p:nvSpPr>
          <p:cNvPr id="30" name="Espace réservé du texte 1">
            <a:extLst>
              <a:ext uri="{FF2B5EF4-FFF2-40B4-BE49-F238E27FC236}">
                <a16:creationId xmlns:a16="http://schemas.microsoft.com/office/drawing/2014/main" id="{5F450093-699E-4314-94A2-1BABC6A0C0E4}"/>
              </a:ext>
            </a:extLst>
          </p:cNvPr>
          <p:cNvSpPr>
            <a:spLocks noGrp="1"/>
          </p:cNvSpPr>
          <p:nvPr>
            <p:ph type="body" idx="20" hasCustomPrompt="1"/>
          </p:nvPr>
        </p:nvSpPr>
        <p:spPr>
          <a:xfrm>
            <a:off x="4335555" y="3327868"/>
            <a:ext cx="1260000" cy="900000"/>
          </a:xfrm>
        </p:spPr>
        <p:txBody>
          <a:bodyPr anchor="t"/>
          <a:lstStyle>
            <a:lvl1pPr marL="0" indent="0" algn="l">
              <a:buNone/>
              <a:defRPr sz="5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05</a:t>
            </a:r>
          </a:p>
        </p:txBody>
      </p:sp>
      <p:sp>
        <p:nvSpPr>
          <p:cNvPr id="31" name="Espace réservé du texte 2">
            <a:extLst>
              <a:ext uri="{FF2B5EF4-FFF2-40B4-BE49-F238E27FC236}">
                <a16:creationId xmlns:a16="http://schemas.microsoft.com/office/drawing/2014/main" id="{4F2A0D90-060C-47C3-9DC7-957B9D56ACBC}"/>
              </a:ext>
            </a:extLst>
          </p:cNvPr>
          <p:cNvSpPr>
            <a:spLocks noGrp="1"/>
          </p:cNvSpPr>
          <p:nvPr>
            <p:ph type="body" sz="quarter" idx="21"/>
          </p:nvPr>
        </p:nvSpPr>
        <p:spPr>
          <a:xfrm>
            <a:off x="5346000" y="3511963"/>
            <a:ext cx="2700000" cy="1620000"/>
          </a:xfrm>
        </p:spPr>
        <p:txBody>
          <a:bodyPr/>
          <a:lstStyle>
            <a:lvl1pPr>
              <a:defRPr sz="2000" b="1">
                <a:solidFill>
                  <a:schemeClr val="tx1"/>
                </a:solidFill>
              </a:defRPr>
            </a:lvl1pPr>
            <a:lvl2pPr marL="0" indent="0">
              <a:lnSpc>
                <a:spcPct val="100000"/>
              </a:lnSpc>
              <a:spcBef>
                <a:spcPts val="600"/>
              </a:spcBef>
              <a:buNone/>
              <a:defRPr sz="1300" b="0"/>
            </a:lvl2pPr>
          </a:lstStyle>
          <a:p>
            <a:pPr lvl="0"/>
            <a:r>
              <a:rPr lang="fr-FR"/>
              <a:t>Modifiez les styles du texte du masque</a:t>
            </a:r>
          </a:p>
        </p:txBody>
      </p:sp>
      <p:sp>
        <p:nvSpPr>
          <p:cNvPr id="32" name="Espace réservé du texte 1">
            <a:extLst>
              <a:ext uri="{FF2B5EF4-FFF2-40B4-BE49-F238E27FC236}">
                <a16:creationId xmlns:a16="http://schemas.microsoft.com/office/drawing/2014/main" id="{BD6AAA97-755D-40DC-9159-3AF393AA2BEC}"/>
              </a:ext>
            </a:extLst>
          </p:cNvPr>
          <p:cNvSpPr>
            <a:spLocks noGrp="1"/>
          </p:cNvSpPr>
          <p:nvPr>
            <p:ph type="body" idx="22" hasCustomPrompt="1"/>
          </p:nvPr>
        </p:nvSpPr>
        <p:spPr>
          <a:xfrm>
            <a:off x="8097855" y="3327868"/>
            <a:ext cx="1260000" cy="900000"/>
          </a:xfrm>
        </p:spPr>
        <p:txBody>
          <a:bodyPr anchor="t"/>
          <a:lstStyle>
            <a:lvl1pPr marL="0" indent="0" algn="l">
              <a:buNone/>
              <a:defRPr sz="5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06</a:t>
            </a:r>
          </a:p>
        </p:txBody>
      </p:sp>
      <p:sp>
        <p:nvSpPr>
          <p:cNvPr id="33" name="Espace réservé du texte 2">
            <a:extLst>
              <a:ext uri="{FF2B5EF4-FFF2-40B4-BE49-F238E27FC236}">
                <a16:creationId xmlns:a16="http://schemas.microsoft.com/office/drawing/2014/main" id="{F6AA69BB-FE81-47A7-9178-8F577AA2B66B}"/>
              </a:ext>
            </a:extLst>
          </p:cNvPr>
          <p:cNvSpPr>
            <a:spLocks noGrp="1"/>
          </p:cNvSpPr>
          <p:nvPr>
            <p:ph type="body" sz="quarter" idx="23"/>
          </p:nvPr>
        </p:nvSpPr>
        <p:spPr>
          <a:xfrm>
            <a:off x="9108301" y="3511963"/>
            <a:ext cx="2700000" cy="1620000"/>
          </a:xfrm>
        </p:spPr>
        <p:txBody>
          <a:bodyPr/>
          <a:lstStyle>
            <a:lvl1pPr>
              <a:defRPr sz="2000" b="1">
                <a:solidFill>
                  <a:schemeClr val="tx1"/>
                </a:solidFill>
              </a:defRPr>
            </a:lvl1pPr>
            <a:lvl2pPr marL="0" indent="0">
              <a:lnSpc>
                <a:spcPct val="100000"/>
              </a:lnSpc>
              <a:spcBef>
                <a:spcPts val="600"/>
              </a:spcBef>
              <a:buNone/>
              <a:defRPr sz="1300" b="0"/>
            </a:lvl2pPr>
          </a:lstStyle>
          <a:p>
            <a:pPr lvl="0"/>
            <a:r>
              <a:rPr lang="fr-FR"/>
              <a:t>Modifiez les styles du texte du masque</a:t>
            </a:r>
          </a:p>
        </p:txBody>
      </p:sp>
      <p:sp>
        <p:nvSpPr>
          <p:cNvPr id="21"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1163301" y="6371431"/>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mtClean="0"/>
              <a:pPr/>
              <a:t>‹N°›</a:t>
            </a:fld>
            <a:endParaRPr lang="fr-FR" dirty="0"/>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5406720" y="6371431"/>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mtClean="0"/>
              <a:t>Ecole des Métiers de la Sécurité - Septembre 2022</a:t>
            </a:r>
            <a:endParaRPr lang="fr-FR" dirty="0"/>
          </a:p>
        </p:txBody>
      </p:sp>
      <p:cxnSp>
        <p:nvCxnSpPr>
          <p:cNvPr id="5" name="Connecteur droit 4"/>
          <p:cNvCxnSpPr/>
          <p:nvPr userDrawn="1"/>
        </p:nvCxnSpPr>
        <p:spPr>
          <a:xfrm>
            <a:off x="558801" y="1041400"/>
            <a:ext cx="112141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94782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Only">
  <p:cSld name="Fi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50C95A-056C-429F-A1B6-8B1CDC140D27}"/>
              </a:ext>
            </a:extLst>
          </p:cNvPr>
          <p:cNvSpPr>
            <a:spLocks noGrp="1"/>
          </p:cNvSpPr>
          <p:nvPr>
            <p:ph type="title"/>
          </p:nvPr>
        </p:nvSpPr>
        <p:spPr>
          <a:xfrm>
            <a:off x="593180" y="3233455"/>
            <a:ext cx="10912419" cy="1800000"/>
          </a:xfrm>
        </p:spPr>
        <p:txBody>
          <a:bodyPr anchor="ctr"/>
          <a:lstStyle>
            <a:lvl1pPr>
              <a:defRPr sz="3500"/>
            </a:lvl1pPr>
          </a:lstStyle>
          <a:p>
            <a:r>
              <a:rPr lang="fr-FR" smtClean="0"/>
              <a:t>Modifiez le style du titre</a:t>
            </a:r>
            <a:endParaRPr lang="fr-FR" dirty="0"/>
          </a:p>
        </p:txBody>
      </p:sp>
      <p:cxnSp>
        <p:nvCxnSpPr>
          <p:cNvPr id="8" name="Connecteur droit 7">
            <a:extLst>
              <a:ext uri="{FF2B5EF4-FFF2-40B4-BE49-F238E27FC236}">
                <a16:creationId xmlns:a16="http://schemas.microsoft.com/office/drawing/2014/main" id="{3F388440-4500-4C20-AC17-72F465DBE225}"/>
              </a:ext>
            </a:extLst>
          </p:cNvPr>
          <p:cNvCxnSpPr/>
          <p:nvPr userDrawn="1"/>
        </p:nvCxnSpPr>
        <p:spPr>
          <a:xfrm>
            <a:off x="684000" y="2043904"/>
            <a:ext cx="10821600" cy="0"/>
          </a:xfrm>
          <a:prstGeom prst="line">
            <a:avLst/>
          </a:prstGeom>
          <a:ln w="889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Image 4">
            <a:extLst>
              <a:ext uri="{FF2B5EF4-FFF2-40B4-BE49-F238E27FC236}">
                <a16:creationId xmlns:a16="http://schemas.microsoft.com/office/drawing/2014/main" id="{169A56B3-8EAD-4F3A-86F8-7C6D0F3CF6E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284800" y="307181"/>
            <a:ext cx="1623206" cy="1409700"/>
          </a:xfrm>
          <a:prstGeom prst="rect">
            <a:avLst/>
          </a:prstGeom>
        </p:spPr>
      </p:pic>
    </p:spTree>
    <p:extLst>
      <p:ext uri="{BB962C8B-B14F-4D97-AF65-F5344CB8AC3E}">
        <p14:creationId xmlns:p14="http://schemas.microsoft.com/office/powerpoint/2010/main" val="812329949"/>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Couverture avec fond bleu anthracit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C5EE01-F973-4120-91B8-34CAA765DBA3}"/>
              </a:ext>
            </a:extLst>
          </p:cNvPr>
          <p:cNvSpPr>
            <a:spLocks noGrp="1"/>
          </p:cNvSpPr>
          <p:nvPr>
            <p:ph type="ctrTitle"/>
          </p:nvPr>
        </p:nvSpPr>
        <p:spPr>
          <a:xfrm>
            <a:off x="596664" y="3129138"/>
            <a:ext cx="10800000" cy="1800000"/>
          </a:xfrm>
        </p:spPr>
        <p:txBody>
          <a:bodyPr anchor="t"/>
          <a:lstStyle>
            <a:lvl1pPr algn="l">
              <a:lnSpc>
                <a:spcPct val="115000"/>
              </a:lnSpc>
              <a:defRPr sz="3400">
                <a:solidFill>
                  <a:schemeClr val="bg1"/>
                </a:solidFill>
              </a:defRPr>
            </a:lvl1pPr>
          </a:lstStyle>
          <a:p>
            <a:r>
              <a:rPr lang="fr-FR"/>
              <a:t>Modifiez le style du titre</a:t>
            </a:r>
            <a:endParaRPr lang="fr-FR" dirty="0"/>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p:nvPr>
        </p:nvSpPr>
        <p:spPr>
          <a:xfrm>
            <a:off x="596664" y="5051807"/>
            <a:ext cx="10800000" cy="720000"/>
          </a:xfrm>
        </p:spPr>
        <p:txBody>
          <a:bodyPr anchor="t"/>
          <a:lstStyle>
            <a:lvl1pPr marL="0" indent="0" algn="l">
              <a:lnSpc>
                <a:spcPct val="115000"/>
              </a:lnSpc>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cxnSp>
        <p:nvCxnSpPr>
          <p:cNvPr id="10" name="Connecteur droit 9">
            <a:extLst>
              <a:ext uri="{FF2B5EF4-FFF2-40B4-BE49-F238E27FC236}">
                <a16:creationId xmlns:a16="http://schemas.microsoft.com/office/drawing/2014/main" id="{20F605FF-A3F4-4B25-8AB3-DFD7CC06BF28}"/>
              </a:ext>
            </a:extLst>
          </p:cNvPr>
          <p:cNvCxnSpPr/>
          <p:nvPr userDrawn="1"/>
        </p:nvCxnSpPr>
        <p:spPr>
          <a:xfrm>
            <a:off x="684000" y="2043904"/>
            <a:ext cx="10821600" cy="0"/>
          </a:xfrm>
          <a:prstGeom prst="line">
            <a:avLst/>
          </a:prstGeom>
          <a:ln w="889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62494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ouverture avec photo">
    <p:bg>
      <p:bgPr>
        <a:solidFill>
          <a:schemeClr val="bg1"/>
        </a:solidFill>
        <a:effectLst/>
      </p:bgPr>
    </p:bg>
    <p:spTree>
      <p:nvGrpSpPr>
        <p:cNvPr id="1" name=""/>
        <p:cNvGrpSpPr/>
        <p:nvPr/>
      </p:nvGrpSpPr>
      <p:grpSpPr>
        <a:xfrm>
          <a:off x="0" y="0"/>
          <a:ext cx="0" cy="0"/>
          <a:chOff x="0" y="0"/>
          <a:chExt cx="0" cy="0"/>
        </a:xfrm>
      </p:grpSpPr>
      <p:sp>
        <p:nvSpPr>
          <p:cNvPr id="21" name="Espace réservé pour une image  2">
            <a:extLst>
              <a:ext uri="{FF2B5EF4-FFF2-40B4-BE49-F238E27FC236}">
                <a16:creationId xmlns:a16="http://schemas.microsoft.com/office/drawing/2014/main" id="{A7CA01CA-E7C9-4000-B256-470DC3596DD7}"/>
              </a:ext>
            </a:extLst>
          </p:cNvPr>
          <p:cNvSpPr>
            <a:spLocks noGrp="1"/>
          </p:cNvSpPr>
          <p:nvPr>
            <p:ph type="pic" idx="13"/>
          </p:nvPr>
        </p:nvSpPr>
        <p:spPr>
          <a:xfrm>
            <a:off x="0" y="-1"/>
            <a:ext cx="12193200" cy="6858000"/>
          </a:xfrm>
          <a:solidFill>
            <a:schemeClr val="bg1">
              <a:lumMod val="95000"/>
            </a:schemeClr>
          </a:solidFill>
        </p:spPr>
        <p:txBody>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2" name="Titre 1">
            <a:extLst>
              <a:ext uri="{FF2B5EF4-FFF2-40B4-BE49-F238E27FC236}">
                <a16:creationId xmlns:a16="http://schemas.microsoft.com/office/drawing/2014/main" id="{50C5EE01-F973-4120-91B8-34CAA765DBA3}"/>
              </a:ext>
            </a:extLst>
          </p:cNvPr>
          <p:cNvSpPr>
            <a:spLocks noGrp="1"/>
          </p:cNvSpPr>
          <p:nvPr>
            <p:ph type="ctrTitle"/>
          </p:nvPr>
        </p:nvSpPr>
        <p:spPr>
          <a:xfrm>
            <a:off x="596664" y="3129138"/>
            <a:ext cx="10800000" cy="1800000"/>
          </a:xfrm>
        </p:spPr>
        <p:txBody>
          <a:bodyPr anchor="t"/>
          <a:lstStyle>
            <a:lvl1pPr algn="l">
              <a:lnSpc>
                <a:spcPct val="115000"/>
              </a:lnSpc>
              <a:defRPr sz="3400">
                <a:solidFill>
                  <a:schemeClr val="bg1"/>
                </a:solidFill>
              </a:defRPr>
            </a:lvl1pPr>
          </a:lstStyle>
          <a:p>
            <a:r>
              <a:rPr lang="fr-FR"/>
              <a:t>Modifiez le style du titre</a:t>
            </a:r>
            <a:endParaRPr lang="fr-FR" dirty="0"/>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p:nvPr>
        </p:nvSpPr>
        <p:spPr>
          <a:xfrm>
            <a:off x="596664" y="5051807"/>
            <a:ext cx="10800000" cy="720000"/>
          </a:xfrm>
        </p:spPr>
        <p:txBody>
          <a:bodyPr anchor="t"/>
          <a:lstStyle>
            <a:lvl1pPr marL="0" indent="0" algn="l">
              <a:lnSpc>
                <a:spcPct val="115000"/>
              </a:lnSpc>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Tree>
    <p:extLst>
      <p:ext uri="{BB962C8B-B14F-4D97-AF65-F5344CB8AC3E}">
        <p14:creationId xmlns:p14="http://schemas.microsoft.com/office/powerpoint/2010/main" val="38940539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uverture avec fond blanc">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BFBB1DE-C598-4A6D-8805-D938CF78ADD4}"/>
              </a:ext>
            </a:extLst>
          </p:cNvPr>
          <p:cNvSpPr/>
          <p:nvPr userDrawn="1"/>
        </p:nvSpPr>
        <p:spPr>
          <a:xfrm>
            <a:off x="684000" y="2049780"/>
            <a:ext cx="10821600" cy="4122000"/>
          </a:xfrm>
          <a:prstGeom prst="rect">
            <a:avLst/>
          </a:prstGeom>
          <a:solidFill>
            <a:schemeClr val="tx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50C5EE01-F973-4120-91B8-34CAA765DBA3}"/>
              </a:ext>
            </a:extLst>
          </p:cNvPr>
          <p:cNvSpPr>
            <a:spLocks noGrp="1"/>
          </p:cNvSpPr>
          <p:nvPr>
            <p:ph type="ctrTitle"/>
          </p:nvPr>
        </p:nvSpPr>
        <p:spPr>
          <a:xfrm>
            <a:off x="1034814" y="3129138"/>
            <a:ext cx="10080000" cy="1800000"/>
          </a:xfrm>
        </p:spPr>
        <p:txBody>
          <a:bodyPr anchor="t"/>
          <a:lstStyle>
            <a:lvl1pPr algn="l">
              <a:lnSpc>
                <a:spcPct val="115000"/>
              </a:lnSpc>
              <a:defRPr sz="3400">
                <a:solidFill>
                  <a:schemeClr val="bg1"/>
                </a:solidFill>
              </a:defRPr>
            </a:lvl1pPr>
          </a:lstStyle>
          <a:p>
            <a:r>
              <a:rPr lang="fr-FR"/>
              <a:t>Modifiez le style du titre</a:t>
            </a:r>
            <a:endParaRPr lang="fr-FR" dirty="0"/>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p:nvPr>
        </p:nvSpPr>
        <p:spPr>
          <a:xfrm>
            <a:off x="1034814" y="5051807"/>
            <a:ext cx="10080000" cy="720000"/>
          </a:xfrm>
        </p:spPr>
        <p:txBody>
          <a:bodyPr anchor="t"/>
          <a:lstStyle>
            <a:lvl1pPr marL="0" indent="0" algn="l">
              <a:lnSpc>
                <a:spcPct val="115000"/>
              </a:lnSpc>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
        <p:nvSpPr>
          <p:cNvPr id="4" name="Espace réservé de la date 3">
            <a:extLst>
              <a:ext uri="{FF2B5EF4-FFF2-40B4-BE49-F238E27FC236}">
                <a16:creationId xmlns:a16="http://schemas.microsoft.com/office/drawing/2014/main" id="{E58594CA-3C40-4991-8A60-FEF72D3060D2}"/>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31E3FFBA-D9C5-497E-9F7F-E80F568DF82D}"/>
              </a:ext>
            </a:extLst>
          </p:cNvPr>
          <p:cNvSpPr>
            <a:spLocks noGrp="1"/>
          </p:cNvSpPr>
          <p:nvPr>
            <p:ph type="ftr" sz="quarter" idx="11"/>
          </p:nvPr>
        </p:nvSpPr>
        <p:spPr/>
        <p:txBody>
          <a:bodyPr/>
          <a:lstStyle/>
          <a:p>
            <a:r>
              <a:rPr lang="fr-FR" smtClean="0"/>
              <a:t>Ecole des Métiers de la Sécurité - Septembre 2022</a:t>
            </a:r>
            <a:endParaRPr lang="fr-FR"/>
          </a:p>
        </p:txBody>
      </p:sp>
      <p:sp>
        <p:nvSpPr>
          <p:cNvPr id="6" name="Espace réservé du numéro de diapositive 5">
            <a:extLst>
              <a:ext uri="{FF2B5EF4-FFF2-40B4-BE49-F238E27FC236}">
                <a16:creationId xmlns:a16="http://schemas.microsoft.com/office/drawing/2014/main" id="{D0A242E9-AF65-4058-A143-829FD8A07777}"/>
              </a:ext>
            </a:extLst>
          </p:cNvPr>
          <p:cNvSpPr>
            <a:spLocks noGrp="1"/>
          </p:cNvSpPr>
          <p:nvPr>
            <p:ph type="sldNum" sz="quarter" idx="12"/>
          </p:nvPr>
        </p:nvSpPr>
        <p:spPr/>
        <p:txBody>
          <a:bodyPr/>
          <a:lstStyle/>
          <a:p>
            <a:fld id="{975A587B-5814-4D9B-9598-FE9CB954CB01}" type="slidenum">
              <a:rPr lang="fr-FR" smtClean="0"/>
              <a:t>‹N°›</a:t>
            </a:fld>
            <a:endParaRPr lang="fr-FR"/>
          </a:p>
        </p:txBody>
      </p:sp>
      <p:grpSp>
        <p:nvGrpSpPr>
          <p:cNvPr id="10" name="Groupe 9">
            <a:extLst>
              <a:ext uri="{FF2B5EF4-FFF2-40B4-BE49-F238E27FC236}">
                <a16:creationId xmlns:a16="http://schemas.microsoft.com/office/drawing/2014/main" id="{20BB5D16-295D-45CF-A55B-56DD9ED023F1}"/>
              </a:ext>
            </a:extLst>
          </p:cNvPr>
          <p:cNvGrpSpPr/>
          <p:nvPr userDrawn="1"/>
        </p:nvGrpSpPr>
        <p:grpSpPr>
          <a:xfrm>
            <a:off x="5341144" y="344488"/>
            <a:ext cx="1509712" cy="1335789"/>
            <a:chOff x="7067550" y="401638"/>
            <a:chExt cx="1336676" cy="1182687"/>
          </a:xfrm>
          <a:solidFill>
            <a:schemeClr val="tx1"/>
          </a:solidFill>
        </p:grpSpPr>
        <p:sp>
          <p:nvSpPr>
            <p:cNvPr id="12" name="Freeform 5">
              <a:extLst>
                <a:ext uri="{FF2B5EF4-FFF2-40B4-BE49-F238E27FC236}">
                  <a16:creationId xmlns:a16="http://schemas.microsoft.com/office/drawing/2014/main" id="{94916CC6-93E5-4839-80C1-5B6F7292ED89}"/>
                </a:ext>
              </a:extLst>
            </p:cNvPr>
            <p:cNvSpPr>
              <a:spLocks noEditPoints="1"/>
            </p:cNvSpPr>
            <p:nvPr userDrawn="1"/>
          </p:nvSpPr>
          <p:spPr bwMode="auto">
            <a:xfrm>
              <a:off x="7067550" y="1243013"/>
              <a:ext cx="241300" cy="331787"/>
            </a:xfrm>
            <a:custGeom>
              <a:avLst/>
              <a:gdLst>
                <a:gd name="T0" fmla="*/ 86 w 86"/>
                <a:gd name="T1" fmla="*/ 41 h 118"/>
                <a:gd name="T2" fmla="*/ 45 w 86"/>
                <a:gd name="T3" fmla="*/ 81 h 118"/>
                <a:gd name="T4" fmla="*/ 27 w 86"/>
                <a:gd name="T5" fmla="*/ 81 h 118"/>
                <a:gd name="T6" fmla="*/ 27 w 86"/>
                <a:gd name="T7" fmla="*/ 118 h 118"/>
                <a:gd name="T8" fmla="*/ 0 w 86"/>
                <a:gd name="T9" fmla="*/ 118 h 118"/>
                <a:gd name="T10" fmla="*/ 0 w 86"/>
                <a:gd name="T11" fmla="*/ 0 h 118"/>
                <a:gd name="T12" fmla="*/ 45 w 86"/>
                <a:gd name="T13" fmla="*/ 0 h 118"/>
                <a:gd name="T14" fmla="*/ 86 w 86"/>
                <a:gd name="T15" fmla="*/ 41 h 118"/>
                <a:gd name="T16" fmla="*/ 59 w 86"/>
                <a:gd name="T17" fmla="*/ 41 h 118"/>
                <a:gd name="T18" fmla="*/ 45 w 86"/>
                <a:gd name="T19" fmla="*/ 26 h 118"/>
                <a:gd name="T20" fmla="*/ 27 w 86"/>
                <a:gd name="T21" fmla="*/ 26 h 118"/>
                <a:gd name="T22" fmla="*/ 27 w 86"/>
                <a:gd name="T23" fmla="*/ 56 h 118"/>
                <a:gd name="T24" fmla="*/ 45 w 86"/>
                <a:gd name="T25" fmla="*/ 56 h 118"/>
                <a:gd name="T26" fmla="*/ 59 w 86"/>
                <a:gd name="T27" fmla="*/ 41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 h="118">
                  <a:moveTo>
                    <a:pt x="86" y="41"/>
                  </a:moveTo>
                  <a:cubicBezTo>
                    <a:pt x="86" y="63"/>
                    <a:pt x="68" y="81"/>
                    <a:pt x="45" y="81"/>
                  </a:cubicBezTo>
                  <a:cubicBezTo>
                    <a:pt x="27" y="81"/>
                    <a:pt x="27" y="81"/>
                    <a:pt x="27" y="81"/>
                  </a:cubicBezTo>
                  <a:cubicBezTo>
                    <a:pt x="27" y="118"/>
                    <a:pt x="27" y="118"/>
                    <a:pt x="27" y="118"/>
                  </a:cubicBezTo>
                  <a:cubicBezTo>
                    <a:pt x="0" y="118"/>
                    <a:pt x="0" y="118"/>
                    <a:pt x="0" y="118"/>
                  </a:cubicBezTo>
                  <a:cubicBezTo>
                    <a:pt x="0" y="0"/>
                    <a:pt x="0" y="0"/>
                    <a:pt x="0" y="0"/>
                  </a:cubicBezTo>
                  <a:cubicBezTo>
                    <a:pt x="45" y="0"/>
                    <a:pt x="45" y="0"/>
                    <a:pt x="45" y="0"/>
                  </a:cubicBezTo>
                  <a:cubicBezTo>
                    <a:pt x="68" y="0"/>
                    <a:pt x="86" y="18"/>
                    <a:pt x="86" y="41"/>
                  </a:cubicBezTo>
                  <a:close/>
                  <a:moveTo>
                    <a:pt x="59" y="41"/>
                  </a:moveTo>
                  <a:cubicBezTo>
                    <a:pt x="59" y="32"/>
                    <a:pt x="53" y="26"/>
                    <a:pt x="45" y="26"/>
                  </a:cubicBezTo>
                  <a:cubicBezTo>
                    <a:pt x="27" y="26"/>
                    <a:pt x="27" y="26"/>
                    <a:pt x="27" y="26"/>
                  </a:cubicBezTo>
                  <a:cubicBezTo>
                    <a:pt x="27" y="56"/>
                    <a:pt x="27" y="56"/>
                    <a:pt x="27" y="56"/>
                  </a:cubicBezTo>
                  <a:cubicBezTo>
                    <a:pt x="45" y="56"/>
                    <a:pt x="45" y="56"/>
                    <a:pt x="45" y="56"/>
                  </a:cubicBezTo>
                  <a:cubicBezTo>
                    <a:pt x="53" y="56"/>
                    <a:pt x="59" y="49"/>
                    <a:pt x="59" y="4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3" name="Rectangle 6">
              <a:extLst>
                <a:ext uri="{FF2B5EF4-FFF2-40B4-BE49-F238E27FC236}">
                  <a16:creationId xmlns:a16="http://schemas.microsoft.com/office/drawing/2014/main" id="{F01E8212-2E72-44D7-8D94-D335732B2A5D}"/>
                </a:ext>
              </a:extLst>
            </p:cNvPr>
            <p:cNvSpPr>
              <a:spLocks noChangeArrowheads="1"/>
            </p:cNvSpPr>
            <p:nvPr userDrawn="1"/>
          </p:nvSpPr>
          <p:spPr bwMode="auto">
            <a:xfrm>
              <a:off x="8004175" y="1243013"/>
              <a:ext cx="76200" cy="331787"/>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fr-FR"/>
            </a:p>
          </p:txBody>
        </p:sp>
        <p:sp>
          <p:nvSpPr>
            <p:cNvPr id="14" name="Freeform 7">
              <a:extLst>
                <a:ext uri="{FF2B5EF4-FFF2-40B4-BE49-F238E27FC236}">
                  <a16:creationId xmlns:a16="http://schemas.microsoft.com/office/drawing/2014/main" id="{63390EF2-878A-4BE8-8D3E-AC90EFEF6A4F}"/>
                </a:ext>
              </a:extLst>
            </p:cNvPr>
            <p:cNvSpPr>
              <a:spLocks noEditPoints="1"/>
            </p:cNvSpPr>
            <p:nvPr userDrawn="1"/>
          </p:nvSpPr>
          <p:spPr bwMode="auto">
            <a:xfrm>
              <a:off x="7678738" y="1243013"/>
              <a:ext cx="255588" cy="331787"/>
            </a:xfrm>
            <a:custGeom>
              <a:avLst/>
              <a:gdLst>
                <a:gd name="T0" fmla="*/ 27 w 91"/>
                <a:gd name="T1" fmla="*/ 81 h 118"/>
                <a:gd name="T2" fmla="*/ 27 w 91"/>
                <a:gd name="T3" fmla="*/ 118 h 118"/>
                <a:gd name="T4" fmla="*/ 0 w 91"/>
                <a:gd name="T5" fmla="*/ 118 h 118"/>
                <a:gd name="T6" fmla="*/ 0 w 91"/>
                <a:gd name="T7" fmla="*/ 0 h 118"/>
                <a:gd name="T8" fmla="*/ 47 w 91"/>
                <a:gd name="T9" fmla="*/ 0 h 118"/>
                <a:gd name="T10" fmla="*/ 88 w 91"/>
                <a:gd name="T11" fmla="*/ 41 h 118"/>
                <a:gd name="T12" fmla="*/ 66 w 91"/>
                <a:gd name="T13" fmla="*/ 76 h 118"/>
                <a:gd name="T14" fmla="*/ 91 w 91"/>
                <a:gd name="T15" fmla="*/ 118 h 118"/>
                <a:gd name="T16" fmla="*/ 62 w 91"/>
                <a:gd name="T17" fmla="*/ 118 h 118"/>
                <a:gd name="T18" fmla="*/ 41 w 91"/>
                <a:gd name="T19" fmla="*/ 81 h 118"/>
                <a:gd name="T20" fmla="*/ 27 w 91"/>
                <a:gd name="T21" fmla="*/ 81 h 118"/>
                <a:gd name="T22" fmla="*/ 27 w 91"/>
                <a:gd name="T23" fmla="*/ 58 h 118"/>
                <a:gd name="T24" fmla="*/ 47 w 91"/>
                <a:gd name="T25" fmla="*/ 58 h 118"/>
                <a:gd name="T26" fmla="*/ 61 w 91"/>
                <a:gd name="T27" fmla="*/ 42 h 118"/>
                <a:gd name="T28" fmla="*/ 47 w 91"/>
                <a:gd name="T29" fmla="*/ 26 h 118"/>
                <a:gd name="T30" fmla="*/ 27 w 91"/>
                <a:gd name="T31" fmla="*/ 26 h 118"/>
                <a:gd name="T32" fmla="*/ 27 w 91"/>
                <a:gd name="T33" fmla="*/ 5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1" h="118">
                  <a:moveTo>
                    <a:pt x="27" y="81"/>
                  </a:moveTo>
                  <a:cubicBezTo>
                    <a:pt x="27" y="118"/>
                    <a:pt x="27" y="118"/>
                    <a:pt x="27" y="118"/>
                  </a:cubicBezTo>
                  <a:cubicBezTo>
                    <a:pt x="0" y="118"/>
                    <a:pt x="0" y="118"/>
                    <a:pt x="0" y="118"/>
                  </a:cubicBezTo>
                  <a:cubicBezTo>
                    <a:pt x="0" y="0"/>
                    <a:pt x="0" y="0"/>
                    <a:pt x="0" y="0"/>
                  </a:cubicBezTo>
                  <a:cubicBezTo>
                    <a:pt x="47" y="0"/>
                    <a:pt x="47" y="0"/>
                    <a:pt x="47" y="0"/>
                  </a:cubicBezTo>
                  <a:cubicBezTo>
                    <a:pt x="70" y="0"/>
                    <a:pt x="88" y="18"/>
                    <a:pt x="88" y="41"/>
                  </a:cubicBezTo>
                  <a:cubicBezTo>
                    <a:pt x="88" y="55"/>
                    <a:pt x="79" y="69"/>
                    <a:pt x="66" y="76"/>
                  </a:cubicBezTo>
                  <a:cubicBezTo>
                    <a:pt x="91" y="118"/>
                    <a:pt x="91" y="118"/>
                    <a:pt x="91" y="118"/>
                  </a:cubicBezTo>
                  <a:cubicBezTo>
                    <a:pt x="62" y="118"/>
                    <a:pt x="62" y="118"/>
                    <a:pt x="62" y="118"/>
                  </a:cubicBezTo>
                  <a:cubicBezTo>
                    <a:pt x="41" y="81"/>
                    <a:pt x="41" y="81"/>
                    <a:pt x="41" y="81"/>
                  </a:cubicBezTo>
                  <a:lnTo>
                    <a:pt x="27" y="81"/>
                  </a:lnTo>
                  <a:close/>
                  <a:moveTo>
                    <a:pt x="27" y="58"/>
                  </a:moveTo>
                  <a:cubicBezTo>
                    <a:pt x="47" y="58"/>
                    <a:pt x="47" y="58"/>
                    <a:pt x="47" y="58"/>
                  </a:cubicBezTo>
                  <a:cubicBezTo>
                    <a:pt x="55" y="58"/>
                    <a:pt x="61" y="51"/>
                    <a:pt x="61" y="42"/>
                  </a:cubicBezTo>
                  <a:cubicBezTo>
                    <a:pt x="61" y="33"/>
                    <a:pt x="55" y="26"/>
                    <a:pt x="47" y="26"/>
                  </a:cubicBezTo>
                  <a:cubicBezTo>
                    <a:pt x="27" y="26"/>
                    <a:pt x="27" y="26"/>
                    <a:pt x="27" y="26"/>
                  </a:cubicBezTo>
                  <a:lnTo>
                    <a:pt x="27" y="5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5" name="Freeform 8">
              <a:extLst>
                <a:ext uri="{FF2B5EF4-FFF2-40B4-BE49-F238E27FC236}">
                  <a16:creationId xmlns:a16="http://schemas.microsoft.com/office/drawing/2014/main" id="{CE6393BF-F5A0-4DDB-A418-6782D990E93D}"/>
                </a:ext>
              </a:extLst>
            </p:cNvPr>
            <p:cNvSpPr>
              <a:spLocks noEditPoints="1"/>
            </p:cNvSpPr>
            <p:nvPr userDrawn="1"/>
          </p:nvSpPr>
          <p:spPr bwMode="auto">
            <a:xfrm>
              <a:off x="7308850" y="1243013"/>
              <a:ext cx="320675" cy="331787"/>
            </a:xfrm>
            <a:custGeom>
              <a:avLst/>
              <a:gdLst>
                <a:gd name="T0" fmla="*/ 36 w 114"/>
                <a:gd name="T1" fmla="*/ 98 h 118"/>
                <a:gd name="T2" fmla="*/ 57 w 114"/>
                <a:gd name="T3" fmla="*/ 100 h 118"/>
                <a:gd name="T4" fmla="*/ 78 w 114"/>
                <a:gd name="T5" fmla="*/ 98 h 118"/>
                <a:gd name="T6" fmla="*/ 85 w 114"/>
                <a:gd name="T7" fmla="*/ 118 h 118"/>
                <a:gd name="T8" fmla="*/ 114 w 114"/>
                <a:gd name="T9" fmla="*/ 118 h 118"/>
                <a:gd name="T10" fmla="*/ 74 w 114"/>
                <a:gd name="T11" fmla="*/ 0 h 118"/>
                <a:gd name="T12" fmla="*/ 40 w 114"/>
                <a:gd name="T13" fmla="*/ 0 h 118"/>
                <a:gd name="T14" fmla="*/ 0 w 114"/>
                <a:gd name="T15" fmla="*/ 118 h 118"/>
                <a:gd name="T16" fmla="*/ 29 w 114"/>
                <a:gd name="T17" fmla="*/ 118 h 118"/>
                <a:gd name="T18" fmla="*/ 36 w 114"/>
                <a:gd name="T19" fmla="*/ 98 h 118"/>
                <a:gd name="T20" fmla="*/ 43 w 114"/>
                <a:gd name="T21" fmla="*/ 75 h 118"/>
                <a:gd name="T22" fmla="*/ 57 w 114"/>
                <a:gd name="T23" fmla="*/ 77 h 118"/>
                <a:gd name="T24" fmla="*/ 71 w 114"/>
                <a:gd name="T25" fmla="*/ 75 h 118"/>
                <a:gd name="T26" fmla="*/ 57 w 114"/>
                <a:gd name="T27" fmla="*/ 31 h 118"/>
                <a:gd name="T28" fmla="*/ 43 w 114"/>
                <a:gd name="T29" fmla="*/ 75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118">
                  <a:moveTo>
                    <a:pt x="36" y="98"/>
                  </a:moveTo>
                  <a:cubicBezTo>
                    <a:pt x="42" y="99"/>
                    <a:pt x="50" y="100"/>
                    <a:pt x="57" y="100"/>
                  </a:cubicBezTo>
                  <a:cubicBezTo>
                    <a:pt x="64" y="100"/>
                    <a:pt x="71" y="99"/>
                    <a:pt x="78" y="98"/>
                  </a:cubicBezTo>
                  <a:cubicBezTo>
                    <a:pt x="85" y="118"/>
                    <a:pt x="85" y="118"/>
                    <a:pt x="85" y="118"/>
                  </a:cubicBezTo>
                  <a:cubicBezTo>
                    <a:pt x="114" y="118"/>
                    <a:pt x="114" y="118"/>
                    <a:pt x="114" y="118"/>
                  </a:cubicBezTo>
                  <a:cubicBezTo>
                    <a:pt x="74" y="0"/>
                    <a:pt x="74" y="0"/>
                    <a:pt x="74" y="0"/>
                  </a:cubicBezTo>
                  <a:cubicBezTo>
                    <a:pt x="40" y="0"/>
                    <a:pt x="40" y="0"/>
                    <a:pt x="40" y="0"/>
                  </a:cubicBezTo>
                  <a:cubicBezTo>
                    <a:pt x="0" y="118"/>
                    <a:pt x="0" y="118"/>
                    <a:pt x="0" y="118"/>
                  </a:cubicBezTo>
                  <a:cubicBezTo>
                    <a:pt x="29" y="118"/>
                    <a:pt x="29" y="118"/>
                    <a:pt x="29" y="118"/>
                  </a:cubicBezTo>
                  <a:lnTo>
                    <a:pt x="36" y="98"/>
                  </a:lnTo>
                  <a:close/>
                  <a:moveTo>
                    <a:pt x="43" y="75"/>
                  </a:moveTo>
                  <a:cubicBezTo>
                    <a:pt x="47" y="76"/>
                    <a:pt x="52" y="77"/>
                    <a:pt x="57" y="77"/>
                  </a:cubicBezTo>
                  <a:cubicBezTo>
                    <a:pt x="62" y="77"/>
                    <a:pt x="66" y="76"/>
                    <a:pt x="71" y="75"/>
                  </a:cubicBezTo>
                  <a:cubicBezTo>
                    <a:pt x="57" y="31"/>
                    <a:pt x="57" y="31"/>
                    <a:pt x="57" y="31"/>
                  </a:cubicBezTo>
                  <a:lnTo>
                    <a:pt x="43" y="7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6" name="Freeform 9">
              <a:extLst>
                <a:ext uri="{FF2B5EF4-FFF2-40B4-BE49-F238E27FC236}">
                  <a16:creationId xmlns:a16="http://schemas.microsoft.com/office/drawing/2014/main" id="{37B3E016-E500-462B-9273-B8E901C62C0C}"/>
                </a:ext>
              </a:extLst>
            </p:cNvPr>
            <p:cNvSpPr>
              <a:spLocks/>
            </p:cNvSpPr>
            <p:nvPr userDrawn="1"/>
          </p:nvSpPr>
          <p:spPr bwMode="auto">
            <a:xfrm>
              <a:off x="8148638" y="1236663"/>
              <a:ext cx="255588" cy="347662"/>
            </a:xfrm>
            <a:custGeom>
              <a:avLst/>
              <a:gdLst>
                <a:gd name="T0" fmla="*/ 45 w 91"/>
                <a:gd name="T1" fmla="*/ 26 h 123"/>
                <a:gd name="T2" fmla="*/ 65 w 91"/>
                <a:gd name="T3" fmla="*/ 38 h 123"/>
                <a:gd name="T4" fmla="*/ 88 w 91"/>
                <a:gd name="T5" fmla="*/ 27 h 123"/>
                <a:gd name="T6" fmla="*/ 45 w 91"/>
                <a:gd name="T7" fmla="*/ 0 h 123"/>
                <a:gd name="T8" fmla="*/ 5 w 91"/>
                <a:gd name="T9" fmla="*/ 36 h 123"/>
                <a:gd name="T10" fmla="*/ 40 w 91"/>
                <a:gd name="T11" fmla="*/ 72 h 123"/>
                <a:gd name="T12" fmla="*/ 64 w 91"/>
                <a:gd name="T13" fmla="*/ 87 h 123"/>
                <a:gd name="T14" fmla="*/ 47 w 91"/>
                <a:gd name="T15" fmla="*/ 96 h 123"/>
                <a:gd name="T16" fmla="*/ 23 w 91"/>
                <a:gd name="T17" fmla="*/ 81 h 123"/>
                <a:gd name="T18" fmla="*/ 0 w 91"/>
                <a:gd name="T19" fmla="*/ 94 h 123"/>
                <a:gd name="T20" fmla="*/ 47 w 91"/>
                <a:gd name="T21" fmla="*/ 123 h 123"/>
                <a:gd name="T22" fmla="*/ 91 w 91"/>
                <a:gd name="T23" fmla="*/ 86 h 123"/>
                <a:gd name="T24" fmla="*/ 58 w 91"/>
                <a:gd name="T25" fmla="*/ 51 h 123"/>
                <a:gd name="T26" fmla="*/ 32 w 91"/>
                <a:gd name="T27" fmla="*/ 35 h 123"/>
                <a:gd name="T28" fmla="*/ 45 w 91"/>
                <a:gd name="T29" fmla="*/ 26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1" h="123">
                  <a:moveTo>
                    <a:pt x="45" y="26"/>
                  </a:moveTo>
                  <a:cubicBezTo>
                    <a:pt x="56" y="26"/>
                    <a:pt x="61" y="33"/>
                    <a:pt x="65" y="38"/>
                  </a:cubicBezTo>
                  <a:cubicBezTo>
                    <a:pt x="88" y="27"/>
                    <a:pt x="88" y="27"/>
                    <a:pt x="88" y="27"/>
                  </a:cubicBezTo>
                  <a:cubicBezTo>
                    <a:pt x="84" y="19"/>
                    <a:pt x="73" y="0"/>
                    <a:pt x="45" y="0"/>
                  </a:cubicBezTo>
                  <a:cubicBezTo>
                    <a:pt x="25" y="0"/>
                    <a:pt x="5" y="13"/>
                    <a:pt x="5" y="36"/>
                  </a:cubicBezTo>
                  <a:cubicBezTo>
                    <a:pt x="5" y="64"/>
                    <a:pt x="32" y="69"/>
                    <a:pt x="40" y="72"/>
                  </a:cubicBezTo>
                  <a:cubicBezTo>
                    <a:pt x="48" y="75"/>
                    <a:pt x="64" y="77"/>
                    <a:pt x="64" y="87"/>
                  </a:cubicBezTo>
                  <a:cubicBezTo>
                    <a:pt x="64" y="94"/>
                    <a:pt x="57" y="96"/>
                    <a:pt x="47" y="96"/>
                  </a:cubicBezTo>
                  <a:cubicBezTo>
                    <a:pt x="37" y="96"/>
                    <a:pt x="28" y="91"/>
                    <a:pt x="23" y="81"/>
                  </a:cubicBezTo>
                  <a:cubicBezTo>
                    <a:pt x="0" y="94"/>
                    <a:pt x="0" y="94"/>
                    <a:pt x="0" y="94"/>
                  </a:cubicBezTo>
                  <a:cubicBezTo>
                    <a:pt x="2" y="98"/>
                    <a:pt x="15" y="123"/>
                    <a:pt x="47" y="123"/>
                  </a:cubicBezTo>
                  <a:cubicBezTo>
                    <a:pt x="73" y="123"/>
                    <a:pt x="91" y="109"/>
                    <a:pt x="91" y="86"/>
                  </a:cubicBezTo>
                  <a:cubicBezTo>
                    <a:pt x="91" y="68"/>
                    <a:pt x="81" y="58"/>
                    <a:pt x="58" y="51"/>
                  </a:cubicBezTo>
                  <a:cubicBezTo>
                    <a:pt x="39" y="46"/>
                    <a:pt x="32" y="43"/>
                    <a:pt x="32" y="35"/>
                  </a:cubicBezTo>
                  <a:cubicBezTo>
                    <a:pt x="32" y="30"/>
                    <a:pt x="37" y="26"/>
                    <a:pt x="45" y="2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7" name="Freeform 10">
              <a:extLst>
                <a:ext uri="{FF2B5EF4-FFF2-40B4-BE49-F238E27FC236}">
                  <a16:creationId xmlns:a16="http://schemas.microsoft.com/office/drawing/2014/main" id="{950EE968-0191-4DC6-A4E8-F7EAC3552C38}"/>
                </a:ext>
              </a:extLst>
            </p:cNvPr>
            <p:cNvSpPr>
              <a:spLocks/>
            </p:cNvSpPr>
            <p:nvPr userDrawn="1"/>
          </p:nvSpPr>
          <p:spPr bwMode="auto">
            <a:xfrm>
              <a:off x="7319963" y="401638"/>
              <a:ext cx="833438" cy="769937"/>
            </a:xfrm>
            <a:custGeom>
              <a:avLst/>
              <a:gdLst>
                <a:gd name="T0" fmla="*/ 294 w 296"/>
                <a:gd name="T1" fmla="*/ 162 h 273"/>
                <a:gd name="T2" fmla="*/ 291 w 296"/>
                <a:gd name="T3" fmla="*/ 165 h 273"/>
                <a:gd name="T4" fmla="*/ 162 w 296"/>
                <a:gd name="T5" fmla="*/ 253 h 273"/>
                <a:gd name="T6" fmla="*/ 32 w 296"/>
                <a:gd name="T7" fmla="*/ 165 h 273"/>
                <a:gd name="T8" fmla="*/ 85 w 296"/>
                <a:gd name="T9" fmla="*/ 175 h 273"/>
                <a:gd name="T10" fmla="*/ 160 w 296"/>
                <a:gd name="T11" fmla="*/ 223 h 273"/>
                <a:gd name="T12" fmla="*/ 257 w 296"/>
                <a:gd name="T13" fmla="*/ 107 h 273"/>
                <a:gd name="T14" fmla="*/ 202 w 296"/>
                <a:gd name="T15" fmla="*/ 0 h 273"/>
                <a:gd name="T16" fmla="*/ 57 w 296"/>
                <a:gd name="T17" fmla="*/ 67 h 273"/>
                <a:gd name="T18" fmla="*/ 57 w 296"/>
                <a:gd name="T19" fmla="*/ 70 h 273"/>
                <a:gd name="T20" fmla="*/ 147 w 296"/>
                <a:gd name="T21" fmla="*/ 179 h 273"/>
                <a:gd name="T22" fmla="*/ 153 w 296"/>
                <a:gd name="T23" fmla="*/ 174 h 273"/>
                <a:gd name="T24" fmla="*/ 113 w 296"/>
                <a:gd name="T25" fmla="*/ 68 h 273"/>
                <a:gd name="T26" fmla="*/ 193 w 296"/>
                <a:gd name="T27" fmla="*/ 27 h 273"/>
                <a:gd name="T28" fmla="*/ 235 w 296"/>
                <a:gd name="T29" fmla="*/ 107 h 273"/>
                <a:gd name="T30" fmla="*/ 160 w 296"/>
                <a:gd name="T31" fmla="*/ 204 h 273"/>
                <a:gd name="T32" fmla="*/ 99 w 296"/>
                <a:gd name="T33" fmla="*/ 158 h 273"/>
                <a:gd name="T34" fmla="*/ 3 w 296"/>
                <a:gd name="T35" fmla="*/ 137 h 273"/>
                <a:gd name="T36" fmla="*/ 0 w 296"/>
                <a:gd name="T37" fmla="*/ 139 h 273"/>
                <a:gd name="T38" fmla="*/ 152 w 296"/>
                <a:gd name="T39" fmla="*/ 273 h 273"/>
                <a:gd name="T40" fmla="*/ 291 w 296"/>
                <a:gd name="T41" fmla="*/ 179 h 273"/>
                <a:gd name="T42" fmla="*/ 294 w 296"/>
                <a:gd name="T43" fmla="*/ 162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6" h="273">
                  <a:moveTo>
                    <a:pt x="294" y="162"/>
                  </a:moveTo>
                  <a:cubicBezTo>
                    <a:pt x="293" y="162"/>
                    <a:pt x="292" y="163"/>
                    <a:pt x="291" y="165"/>
                  </a:cubicBezTo>
                  <a:cubicBezTo>
                    <a:pt x="264" y="224"/>
                    <a:pt x="214" y="253"/>
                    <a:pt x="162" y="253"/>
                  </a:cubicBezTo>
                  <a:cubicBezTo>
                    <a:pt x="57" y="254"/>
                    <a:pt x="33" y="168"/>
                    <a:pt x="32" y="165"/>
                  </a:cubicBezTo>
                  <a:cubicBezTo>
                    <a:pt x="85" y="175"/>
                    <a:pt x="85" y="175"/>
                    <a:pt x="85" y="175"/>
                  </a:cubicBezTo>
                  <a:cubicBezTo>
                    <a:pt x="86" y="176"/>
                    <a:pt x="106" y="223"/>
                    <a:pt x="160" y="223"/>
                  </a:cubicBezTo>
                  <a:cubicBezTo>
                    <a:pt x="217" y="223"/>
                    <a:pt x="257" y="166"/>
                    <a:pt x="257" y="107"/>
                  </a:cubicBezTo>
                  <a:cubicBezTo>
                    <a:pt x="257" y="54"/>
                    <a:pt x="234" y="24"/>
                    <a:pt x="202" y="0"/>
                  </a:cubicBezTo>
                  <a:cubicBezTo>
                    <a:pt x="57" y="67"/>
                    <a:pt x="57" y="67"/>
                    <a:pt x="57" y="67"/>
                  </a:cubicBezTo>
                  <a:cubicBezTo>
                    <a:pt x="55" y="68"/>
                    <a:pt x="56" y="70"/>
                    <a:pt x="57" y="70"/>
                  </a:cubicBezTo>
                  <a:cubicBezTo>
                    <a:pt x="138" y="89"/>
                    <a:pt x="151" y="147"/>
                    <a:pt x="147" y="179"/>
                  </a:cubicBezTo>
                  <a:cubicBezTo>
                    <a:pt x="147" y="184"/>
                    <a:pt x="150" y="184"/>
                    <a:pt x="153" y="174"/>
                  </a:cubicBezTo>
                  <a:cubicBezTo>
                    <a:pt x="164" y="142"/>
                    <a:pt x="156" y="94"/>
                    <a:pt x="113" y="68"/>
                  </a:cubicBezTo>
                  <a:cubicBezTo>
                    <a:pt x="113" y="68"/>
                    <a:pt x="193" y="27"/>
                    <a:pt x="193" y="27"/>
                  </a:cubicBezTo>
                  <a:cubicBezTo>
                    <a:pt x="203" y="35"/>
                    <a:pt x="235" y="56"/>
                    <a:pt x="235" y="107"/>
                  </a:cubicBezTo>
                  <a:cubicBezTo>
                    <a:pt x="235" y="158"/>
                    <a:pt x="205" y="204"/>
                    <a:pt x="160" y="204"/>
                  </a:cubicBezTo>
                  <a:cubicBezTo>
                    <a:pt x="115" y="204"/>
                    <a:pt x="99" y="158"/>
                    <a:pt x="99" y="158"/>
                  </a:cubicBezTo>
                  <a:cubicBezTo>
                    <a:pt x="3" y="137"/>
                    <a:pt x="3" y="137"/>
                    <a:pt x="3" y="137"/>
                  </a:cubicBezTo>
                  <a:cubicBezTo>
                    <a:pt x="2" y="136"/>
                    <a:pt x="0" y="138"/>
                    <a:pt x="0" y="139"/>
                  </a:cubicBezTo>
                  <a:cubicBezTo>
                    <a:pt x="9" y="213"/>
                    <a:pt x="67" y="273"/>
                    <a:pt x="152" y="273"/>
                  </a:cubicBezTo>
                  <a:cubicBezTo>
                    <a:pt x="223" y="273"/>
                    <a:pt x="271" y="234"/>
                    <a:pt x="291" y="179"/>
                  </a:cubicBezTo>
                  <a:cubicBezTo>
                    <a:pt x="296" y="166"/>
                    <a:pt x="296" y="162"/>
                    <a:pt x="294" y="16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42621862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uverture avec fond blanc + photo">
    <p:bg>
      <p:bgPr>
        <a:solidFill>
          <a:schemeClr val="bg1"/>
        </a:solidFill>
        <a:effectLst/>
      </p:bgPr>
    </p:bg>
    <p:spTree>
      <p:nvGrpSpPr>
        <p:cNvPr id="1" name=""/>
        <p:cNvGrpSpPr/>
        <p:nvPr/>
      </p:nvGrpSpPr>
      <p:grpSpPr>
        <a:xfrm>
          <a:off x="0" y="0"/>
          <a:ext cx="0" cy="0"/>
          <a:chOff x="0" y="0"/>
          <a:chExt cx="0" cy="0"/>
        </a:xfrm>
      </p:grpSpPr>
      <p:sp>
        <p:nvSpPr>
          <p:cNvPr id="12" name="Espace réservé pour une image  2">
            <a:extLst>
              <a:ext uri="{FF2B5EF4-FFF2-40B4-BE49-F238E27FC236}">
                <a16:creationId xmlns:a16="http://schemas.microsoft.com/office/drawing/2014/main" id="{76C2C82B-E95D-4A35-8039-E73BF518D7C9}"/>
              </a:ext>
            </a:extLst>
          </p:cNvPr>
          <p:cNvSpPr>
            <a:spLocks noGrp="1"/>
          </p:cNvSpPr>
          <p:nvPr>
            <p:ph type="pic" idx="13"/>
          </p:nvPr>
        </p:nvSpPr>
        <p:spPr>
          <a:xfrm>
            <a:off x="684000" y="2049780"/>
            <a:ext cx="10821600" cy="4122000"/>
          </a:xfrm>
          <a:solidFill>
            <a:schemeClr val="bg1">
              <a:lumMod val="95000"/>
            </a:schemeClr>
          </a:solidFill>
        </p:spPr>
        <p:txBody>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2" name="Titre 1">
            <a:extLst>
              <a:ext uri="{FF2B5EF4-FFF2-40B4-BE49-F238E27FC236}">
                <a16:creationId xmlns:a16="http://schemas.microsoft.com/office/drawing/2014/main" id="{50C5EE01-F973-4120-91B8-34CAA765DBA3}"/>
              </a:ext>
            </a:extLst>
          </p:cNvPr>
          <p:cNvSpPr>
            <a:spLocks noGrp="1"/>
          </p:cNvSpPr>
          <p:nvPr>
            <p:ph type="ctrTitle"/>
          </p:nvPr>
        </p:nvSpPr>
        <p:spPr>
          <a:xfrm>
            <a:off x="1034814" y="3129138"/>
            <a:ext cx="10080000" cy="1800000"/>
          </a:xfrm>
        </p:spPr>
        <p:txBody>
          <a:bodyPr anchor="t"/>
          <a:lstStyle>
            <a:lvl1pPr algn="l">
              <a:lnSpc>
                <a:spcPct val="115000"/>
              </a:lnSpc>
              <a:defRPr sz="3400">
                <a:solidFill>
                  <a:schemeClr val="bg1"/>
                </a:solidFill>
              </a:defRPr>
            </a:lvl1pPr>
          </a:lstStyle>
          <a:p>
            <a:r>
              <a:rPr lang="fr-FR"/>
              <a:t>Modifiez le style du titre</a:t>
            </a:r>
            <a:endParaRPr lang="fr-FR" dirty="0"/>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p:nvPr>
        </p:nvSpPr>
        <p:spPr>
          <a:xfrm>
            <a:off x="1034814" y="5051807"/>
            <a:ext cx="10080000" cy="720000"/>
          </a:xfrm>
        </p:spPr>
        <p:txBody>
          <a:bodyPr anchor="t"/>
          <a:lstStyle>
            <a:lvl1pPr marL="0" indent="0" algn="l">
              <a:lnSpc>
                <a:spcPct val="115000"/>
              </a:lnSpc>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
        <p:nvSpPr>
          <p:cNvPr id="4" name="Espace réservé de la date 3">
            <a:extLst>
              <a:ext uri="{FF2B5EF4-FFF2-40B4-BE49-F238E27FC236}">
                <a16:creationId xmlns:a16="http://schemas.microsoft.com/office/drawing/2014/main" id="{E58594CA-3C40-4991-8A60-FEF72D3060D2}"/>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31E3FFBA-D9C5-497E-9F7F-E80F568DF82D}"/>
              </a:ext>
            </a:extLst>
          </p:cNvPr>
          <p:cNvSpPr>
            <a:spLocks noGrp="1"/>
          </p:cNvSpPr>
          <p:nvPr>
            <p:ph type="ftr" sz="quarter" idx="11"/>
          </p:nvPr>
        </p:nvSpPr>
        <p:spPr/>
        <p:txBody>
          <a:bodyPr/>
          <a:lstStyle/>
          <a:p>
            <a:r>
              <a:rPr lang="fr-FR" smtClean="0"/>
              <a:t>Ecole des Métiers de la Sécurité - Septembre 2022</a:t>
            </a:r>
            <a:endParaRPr lang="fr-FR"/>
          </a:p>
        </p:txBody>
      </p:sp>
      <p:sp>
        <p:nvSpPr>
          <p:cNvPr id="6" name="Espace réservé du numéro de diapositive 5">
            <a:extLst>
              <a:ext uri="{FF2B5EF4-FFF2-40B4-BE49-F238E27FC236}">
                <a16:creationId xmlns:a16="http://schemas.microsoft.com/office/drawing/2014/main" id="{D0A242E9-AF65-4058-A143-829FD8A07777}"/>
              </a:ext>
            </a:extLst>
          </p:cNvPr>
          <p:cNvSpPr>
            <a:spLocks noGrp="1"/>
          </p:cNvSpPr>
          <p:nvPr>
            <p:ph type="sldNum" sz="quarter" idx="12"/>
          </p:nvPr>
        </p:nvSpPr>
        <p:spPr/>
        <p:txBody>
          <a:bodyPr/>
          <a:lstStyle/>
          <a:p>
            <a:fld id="{975A587B-5814-4D9B-9598-FE9CB954CB01}" type="slidenum">
              <a:rPr lang="fr-FR" smtClean="0"/>
              <a:t>‹N°›</a:t>
            </a:fld>
            <a:endParaRPr lang="fr-FR"/>
          </a:p>
        </p:txBody>
      </p:sp>
      <p:grpSp>
        <p:nvGrpSpPr>
          <p:cNvPr id="10" name="Groupe 9">
            <a:extLst>
              <a:ext uri="{FF2B5EF4-FFF2-40B4-BE49-F238E27FC236}">
                <a16:creationId xmlns:a16="http://schemas.microsoft.com/office/drawing/2014/main" id="{DC0BC956-320E-49B5-957E-FEBFB52D1712}"/>
              </a:ext>
            </a:extLst>
          </p:cNvPr>
          <p:cNvGrpSpPr/>
          <p:nvPr userDrawn="1"/>
        </p:nvGrpSpPr>
        <p:grpSpPr>
          <a:xfrm>
            <a:off x="5341144" y="344488"/>
            <a:ext cx="1509712" cy="1335789"/>
            <a:chOff x="7067550" y="401638"/>
            <a:chExt cx="1336676" cy="1182687"/>
          </a:xfrm>
          <a:solidFill>
            <a:schemeClr val="tx1"/>
          </a:solidFill>
        </p:grpSpPr>
        <p:sp>
          <p:nvSpPr>
            <p:cNvPr id="13" name="Freeform 5">
              <a:extLst>
                <a:ext uri="{FF2B5EF4-FFF2-40B4-BE49-F238E27FC236}">
                  <a16:creationId xmlns:a16="http://schemas.microsoft.com/office/drawing/2014/main" id="{3392B769-C207-4835-ADC8-D5A20853FB69}"/>
                </a:ext>
              </a:extLst>
            </p:cNvPr>
            <p:cNvSpPr>
              <a:spLocks noEditPoints="1"/>
            </p:cNvSpPr>
            <p:nvPr userDrawn="1"/>
          </p:nvSpPr>
          <p:spPr bwMode="auto">
            <a:xfrm>
              <a:off x="7067550" y="1243013"/>
              <a:ext cx="241300" cy="331787"/>
            </a:xfrm>
            <a:custGeom>
              <a:avLst/>
              <a:gdLst>
                <a:gd name="T0" fmla="*/ 86 w 86"/>
                <a:gd name="T1" fmla="*/ 41 h 118"/>
                <a:gd name="T2" fmla="*/ 45 w 86"/>
                <a:gd name="T3" fmla="*/ 81 h 118"/>
                <a:gd name="T4" fmla="*/ 27 w 86"/>
                <a:gd name="T5" fmla="*/ 81 h 118"/>
                <a:gd name="T6" fmla="*/ 27 w 86"/>
                <a:gd name="T7" fmla="*/ 118 h 118"/>
                <a:gd name="T8" fmla="*/ 0 w 86"/>
                <a:gd name="T9" fmla="*/ 118 h 118"/>
                <a:gd name="T10" fmla="*/ 0 w 86"/>
                <a:gd name="T11" fmla="*/ 0 h 118"/>
                <a:gd name="T12" fmla="*/ 45 w 86"/>
                <a:gd name="T13" fmla="*/ 0 h 118"/>
                <a:gd name="T14" fmla="*/ 86 w 86"/>
                <a:gd name="T15" fmla="*/ 41 h 118"/>
                <a:gd name="T16" fmla="*/ 59 w 86"/>
                <a:gd name="T17" fmla="*/ 41 h 118"/>
                <a:gd name="T18" fmla="*/ 45 w 86"/>
                <a:gd name="T19" fmla="*/ 26 h 118"/>
                <a:gd name="T20" fmla="*/ 27 w 86"/>
                <a:gd name="T21" fmla="*/ 26 h 118"/>
                <a:gd name="T22" fmla="*/ 27 w 86"/>
                <a:gd name="T23" fmla="*/ 56 h 118"/>
                <a:gd name="T24" fmla="*/ 45 w 86"/>
                <a:gd name="T25" fmla="*/ 56 h 118"/>
                <a:gd name="T26" fmla="*/ 59 w 86"/>
                <a:gd name="T27" fmla="*/ 41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 h="118">
                  <a:moveTo>
                    <a:pt x="86" y="41"/>
                  </a:moveTo>
                  <a:cubicBezTo>
                    <a:pt x="86" y="63"/>
                    <a:pt x="68" y="81"/>
                    <a:pt x="45" y="81"/>
                  </a:cubicBezTo>
                  <a:cubicBezTo>
                    <a:pt x="27" y="81"/>
                    <a:pt x="27" y="81"/>
                    <a:pt x="27" y="81"/>
                  </a:cubicBezTo>
                  <a:cubicBezTo>
                    <a:pt x="27" y="118"/>
                    <a:pt x="27" y="118"/>
                    <a:pt x="27" y="118"/>
                  </a:cubicBezTo>
                  <a:cubicBezTo>
                    <a:pt x="0" y="118"/>
                    <a:pt x="0" y="118"/>
                    <a:pt x="0" y="118"/>
                  </a:cubicBezTo>
                  <a:cubicBezTo>
                    <a:pt x="0" y="0"/>
                    <a:pt x="0" y="0"/>
                    <a:pt x="0" y="0"/>
                  </a:cubicBezTo>
                  <a:cubicBezTo>
                    <a:pt x="45" y="0"/>
                    <a:pt x="45" y="0"/>
                    <a:pt x="45" y="0"/>
                  </a:cubicBezTo>
                  <a:cubicBezTo>
                    <a:pt x="68" y="0"/>
                    <a:pt x="86" y="18"/>
                    <a:pt x="86" y="41"/>
                  </a:cubicBezTo>
                  <a:close/>
                  <a:moveTo>
                    <a:pt x="59" y="41"/>
                  </a:moveTo>
                  <a:cubicBezTo>
                    <a:pt x="59" y="32"/>
                    <a:pt x="53" y="26"/>
                    <a:pt x="45" y="26"/>
                  </a:cubicBezTo>
                  <a:cubicBezTo>
                    <a:pt x="27" y="26"/>
                    <a:pt x="27" y="26"/>
                    <a:pt x="27" y="26"/>
                  </a:cubicBezTo>
                  <a:cubicBezTo>
                    <a:pt x="27" y="56"/>
                    <a:pt x="27" y="56"/>
                    <a:pt x="27" y="56"/>
                  </a:cubicBezTo>
                  <a:cubicBezTo>
                    <a:pt x="45" y="56"/>
                    <a:pt x="45" y="56"/>
                    <a:pt x="45" y="56"/>
                  </a:cubicBezTo>
                  <a:cubicBezTo>
                    <a:pt x="53" y="56"/>
                    <a:pt x="59" y="49"/>
                    <a:pt x="59" y="4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4" name="Rectangle 6">
              <a:extLst>
                <a:ext uri="{FF2B5EF4-FFF2-40B4-BE49-F238E27FC236}">
                  <a16:creationId xmlns:a16="http://schemas.microsoft.com/office/drawing/2014/main" id="{92674880-F831-489F-A140-5C5F9B7FC291}"/>
                </a:ext>
              </a:extLst>
            </p:cNvPr>
            <p:cNvSpPr>
              <a:spLocks noChangeArrowheads="1"/>
            </p:cNvSpPr>
            <p:nvPr userDrawn="1"/>
          </p:nvSpPr>
          <p:spPr bwMode="auto">
            <a:xfrm>
              <a:off x="8004175" y="1243013"/>
              <a:ext cx="76200" cy="331787"/>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fr-FR"/>
            </a:p>
          </p:txBody>
        </p:sp>
        <p:sp>
          <p:nvSpPr>
            <p:cNvPr id="15" name="Freeform 7">
              <a:extLst>
                <a:ext uri="{FF2B5EF4-FFF2-40B4-BE49-F238E27FC236}">
                  <a16:creationId xmlns:a16="http://schemas.microsoft.com/office/drawing/2014/main" id="{E88A22C2-0A29-4F16-BB6E-94837C6C1A90}"/>
                </a:ext>
              </a:extLst>
            </p:cNvPr>
            <p:cNvSpPr>
              <a:spLocks noEditPoints="1"/>
            </p:cNvSpPr>
            <p:nvPr userDrawn="1"/>
          </p:nvSpPr>
          <p:spPr bwMode="auto">
            <a:xfrm>
              <a:off x="7678738" y="1243013"/>
              <a:ext cx="255588" cy="331787"/>
            </a:xfrm>
            <a:custGeom>
              <a:avLst/>
              <a:gdLst>
                <a:gd name="T0" fmla="*/ 27 w 91"/>
                <a:gd name="T1" fmla="*/ 81 h 118"/>
                <a:gd name="T2" fmla="*/ 27 w 91"/>
                <a:gd name="T3" fmla="*/ 118 h 118"/>
                <a:gd name="T4" fmla="*/ 0 w 91"/>
                <a:gd name="T5" fmla="*/ 118 h 118"/>
                <a:gd name="T6" fmla="*/ 0 w 91"/>
                <a:gd name="T7" fmla="*/ 0 h 118"/>
                <a:gd name="T8" fmla="*/ 47 w 91"/>
                <a:gd name="T9" fmla="*/ 0 h 118"/>
                <a:gd name="T10" fmla="*/ 88 w 91"/>
                <a:gd name="T11" fmla="*/ 41 h 118"/>
                <a:gd name="T12" fmla="*/ 66 w 91"/>
                <a:gd name="T13" fmla="*/ 76 h 118"/>
                <a:gd name="T14" fmla="*/ 91 w 91"/>
                <a:gd name="T15" fmla="*/ 118 h 118"/>
                <a:gd name="T16" fmla="*/ 62 w 91"/>
                <a:gd name="T17" fmla="*/ 118 h 118"/>
                <a:gd name="T18" fmla="*/ 41 w 91"/>
                <a:gd name="T19" fmla="*/ 81 h 118"/>
                <a:gd name="T20" fmla="*/ 27 w 91"/>
                <a:gd name="T21" fmla="*/ 81 h 118"/>
                <a:gd name="T22" fmla="*/ 27 w 91"/>
                <a:gd name="T23" fmla="*/ 58 h 118"/>
                <a:gd name="T24" fmla="*/ 47 w 91"/>
                <a:gd name="T25" fmla="*/ 58 h 118"/>
                <a:gd name="T26" fmla="*/ 61 w 91"/>
                <a:gd name="T27" fmla="*/ 42 h 118"/>
                <a:gd name="T28" fmla="*/ 47 w 91"/>
                <a:gd name="T29" fmla="*/ 26 h 118"/>
                <a:gd name="T30" fmla="*/ 27 w 91"/>
                <a:gd name="T31" fmla="*/ 26 h 118"/>
                <a:gd name="T32" fmla="*/ 27 w 91"/>
                <a:gd name="T33" fmla="*/ 5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1" h="118">
                  <a:moveTo>
                    <a:pt x="27" y="81"/>
                  </a:moveTo>
                  <a:cubicBezTo>
                    <a:pt x="27" y="118"/>
                    <a:pt x="27" y="118"/>
                    <a:pt x="27" y="118"/>
                  </a:cubicBezTo>
                  <a:cubicBezTo>
                    <a:pt x="0" y="118"/>
                    <a:pt x="0" y="118"/>
                    <a:pt x="0" y="118"/>
                  </a:cubicBezTo>
                  <a:cubicBezTo>
                    <a:pt x="0" y="0"/>
                    <a:pt x="0" y="0"/>
                    <a:pt x="0" y="0"/>
                  </a:cubicBezTo>
                  <a:cubicBezTo>
                    <a:pt x="47" y="0"/>
                    <a:pt x="47" y="0"/>
                    <a:pt x="47" y="0"/>
                  </a:cubicBezTo>
                  <a:cubicBezTo>
                    <a:pt x="70" y="0"/>
                    <a:pt x="88" y="18"/>
                    <a:pt x="88" y="41"/>
                  </a:cubicBezTo>
                  <a:cubicBezTo>
                    <a:pt x="88" y="55"/>
                    <a:pt x="79" y="69"/>
                    <a:pt x="66" y="76"/>
                  </a:cubicBezTo>
                  <a:cubicBezTo>
                    <a:pt x="91" y="118"/>
                    <a:pt x="91" y="118"/>
                    <a:pt x="91" y="118"/>
                  </a:cubicBezTo>
                  <a:cubicBezTo>
                    <a:pt x="62" y="118"/>
                    <a:pt x="62" y="118"/>
                    <a:pt x="62" y="118"/>
                  </a:cubicBezTo>
                  <a:cubicBezTo>
                    <a:pt x="41" y="81"/>
                    <a:pt x="41" y="81"/>
                    <a:pt x="41" y="81"/>
                  </a:cubicBezTo>
                  <a:lnTo>
                    <a:pt x="27" y="81"/>
                  </a:lnTo>
                  <a:close/>
                  <a:moveTo>
                    <a:pt x="27" y="58"/>
                  </a:moveTo>
                  <a:cubicBezTo>
                    <a:pt x="47" y="58"/>
                    <a:pt x="47" y="58"/>
                    <a:pt x="47" y="58"/>
                  </a:cubicBezTo>
                  <a:cubicBezTo>
                    <a:pt x="55" y="58"/>
                    <a:pt x="61" y="51"/>
                    <a:pt x="61" y="42"/>
                  </a:cubicBezTo>
                  <a:cubicBezTo>
                    <a:pt x="61" y="33"/>
                    <a:pt x="55" y="26"/>
                    <a:pt x="47" y="26"/>
                  </a:cubicBezTo>
                  <a:cubicBezTo>
                    <a:pt x="27" y="26"/>
                    <a:pt x="27" y="26"/>
                    <a:pt x="27" y="26"/>
                  </a:cubicBezTo>
                  <a:lnTo>
                    <a:pt x="27" y="5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6" name="Freeform 8">
              <a:extLst>
                <a:ext uri="{FF2B5EF4-FFF2-40B4-BE49-F238E27FC236}">
                  <a16:creationId xmlns:a16="http://schemas.microsoft.com/office/drawing/2014/main" id="{91CD575D-1811-4FD4-8636-C5269B37A85A}"/>
                </a:ext>
              </a:extLst>
            </p:cNvPr>
            <p:cNvSpPr>
              <a:spLocks noEditPoints="1"/>
            </p:cNvSpPr>
            <p:nvPr userDrawn="1"/>
          </p:nvSpPr>
          <p:spPr bwMode="auto">
            <a:xfrm>
              <a:off x="7308850" y="1243013"/>
              <a:ext cx="320675" cy="331787"/>
            </a:xfrm>
            <a:custGeom>
              <a:avLst/>
              <a:gdLst>
                <a:gd name="T0" fmla="*/ 36 w 114"/>
                <a:gd name="T1" fmla="*/ 98 h 118"/>
                <a:gd name="T2" fmla="*/ 57 w 114"/>
                <a:gd name="T3" fmla="*/ 100 h 118"/>
                <a:gd name="T4" fmla="*/ 78 w 114"/>
                <a:gd name="T5" fmla="*/ 98 h 118"/>
                <a:gd name="T6" fmla="*/ 85 w 114"/>
                <a:gd name="T7" fmla="*/ 118 h 118"/>
                <a:gd name="T8" fmla="*/ 114 w 114"/>
                <a:gd name="T9" fmla="*/ 118 h 118"/>
                <a:gd name="T10" fmla="*/ 74 w 114"/>
                <a:gd name="T11" fmla="*/ 0 h 118"/>
                <a:gd name="T12" fmla="*/ 40 w 114"/>
                <a:gd name="T13" fmla="*/ 0 h 118"/>
                <a:gd name="T14" fmla="*/ 0 w 114"/>
                <a:gd name="T15" fmla="*/ 118 h 118"/>
                <a:gd name="T16" fmla="*/ 29 w 114"/>
                <a:gd name="T17" fmla="*/ 118 h 118"/>
                <a:gd name="T18" fmla="*/ 36 w 114"/>
                <a:gd name="T19" fmla="*/ 98 h 118"/>
                <a:gd name="T20" fmla="*/ 43 w 114"/>
                <a:gd name="T21" fmla="*/ 75 h 118"/>
                <a:gd name="T22" fmla="*/ 57 w 114"/>
                <a:gd name="T23" fmla="*/ 77 h 118"/>
                <a:gd name="T24" fmla="*/ 71 w 114"/>
                <a:gd name="T25" fmla="*/ 75 h 118"/>
                <a:gd name="T26" fmla="*/ 57 w 114"/>
                <a:gd name="T27" fmla="*/ 31 h 118"/>
                <a:gd name="T28" fmla="*/ 43 w 114"/>
                <a:gd name="T29" fmla="*/ 75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118">
                  <a:moveTo>
                    <a:pt x="36" y="98"/>
                  </a:moveTo>
                  <a:cubicBezTo>
                    <a:pt x="42" y="99"/>
                    <a:pt x="50" y="100"/>
                    <a:pt x="57" y="100"/>
                  </a:cubicBezTo>
                  <a:cubicBezTo>
                    <a:pt x="64" y="100"/>
                    <a:pt x="71" y="99"/>
                    <a:pt x="78" y="98"/>
                  </a:cubicBezTo>
                  <a:cubicBezTo>
                    <a:pt x="85" y="118"/>
                    <a:pt x="85" y="118"/>
                    <a:pt x="85" y="118"/>
                  </a:cubicBezTo>
                  <a:cubicBezTo>
                    <a:pt x="114" y="118"/>
                    <a:pt x="114" y="118"/>
                    <a:pt x="114" y="118"/>
                  </a:cubicBezTo>
                  <a:cubicBezTo>
                    <a:pt x="74" y="0"/>
                    <a:pt x="74" y="0"/>
                    <a:pt x="74" y="0"/>
                  </a:cubicBezTo>
                  <a:cubicBezTo>
                    <a:pt x="40" y="0"/>
                    <a:pt x="40" y="0"/>
                    <a:pt x="40" y="0"/>
                  </a:cubicBezTo>
                  <a:cubicBezTo>
                    <a:pt x="0" y="118"/>
                    <a:pt x="0" y="118"/>
                    <a:pt x="0" y="118"/>
                  </a:cubicBezTo>
                  <a:cubicBezTo>
                    <a:pt x="29" y="118"/>
                    <a:pt x="29" y="118"/>
                    <a:pt x="29" y="118"/>
                  </a:cubicBezTo>
                  <a:lnTo>
                    <a:pt x="36" y="98"/>
                  </a:lnTo>
                  <a:close/>
                  <a:moveTo>
                    <a:pt x="43" y="75"/>
                  </a:moveTo>
                  <a:cubicBezTo>
                    <a:pt x="47" y="76"/>
                    <a:pt x="52" y="77"/>
                    <a:pt x="57" y="77"/>
                  </a:cubicBezTo>
                  <a:cubicBezTo>
                    <a:pt x="62" y="77"/>
                    <a:pt x="66" y="76"/>
                    <a:pt x="71" y="75"/>
                  </a:cubicBezTo>
                  <a:cubicBezTo>
                    <a:pt x="57" y="31"/>
                    <a:pt x="57" y="31"/>
                    <a:pt x="57" y="31"/>
                  </a:cubicBezTo>
                  <a:lnTo>
                    <a:pt x="43" y="7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7" name="Freeform 9">
              <a:extLst>
                <a:ext uri="{FF2B5EF4-FFF2-40B4-BE49-F238E27FC236}">
                  <a16:creationId xmlns:a16="http://schemas.microsoft.com/office/drawing/2014/main" id="{15170D0C-80F7-49C0-B441-67CBD5116970}"/>
                </a:ext>
              </a:extLst>
            </p:cNvPr>
            <p:cNvSpPr>
              <a:spLocks/>
            </p:cNvSpPr>
            <p:nvPr userDrawn="1"/>
          </p:nvSpPr>
          <p:spPr bwMode="auto">
            <a:xfrm>
              <a:off x="8148638" y="1236663"/>
              <a:ext cx="255588" cy="347662"/>
            </a:xfrm>
            <a:custGeom>
              <a:avLst/>
              <a:gdLst>
                <a:gd name="T0" fmla="*/ 45 w 91"/>
                <a:gd name="T1" fmla="*/ 26 h 123"/>
                <a:gd name="T2" fmla="*/ 65 w 91"/>
                <a:gd name="T3" fmla="*/ 38 h 123"/>
                <a:gd name="T4" fmla="*/ 88 w 91"/>
                <a:gd name="T5" fmla="*/ 27 h 123"/>
                <a:gd name="T6" fmla="*/ 45 w 91"/>
                <a:gd name="T7" fmla="*/ 0 h 123"/>
                <a:gd name="T8" fmla="*/ 5 w 91"/>
                <a:gd name="T9" fmla="*/ 36 h 123"/>
                <a:gd name="T10" fmla="*/ 40 w 91"/>
                <a:gd name="T11" fmla="*/ 72 h 123"/>
                <a:gd name="T12" fmla="*/ 64 w 91"/>
                <a:gd name="T13" fmla="*/ 87 h 123"/>
                <a:gd name="T14" fmla="*/ 47 w 91"/>
                <a:gd name="T15" fmla="*/ 96 h 123"/>
                <a:gd name="T16" fmla="*/ 23 w 91"/>
                <a:gd name="T17" fmla="*/ 81 h 123"/>
                <a:gd name="T18" fmla="*/ 0 w 91"/>
                <a:gd name="T19" fmla="*/ 94 h 123"/>
                <a:gd name="T20" fmla="*/ 47 w 91"/>
                <a:gd name="T21" fmla="*/ 123 h 123"/>
                <a:gd name="T22" fmla="*/ 91 w 91"/>
                <a:gd name="T23" fmla="*/ 86 h 123"/>
                <a:gd name="T24" fmla="*/ 58 w 91"/>
                <a:gd name="T25" fmla="*/ 51 h 123"/>
                <a:gd name="T26" fmla="*/ 32 w 91"/>
                <a:gd name="T27" fmla="*/ 35 h 123"/>
                <a:gd name="T28" fmla="*/ 45 w 91"/>
                <a:gd name="T29" fmla="*/ 26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1" h="123">
                  <a:moveTo>
                    <a:pt x="45" y="26"/>
                  </a:moveTo>
                  <a:cubicBezTo>
                    <a:pt x="56" y="26"/>
                    <a:pt x="61" y="33"/>
                    <a:pt x="65" y="38"/>
                  </a:cubicBezTo>
                  <a:cubicBezTo>
                    <a:pt x="88" y="27"/>
                    <a:pt x="88" y="27"/>
                    <a:pt x="88" y="27"/>
                  </a:cubicBezTo>
                  <a:cubicBezTo>
                    <a:pt x="84" y="19"/>
                    <a:pt x="73" y="0"/>
                    <a:pt x="45" y="0"/>
                  </a:cubicBezTo>
                  <a:cubicBezTo>
                    <a:pt x="25" y="0"/>
                    <a:pt x="5" y="13"/>
                    <a:pt x="5" y="36"/>
                  </a:cubicBezTo>
                  <a:cubicBezTo>
                    <a:pt x="5" y="64"/>
                    <a:pt x="32" y="69"/>
                    <a:pt x="40" y="72"/>
                  </a:cubicBezTo>
                  <a:cubicBezTo>
                    <a:pt x="48" y="75"/>
                    <a:pt x="64" y="77"/>
                    <a:pt x="64" y="87"/>
                  </a:cubicBezTo>
                  <a:cubicBezTo>
                    <a:pt x="64" y="94"/>
                    <a:pt x="57" y="96"/>
                    <a:pt x="47" y="96"/>
                  </a:cubicBezTo>
                  <a:cubicBezTo>
                    <a:pt x="37" y="96"/>
                    <a:pt x="28" y="91"/>
                    <a:pt x="23" y="81"/>
                  </a:cubicBezTo>
                  <a:cubicBezTo>
                    <a:pt x="0" y="94"/>
                    <a:pt x="0" y="94"/>
                    <a:pt x="0" y="94"/>
                  </a:cubicBezTo>
                  <a:cubicBezTo>
                    <a:pt x="2" y="98"/>
                    <a:pt x="15" y="123"/>
                    <a:pt x="47" y="123"/>
                  </a:cubicBezTo>
                  <a:cubicBezTo>
                    <a:pt x="73" y="123"/>
                    <a:pt x="91" y="109"/>
                    <a:pt x="91" y="86"/>
                  </a:cubicBezTo>
                  <a:cubicBezTo>
                    <a:pt x="91" y="68"/>
                    <a:pt x="81" y="58"/>
                    <a:pt x="58" y="51"/>
                  </a:cubicBezTo>
                  <a:cubicBezTo>
                    <a:pt x="39" y="46"/>
                    <a:pt x="32" y="43"/>
                    <a:pt x="32" y="35"/>
                  </a:cubicBezTo>
                  <a:cubicBezTo>
                    <a:pt x="32" y="30"/>
                    <a:pt x="37" y="26"/>
                    <a:pt x="45" y="2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8" name="Freeform 10">
              <a:extLst>
                <a:ext uri="{FF2B5EF4-FFF2-40B4-BE49-F238E27FC236}">
                  <a16:creationId xmlns:a16="http://schemas.microsoft.com/office/drawing/2014/main" id="{EFEFE74E-7E95-4F8C-A6E2-511DFA391936}"/>
                </a:ext>
              </a:extLst>
            </p:cNvPr>
            <p:cNvSpPr>
              <a:spLocks/>
            </p:cNvSpPr>
            <p:nvPr userDrawn="1"/>
          </p:nvSpPr>
          <p:spPr bwMode="auto">
            <a:xfrm>
              <a:off x="7319963" y="401638"/>
              <a:ext cx="833438" cy="769937"/>
            </a:xfrm>
            <a:custGeom>
              <a:avLst/>
              <a:gdLst>
                <a:gd name="T0" fmla="*/ 294 w 296"/>
                <a:gd name="T1" fmla="*/ 162 h 273"/>
                <a:gd name="T2" fmla="*/ 291 w 296"/>
                <a:gd name="T3" fmla="*/ 165 h 273"/>
                <a:gd name="T4" fmla="*/ 162 w 296"/>
                <a:gd name="T5" fmla="*/ 253 h 273"/>
                <a:gd name="T6" fmla="*/ 32 w 296"/>
                <a:gd name="T7" fmla="*/ 165 h 273"/>
                <a:gd name="T8" fmla="*/ 85 w 296"/>
                <a:gd name="T9" fmla="*/ 175 h 273"/>
                <a:gd name="T10" fmla="*/ 160 w 296"/>
                <a:gd name="T11" fmla="*/ 223 h 273"/>
                <a:gd name="T12" fmla="*/ 257 w 296"/>
                <a:gd name="T13" fmla="*/ 107 h 273"/>
                <a:gd name="T14" fmla="*/ 202 w 296"/>
                <a:gd name="T15" fmla="*/ 0 h 273"/>
                <a:gd name="T16" fmla="*/ 57 w 296"/>
                <a:gd name="T17" fmla="*/ 67 h 273"/>
                <a:gd name="T18" fmla="*/ 57 w 296"/>
                <a:gd name="T19" fmla="*/ 70 h 273"/>
                <a:gd name="T20" fmla="*/ 147 w 296"/>
                <a:gd name="T21" fmla="*/ 179 h 273"/>
                <a:gd name="T22" fmla="*/ 153 w 296"/>
                <a:gd name="T23" fmla="*/ 174 h 273"/>
                <a:gd name="T24" fmla="*/ 113 w 296"/>
                <a:gd name="T25" fmla="*/ 68 h 273"/>
                <a:gd name="T26" fmla="*/ 193 w 296"/>
                <a:gd name="T27" fmla="*/ 27 h 273"/>
                <a:gd name="T28" fmla="*/ 235 w 296"/>
                <a:gd name="T29" fmla="*/ 107 h 273"/>
                <a:gd name="T30" fmla="*/ 160 w 296"/>
                <a:gd name="T31" fmla="*/ 204 h 273"/>
                <a:gd name="T32" fmla="*/ 99 w 296"/>
                <a:gd name="T33" fmla="*/ 158 h 273"/>
                <a:gd name="T34" fmla="*/ 3 w 296"/>
                <a:gd name="T35" fmla="*/ 137 h 273"/>
                <a:gd name="T36" fmla="*/ 0 w 296"/>
                <a:gd name="T37" fmla="*/ 139 h 273"/>
                <a:gd name="T38" fmla="*/ 152 w 296"/>
                <a:gd name="T39" fmla="*/ 273 h 273"/>
                <a:gd name="T40" fmla="*/ 291 w 296"/>
                <a:gd name="T41" fmla="*/ 179 h 273"/>
                <a:gd name="T42" fmla="*/ 294 w 296"/>
                <a:gd name="T43" fmla="*/ 162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6" h="273">
                  <a:moveTo>
                    <a:pt x="294" y="162"/>
                  </a:moveTo>
                  <a:cubicBezTo>
                    <a:pt x="293" y="162"/>
                    <a:pt x="292" y="163"/>
                    <a:pt x="291" y="165"/>
                  </a:cubicBezTo>
                  <a:cubicBezTo>
                    <a:pt x="264" y="224"/>
                    <a:pt x="214" y="253"/>
                    <a:pt x="162" y="253"/>
                  </a:cubicBezTo>
                  <a:cubicBezTo>
                    <a:pt x="57" y="254"/>
                    <a:pt x="33" y="168"/>
                    <a:pt x="32" y="165"/>
                  </a:cubicBezTo>
                  <a:cubicBezTo>
                    <a:pt x="85" y="175"/>
                    <a:pt x="85" y="175"/>
                    <a:pt x="85" y="175"/>
                  </a:cubicBezTo>
                  <a:cubicBezTo>
                    <a:pt x="86" y="176"/>
                    <a:pt x="106" y="223"/>
                    <a:pt x="160" y="223"/>
                  </a:cubicBezTo>
                  <a:cubicBezTo>
                    <a:pt x="217" y="223"/>
                    <a:pt x="257" y="166"/>
                    <a:pt x="257" y="107"/>
                  </a:cubicBezTo>
                  <a:cubicBezTo>
                    <a:pt x="257" y="54"/>
                    <a:pt x="234" y="24"/>
                    <a:pt x="202" y="0"/>
                  </a:cubicBezTo>
                  <a:cubicBezTo>
                    <a:pt x="57" y="67"/>
                    <a:pt x="57" y="67"/>
                    <a:pt x="57" y="67"/>
                  </a:cubicBezTo>
                  <a:cubicBezTo>
                    <a:pt x="55" y="68"/>
                    <a:pt x="56" y="70"/>
                    <a:pt x="57" y="70"/>
                  </a:cubicBezTo>
                  <a:cubicBezTo>
                    <a:pt x="138" y="89"/>
                    <a:pt x="151" y="147"/>
                    <a:pt x="147" y="179"/>
                  </a:cubicBezTo>
                  <a:cubicBezTo>
                    <a:pt x="147" y="184"/>
                    <a:pt x="150" y="184"/>
                    <a:pt x="153" y="174"/>
                  </a:cubicBezTo>
                  <a:cubicBezTo>
                    <a:pt x="164" y="142"/>
                    <a:pt x="156" y="94"/>
                    <a:pt x="113" y="68"/>
                  </a:cubicBezTo>
                  <a:cubicBezTo>
                    <a:pt x="113" y="68"/>
                    <a:pt x="193" y="27"/>
                    <a:pt x="193" y="27"/>
                  </a:cubicBezTo>
                  <a:cubicBezTo>
                    <a:pt x="203" y="35"/>
                    <a:pt x="235" y="56"/>
                    <a:pt x="235" y="107"/>
                  </a:cubicBezTo>
                  <a:cubicBezTo>
                    <a:pt x="235" y="158"/>
                    <a:pt x="205" y="204"/>
                    <a:pt x="160" y="204"/>
                  </a:cubicBezTo>
                  <a:cubicBezTo>
                    <a:pt x="115" y="204"/>
                    <a:pt x="99" y="158"/>
                    <a:pt x="99" y="158"/>
                  </a:cubicBezTo>
                  <a:cubicBezTo>
                    <a:pt x="3" y="137"/>
                    <a:pt x="3" y="137"/>
                    <a:pt x="3" y="137"/>
                  </a:cubicBezTo>
                  <a:cubicBezTo>
                    <a:pt x="2" y="136"/>
                    <a:pt x="0" y="138"/>
                    <a:pt x="0" y="139"/>
                  </a:cubicBezTo>
                  <a:cubicBezTo>
                    <a:pt x="9" y="213"/>
                    <a:pt x="67" y="273"/>
                    <a:pt x="152" y="273"/>
                  </a:cubicBezTo>
                  <a:cubicBezTo>
                    <a:pt x="223" y="273"/>
                    <a:pt x="271" y="234"/>
                    <a:pt x="291" y="179"/>
                  </a:cubicBezTo>
                  <a:cubicBezTo>
                    <a:pt x="296" y="166"/>
                    <a:pt x="296" y="162"/>
                    <a:pt x="294" y="16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35487774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3" name="Espace réservé du texte 1">
            <a:extLst>
              <a:ext uri="{FF2B5EF4-FFF2-40B4-BE49-F238E27FC236}">
                <a16:creationId xmlns:a16="http://schemas.microsoft.com/office/drawing/2014/main" id="{31BF3A9F-5739-4B40-A377-C403E92DB704}"/>
              </a:ext>
            </a:extLst>
          </p:cNvPr>
          <p:cNvSpPr>
            <a:spLocks noGrp="1"/>
          </p:cNvSpPr>
          <p:nvPr>
            <p:ph type="body" idx="1" hasCustomPrompt="1"/>
          </p:nvPr>
        </p:nvSpPr>
        <p:spPr>
          <a:xfrm>
            <a:off x="580231" y="1722433"/>
            <a:ext cx="1080000" cy="900000"/>
          </a:xfrm>
        </p:spPr>
        <p:txBody>
          <a:bodyPr anchor="t"/>
          <a:lstStyle>
            <a:lvl1pPr marL="0" indent="0" algn="l">
              <a:buNone/>
              <a:defRPr sz="52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01</a:t>
            </a:r>
          </a:p>
        </p:txBody>
      </p:sp>
      <p:sp>
        <p:nvSpPr>
          <p:cNvPr id="7" name="Espace réservé de la date 6">
            <a:extLst>
              <a:ext uri="{FF2B5EF4-FFF2-40B4-BE49-F238E27FC236}">
                <a16:creationId xmlns:a16="http://schemas.microsoft.com/office/drawing/2014/main" id="{1E05C12A-6D66-4BD5-8AA3-E181C54F9E89}"/>
              </a:ext>
            </a:extLst>
          </p:cNvPr>
          <p:cNvSpPr>
            <a:spLocks noGrp="1"/>
          </p:cNvSpPr>
          <p:nvPr>
            <p:ph type="dt" sz="half" idx="10"/>
          </p:nvPr>
        </p:nvSpPr>
        <p:spPr/>
        <p:txBody>
          <a:bodyPr/>
          <a:lstStyle/>
          <a:p>
            <a:endParaRPr lang="fr-FR"/>
          </a:p>
        </p:txBody>
      </p:sp>
      <p:sp>
        <p:nvSpPr>
          <p:cNvPr id="8" name="Espace réservé du pied de page 7">
            <a:extLst>
              <a:ext uri="{FF2B5EF4-FFF2-40B4-BE49-F238E27FC236}">
                <a16:creationId xmlns:a16="http://schemas.microsoft.com/office/drawing/2014/main" id="{4D9927BF-3057-4ED9-A027-6ED3E5944114}"/>
              </a:ext>
            </a:extLst>
          </p:cNvPr>
          <p:cNvSpPr>
            <a:spLocks noGrp="1"/>
          </p:cNvSpPr>
          <p:nvPr>
            <p:ph type="ftr" sz="quarter" idx="11"/>
          </p:nvPr>
        </p:nvSpPr>
        <p:spPr/>
        <p:txBody>
          <a:bodyPr/>
          <a:lstStyle/>
          <a:p>
            <a:r>
              <a:rPr lang="fr-FR" smtClean="0"/>
              <a:t>Ecole des Métiers de la Sécurité - Septembre 2022</a:t>
            </a:r>
            <a:endParaRPr lang="fr-FR"/>
          </a:p>
        </p:txBody>
      </p:sp>
      <p:sp>
        <p:nvSpPr>
          <p:cNvPr id="9" name="Espace réservé du numéro de diapositive 8">
            <a:extLst>
              <a:ext uri="{FF2B5EF4-FFF2-40B4-BE49-F238E27FC236}">
                <a16:creationId xmlns:a16="http://schemas.microsoft.com/office/drawing/2014/main" id="{7E748F74-A8DF-40EA-847A-446CF8437D01}"/>
              </a:ext>
            </a:extLst>
          </p:cNvPr>
          <p:cNvSpPr>
            <a:spLocks noGrp="1"/>
          </p:cNvSpPr>
          <p:nvPr>
            <p:ph type="sldNum" sz="quarter" idx="12"/>
          </p:nvPr>
        </p:nvSpPr>
        <p:spPr/>
        <p:txBody>
          <a:bodyPr/>
          <a:lstStyle/>
          <a:p>
            <a:fld id="{975A587B-5814-4D9B-9598-FE9CB954CB01}" type="slidenum">
              <a:rPr lang="fr-FR" smtClean="0"/>
              <a:t>‹N°›</a:t>
            </a:fld>
            <a:endParaRPr lang="fr-FR"/>
          </a:p>
        </p:txBody>
      </p:sp>
      <p:sp>
        <p:nvSpPr>
          <p:cNvPr id="4" name="Titre 3">
            <a:extLst>
              <a:ext uri="{FF2B5EF4-FFF2-40B4-BE49-F238E27FC236}">
                <a16:creationId xmlns:a16="http://schemas.microsoft.com/office/drawing/2014/main" id="{180F2F98-BBD9-47DE-A62F-B4E02FBAA56B}"/>
              </a:ext>
            </a:extLst>
          </p:cNvPr>
          <p:cNvSpPr>
            <a:spLocks noGrp="1"/>
          </p:cNvSpPr>
          <p:nvPr>
            <p:ph type="title"/>
          </p:nvPr>
        </p:nvSpPr>
        <p:spPr/>
        <p:txBody>
          <a:bodyPr/>
          <a:lstStyle/>
          <a:p>
            <a:r>
              <a:rPr lang="fr-FR"/>
              <a:t>Modifiez le style du titre</a:t>
            </a:r>
          </a:p>
        </p:txBody>
      </p:sp>
      <p:sp>
        <p:nvSpPr>
          <p:cNvPr id="23" name="Espace réservé du texte 2">
            <a:extLst>
              <a:ext uri="{FF2B5EF4-FFF2-40B4-BE49-F238E27FC236}">
                <a16:creationId xmlns:a16="http://schemas.microsoft.com/office/drawing/2014/main" id="{4807FE6C-2700-4312-B656-5D27E1B8FE31}"/>
              </a:ext>
            </a:extLst>
          </p:cNvPr>
          <p:cNvSpPr>
            <a:spLocks noGrp="1"/>
          </p:cNvSpPr>
          <p:nvPr>
            <p:ph type="body" sz="quarter" idx="13"/>
          </p:nvPr>
        </p:nvSpPr>
        <p:spPr>
          <a:xfrm>
            <a:off x="1590677" y="1906528"/>
            <a:ext cx="2700000" cy="1620000"/>
          </a:xfrm>
        </p:spPr>
        <p:txBody>
          <a:bodyPr/>
          <a:lstStyle>
            <a:lvl1pPr>
              <a:defRPr sz="2000" b="1">
                <a:solidFill>
                  <a:schemeClr val="accent1"/>
                </a:solidFill>
              </a:defRPr>
            </a:lvl1pPr>
            <a:lvl2pPr marL="0" indent="0">
              <a:lnSpc>
                <a:spcPct val="100000"/>
              </a:lnSpc>
              <a:spcBef>
                <a:spcPts val="600"/>
              </a:spcBef>
              <a:buNone/>
              <a:defRPr sz="1300" b="0"/>
            </a:lvl2pPr>
          </a:lstStyle>
          <a:p>
            <a:pPr lvl="0"/>
            <a:r>
              <a:rPr lang="fr-FR"/>
              <a:t>Modifiez les styles du texte du masque</a:t>
            </a:r>
          </a:p>
          <a:p>
            <a:pPr lvl="1"/>
            <a:r>
              <a:rPr lang="fr-FR"/>
              <a:t>Deuxième niveau</a:t>
            </a:r>
          </a:p>
        </p:txBody>
      </p:sp>
      <p:sp>
        <p:nvSpPr>
          <p:cNvPr id="24" name="Espace réservé du texte 1">
            <a:extLst>
              <a:ext uri="{FF2B5EF4-FFF2-40B4-BE49-F238E27FC236}">
                <a16:creationId xmlns:a16="http://schemas.microsoft.com/office/drawing/2014/main" id="{A6981A8F-77C7-411B-AAED-B9A79088774E}"/>
              </a:ext>
            </a:extLst>
          </p:cNvPr>
          <p:cNvSpPr>
            <a:spLocks noGrp="1"/>
          </p:cNvSpPr>
          <p:nvPr>
            <p:ph type="body" idx="14" hasCustomPrompt="1"/>
          </p:nvPr>
        </p:nvSpPr>
        <p:spPr>
          <a:xfrm>
            <a:off x="4335554" y="1722433"/>
            <a:ext cx="1080000" cy="900000"/>
          </a:xfrm>
        </p:spPr>
        <p:txBody>
          <a:bodyPr anchor="t"/>
          <a:lstStyle>
            <a:lvl1pPr marL="0" indent="0" algn="l">
              <a:buNone/>
              <a:defRPr sz="52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02</a:t>
            </a:r>
          </a:p>
        </p:txBody>
      </p:sp>
      <p:sp>
        <p:nvSpPr>
          <p:cNvPr id="25" name="Espace réservé du texte 2">
            <a:extLst>
              <a:ext uri="{FF2B5EF4-FFF2-40B4-BE49-F238E27FC236}">
                <a16:creationId xmlns:a16="http://schemas.microsoft.com/office/drawing/2014/main" id="{843578C5-E261-4DCD-96E3-E1231B8E5193}"/>
              </a:ext>
            </a:extLst>
          </p:cNvPr>
          <p:cNvSpPr>
            <a:spLocks noGrp="1"/>
          </p:cNvSpPr>
          <p:nvPr>
            <p:ph type="body" sz="quarter" idx="15"/>
          </p:nvPr>
        </p:nvSpPr>
        <p:spPr>
          <a:xfrm>
            <a:off x="5346000" y="1906528"/>
            <a:ext cx="2700000" cy="1620000"/>
          </a:xfrm>
        </p:spPr>
        <p:txBody>
          <a:bodyPr/>
          <a:lstStyle>
            <a:lvl1pPr>
              <a:defRPr sz="2000" b="1">
                <a:solidFill>
                  <a:schemeClr val="accent2"/>
                </a:solidFill>
              </a:defRPr>
            </a:lvl1pPr>
            <a:lvl2pPr marL="0" indent="0">
              <a:lnSpc>
                <a:spcPct val="100000"/>
              </a:lnSpc>
              <a:spcBef>
                <a:spcPts val="600"/>
              </a:spcBef>
              <a:buNone/>
              <a:defRPr sz="1300" b="0"/>
            </a:lvl2pPr>
          </a:lstStyle>
          <a:p>
            <a:pPr lvl="0"/>
            <a:r>
              <a:rPr lang="fr-FR"/>
              <a:t>Modifiez les styles du texte du masque</a:t>
            </a:r>
          </a:p>
          <a:p>
            <a:pPr lvl="1"/>
            <a:r>
              <a:rPr lang="fr-FR"/>
              <a:t>Deuxième niveau</a:t>
            </a:r>
          </a:p>
        </p:txBody>
      </p:sp>
      <p:sp>
        <p:nvSpPr>
          <p:cNvPr id="26" name="Espace réservé du texte 1">
            <a:extLst>
              <a:ext uri="{FF2B5EF4-FFF2-40B4-BE49-F238E27FC236}">
                <a16:creationId xmlns:a16="http://schemas.microsoft.com/office/drawing/2014/main" id="{F77A9180-B139-47B4-AD37-6C7C80D2A8E3}"/>
              </a:ext>
            </a:extLst>
          </p:cNvPr>
          <p:cNvSpPr>
            <a:spLocks noGrp="1"/>
          </p:cNvSpPr>
          <p:nvPr>
            <p:ph type="body" idx="16" hasCustomPrompt="1"/>
          </p:nvPr>
        </p:nvSpPr>
        <p:spPr>
          <a:xfrm>
            <a:off x="8097855" y="1722433"/>
            <a:ext cx="1080000" cy="900000"/>
          </a:xfrm>
        </p:spPr>
        <p:txBody>
          <a:bodyPr anchor="t"/>
          <a:lstStyle>
            <a:lvl1pPr marL="0" indent="0" algn="l">
              <a:buNone/>
              <a:defRPr sz="52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03</a:t>
            </a:r>
          </a:p>
        </p:txBody>
      </p:sp>
      <p:sp>
        <p:nvSpPr>
          <p:cNvPr id="27" name="Espace réservé du texte 2">
            <a:extLst>
              <a:ext uri="{FF2B5EF4-FFF2-40B4-BE49-F238E27FC236}">
                <a16:creationId xmlns:a16="http://schemas.microsoft.com/office/drawing/2014/main" id="{128E1425-609B-454E-B008-1ECCD3D43774}"/>
              </a:ext>
            </a:extLst>
          </p:cNvPr>
          <p:cNvSpPr>
            <a:spLocks noGrp="1"/>
          </p:cNvSpPr>
          <p:nvPr>
            <p:ph type="body" sz="quarter" idx="17"/>
          </p:nvPr>
        </p:nvSpPr>
        <p:spPr>
          <a:xfrm>
            <a:off x="9108301" y="1906528"/>
            <a:ext cx="2700000" cy="1620000"/>
          </a:xfrm>
        </p:spPr>
        <p:txBody>
          <a:bodyPr/>
          <a:lstStyle>
            <a:lvl1pPr>
              <a:defRPr sz="2000" b="1">
                <a:solidFill>
                  <a:schemeClr val="accent3"/>
                </a:solidFill>
              </a:defRPr>
            </a:lvl1pPr>
            <a:lvl2pPr marL="0" indent="0">
              <a:lnSpc>
                <a:spcPct val="100000"/>
              </a:lnSpc>
              <a:spcBef>
                <a:spcPts val="600"/>
              </a:spcBef>
              <a:buNone/>
              <a:defRPr sz="1300" b="0"/>
            </a:lvl2pPr>
          </a:lstStyle>
          <a:p>
            <a:pPr lvl="0"/>
            <a:r>
              <a:rPr lang="fr-FR"/>
              <a:t>Modifiez les styles du texte du masque</a:t>
            </a:r>
          </a:p>
          <a:p>
            <a:pPr lvl="1"/>
            <a:r>
              <a:rPr lang="fr-FR"/>
              <a:t>Deuxième niveau</a:t>
            </a:r>
          </a:p>
        </p:txBody>
      </p:sp>
      <p:sp>
        <p:nvSpPr>
          <p:cNvPr id="28" name="Espace réservé du texte 1">
            <a:extLst>
              <a:ext uri="{FF2B5EF4-FFF2-40B4-BE49-F238E27FC236}">
                <a16:creationId xmlns:a16="http://schemas.microsoft.com/office/drawing/2014/main" id="{15B11B44-A2CD-4B94-8ED3-2E10AB80EE5B}"/>
              </a:ext>
            </a:extLst>
          </p:cNvPr>
          <p:cNvSpPr>
            <a:spLocks noGrp="1"/>
          </p:cNvSpPr>
          <p:nvPr>
            <p:ph type="body" idx="18" hasCustomPrompt="1"/>
          </p:nvPr>
        </p:nvSpPr>
        <p:spPr>
          <a:xfrm>
            <a:off x="580231" y="3327868"/>
            <a:ext cx="1080000" cy="900000"/>
          </a:xfrm>
        </p:spPr>
        <p:txBody>
          <a:bodyPr anchor="t"/>
          <a:lstStyle>
            <a:lvl1pPr marL="0" indent="0" algn="l">
              <a:buNone/>
              <a:defRPr sz="5200" b="1">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04</a:t>
            </a:r>
          </a:p>
        </p:txBody>
      </p:sp>
      <p:sp>
        <p:nvSpPr>
          <p:cNvPr id="29" name="Espace réservé du texte 2">
            <a:extLst>
              <a:ext uri="{FF2B5EF4-FFF2-40B4-BE49-F238E27FC236}">
                <a16:creationId xmlns:a16="http://schemas.microsoft.com/office/drawing/2014/main" id="{17F534A3-63A0-48F3-B4C0-880990E4196C}"/>
              </a:ext>
            </a:extLst>
          </p:cNvPr>
          <p:cNvSpPr>
            <a:spLocks noGrp="1"/>
          </p:cNvSpPr>
          <p:nvPr>
            <p:ph type="body" sz="quarter" idx="19"/>
          </p:nvPr>
        </p:nvSpPr>
        <p:spPr>
          <a:xfrm>
            <a:off x="1590677" y="3511963"/>
            <a:ext cx="2700000" cy="1620000"/>
          </a:xfrm>
        </p:spPr>
        <p:txBody>
          <a:bodyPr/>
          <a:lstStyle>
            <a:lvl1pPr>
              <a:defRPr sz="2000" b="1">
                <a:solidFill>
                  <a:schemeClr val="accent4"/>
                </a:solidFill>
              </a:defRPr>
            </a:lvl1pPr>
            <a:lvl2pPr marL="0" indent="0">
              <a:lnSpc>
                <a:spcPct val="100000"/>
              </a:lnSpc>
              <a:spcBef>
                <a:spcPts val="600"/>
              </a:spcBef>
              <a:buNone/>
              <a:defRPr sz="1300" b="0"/>
            </a:lvl2pPr>
          </a:lstStyle>
          <a:p>
            <a:pPr lvl="0"/>
            <a:r>
              <a:rPr lang="fr-FR"/>
              <a:t>Modifiez les styles du texte du masque</a:t>
            </a:r>
          </a:p>
          <a:p>
            <a:pPr lvl="1"/>
            <a:r>
              <a:rPr lang="fr-FR"/>
              <a:t>Deuxième niveau</a:t>
            </a:r>
          </a:p>
        </p:txBody>
      </p:sp>
      <p:sp>
        <p:nvSpPr>
          <p:cNvPr id="30" name="Espace réservé du texte 1">
            <a:extLst>
              <a:ext uri="{FF2B5EF4-FFF2-40B4-BE49-F238E27FC236}">
                <a16:creationId xmlns:a16="http://schemas.microsoft.com/office/drawing/2014/main" id="{5F450093-699E-4314-94A2-1BABC6A0C0E4}"/>
              </a:ext>
            </a:extLst>
          </p:cNvPr>
          <p:cNvSpPr>
            <a:spLocks noGrp="1"/>
          </p:cNvSpPr>
          <p:nvPr>
            <p:ph type="body" idx="20" hasCustomPrompt="1"/>
          </p:nvPr>
        </p:nvSpPr>
        <p:spPr>
          <a:xfrm>
            <a:off x="4335554" y="3327868"/>
            <a:ext cx="1080000" cy="900000"/>
          </a:xfrm>
        </p:spPr>
        <p:txBody>
          <a:bodyPr anchor="t"/>
          <a:lstStyle>
            <a:lvl1pPr marL="0" indent="0" algn="l">
              <a:buNone/>
              <a:defRPr sz="5200" b="1">
                <a:solidFill>
                  <a:schemeClr val="accent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05</a:t>
            </a:r>
          </a:p>
        </p:txBody>
      </p:sp>
      <p:sp>
        <p:nvSpPr>
          <p:cNvPr id="31" name="Espace réservé du texte 2">
            <a:extLst>
              <a:ext uri="{FF2B5EF4-FFF2-40B4-BE49-F238E27FC236}">
                <a16:creationId xmlns:a16="http://schemas.microsoft.com/office/drawing/2014/main" id="{4F2A0D90-060C-47C3-9DC7-957B9D56ACBC}"/>
              </a:ext>
            </a:extLst>
          </p:cNvPr>
          <p:cNvSpPr>
            <a:spLocks noGrp="1"/>
          </p:cNvSpPr>
          <p:nvPr>
            <p:ph type="body" sz="quarter" idx="21"/>
          </p:nvPr>
        </p:nvSpPr>
        <p:spPr>
          <a:xfrm>
            <a:off x="5346000" y="3511963"/>
            <a:ext cx="2700000" cy="1620000"/>
          </a:xfrm>
        </p:spPr>
        <p:txBody>
          <a:bodyPr/>
          <a:lstStyle>
            <a:lvl1pPr>
              <a:defRPr sz="2000" b="1">
                <a:solidFill>
                  <a:schemeClr val="accent5"/>
                </a:solidFill>
              </a:defRPr>
            </a:lvl1pPr>
            <a:lvl2pPr marL="0" indent="0">
              <a:lnSpc>
                <a:spcPct val="100000"/>
              </a:lnSpc>
              <a:spcBef>
                <a:spcPts val="600"/>
              </a:spcBef>
              <a:buNone/>
              <a:defRPr sz="1300" b="0"/>
            </a:lvl2pPr>
          </a:lstStyle>
          <a:p>
            <a:pPr lvl="0"/>
            <a:r>
              <a:rPr lang="fr-FR"/>
              <a:t>Modifiez les styles du texte du masque</a:t>
            </a:r>
          </a:p>
          <a:p>
            <a:pPr lvl="1"/>
            <a:r>
              <a:rPr lang="fr-FR"/>
              <a:t>Deuxième niveau</a:t>
            </a:r>
          </a:p>
        </p:txBody>
      </p:sp>
      <p:sp>
        <p:nvSpPr>
          <p:cNvPr id="32" name="Espace réservé du texte 1">
            <a:extLst>
              <a:ext uri="{FF2B5EF4-FFF2-40B4-BE49-F238E27FC236}">
                <a16:creationId xmlns:a16="http://schemas.microsoft.com/office/drawing/2014/main" id="{BD6AAA97-755D-40DC-9159-3AF393AA2BEC}"/>
              </a:ext>
            </a:extLst>
          </p:cNvPr>
          <p:cNvSpPr>
            <a:spLocks noGrp="1"/>
          </p:cNvSpPr>
          <p:nvPr>
            <p:ph type="body" idx="22" hasCustomPrompt="1"/>
          </p:nvPr>
        </p:nvSpPr>
        <p:spPr>
          <a:xfrm>
            <a:off x="8097855" y="3327868"/>
            <a:ext cx="1080000" cy="900000"/>
          </a:xfrm>
        </p:spPr>
        <p:txBody>
          <a:bodyPr anchor="t"/>
          <a:lstStyle>
            <a:lvl1pPr marL="0" indent="0" algn="l">
              <a:buNone/>
              <a:defRPr sz="52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06</a:t>
            </a:r>
          </a:p>
        </p:txBody>
      </p:sp>
      <p:sp>
        <p:nvSpPr>
          <p:cNvPr id="33" name="Espace réservé du texte 2">
            <a:extLst>
              <a:ext uri="{FF2B5EF4-FFF2-40B4-BE49-F238E27FC236}">
                <a16:creationId xmlns:a16="http://schemas.microsoft.com/office/drawing/2014/main" id="{F6AA69BB-FE81-47A7-9178-8F577AA2B66B}"/>
              </a:ext>
            </a:extLst>
          </p:cNvPr>
          <p:cNvSpPr>
            <a:spLocks noGrp="1"/>
          </p:cNvSpPr>
          <p:nvPr>
            <p:ph type="body" sz="quarter" idx="23"/>
          </p:nvPr>
        </p:nvSpPr>
        <p:spPr>
          <a:xfrm>
            <a:off x="9108301" y="3511963"/>
            <a:ext cx="2700000" cy="1620000"/>
          </a:xfrm>
        </p:spPr>
        <p:txBody>
          <a:bodyPr/>
          <a:lstStyle>
            <a:lvl1pPr>
              <a:defRPr sz="2000" b="1">
                <a:solidFill>
                  <a:schemeClr val="accent6"/>
                </a:solidFill>
              </a:defRPr>
            </a:lvl1pPr>
            <a:lvl2pPr marL="0" indent="0">
              <a:lnSpc>
                <a:spcPct val="100000"/>
              </a:lnSpc>
              <a:spcBef>
                <a:spcPts val="600"/>
              </a:spcBef>
              <a:buNone/>
              <a:defRPr sz="1300" b="0"/>
            </a:lvl2pPr>
          </a:lstStyle>
          <a:p>
            <a:pPr lvl="0"/>
            <a:r>
              <a:rPr lang="fr-FR"/>
              <a:t>Modifiez les styles du texte du masque</a:t>
            </a:r>
          </a:p>
          <a:p>
            <a:pPr lvl="1"/>
            <a:r>
              <a:rPr lang="fr-FR"/>
              <a:t>Deuxième niveau</a:t>
            </a:r>
          </a:p>
        </p:txBody>
      </p:sp>
    </p:spTree>
    <p:extLst>
      <p:ext uri="{BB962C8B-B14F-4D97-AF65-F5344CB8AC3E}">
        <p14:creationId xmlns:p14="http://schemas.microsoft.com/office/powerpoint/2010/main" val="1252447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hoto">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AF3649C-A6A2-4932-971F-273CC2D59810}"/>
              </a:ext>
            </a:extLst>
          </p:cNvPr>
          <p:cNvSpPr>
            <a:spLocks noGrp="1"/>
          </p:cNvSpPr>
          <p:nvPr>
            <p:ph type="dt" sz="half" idx="10"/>
          </p:nvPr>
        </p:nvSpPr>
        <p:spPr/>
        <p:txBody>
          <a:bodyPr/>
          <a:lstStyle/>
          <a:p>
            <a:endParaRPr lang="fr-FR"/>
          </a:p>
        </p:txBody>
      </p:sp>
      <p:sp>
        <p:nvSpPr>
          <p:cNvPr id="3" name="Espace réservé du pied de page 2">
            <a:extLst>
              <a:ext uri="{FF2B5EF4-FFF2-40B4-BE49-F238E27FC236}">
                <a16:creationId xmlns:a16="http://schemas.microsoft.com/office/drawing/2014/main" id="{E236DDAC-B829-4304-A376-22AAEAADD6A9}"/>
              </a:ext>
            </a:extLst>
          </p:cNvPr>
          <p:cNvSpPr>
            <a:spLocks noGrp="1"/>
          </p:cNvSpPr>
          <p:nvPr>
            <p:ph type="ftr" sz="quarter" idx="11"/>
          </p:nvPr>
        </p:nvSpPr>
        <p:spPr/>
        <p:txBody>
          <a:bodyPr/>
          <a:lstStyle/>
          <a:p>
            <a:r>
              <a:rPr lang="fr-FR" smtClean="0"/>
              <a:t>Ecole des Métiers de la Sécurité - Septembre 2022</a:t>
            </a:r>
            <a:endParaRPr lang="fr-FR"/>
          </a:p>
        </p:txBody>
      </p:sp>
      <p:sp>
        <p:nvSpPr>
          <p:cNvPr id="4" name="Espace réservé du numéro de diapositive 3">
            <a:extLst>
              <a:ext uri="{FF2B5EF4-FFF2-40B4-BE49-F238E27FC236}">
                <a16:creationId xmlns:a16="http://schemas.microsoft.com/office/drawing/2014/main" id="{81E28BE3-7450-424D-94C0-927601716AF2}"/>
              </a:ext>
            </a:extLst>
          </p:cNvPr>
          <p:cNvSpPr>
            <a:spLocks noGrp="1"/>
          </p:cNvSpPr>
          <p:nvPr>
            <p:ph type="sldNum" sz="quarter" idx="12"/>
          </p:nvPr>
        </p:nvSpPr>
        <p:spPr/>
        <p:txBody>
          <a:bodyPr/>
          <a:lstStyle/>
          <a:p>
            <a:fld id="{975A587B-5814-4D9B-9598-FE9CB954CB01}" type="slidenum">
              <a:rPr lang="fr-FR" smtClean="0"/>
              <a:t>‹N°›</a:t>
            </a:fld>
            <a:endParaRPr lang="fr-FR"/>
          </a:p>
        </p:txBody>
      </p:sp>
      <p:sp>
        <p:nvSpPr>
          <p:cNvPr id="7" name="Espace réservé pour une image  2">
            <a:extLst>
              <a:ext uri="{FF2B5EF4-FFF2-40B4-BE49-F238E27FC236}">
                <a16:creationId xmlns:a16="http://schemas.microsoft.com/office/drawing/2014/main" id="{CE97E421-9E9C-4E00-98BD-C089CD74EB4D}"/>
              </a:ext>
            </a:extLst>
          </p:cNvPr>
          <p:cNvSpPr>
            <a:spLocks noGrp="1"/>
          </p:cNvSpPr>
          <p:nvPr>
            <p:ph type="pic" idx="1"/>
          </p:nvPr>
        </p:nvSpPr>
        <p:spPr>
          <a:xfrm>
            <a:off x="684000" y="683999"/>
            <a:ext cx="10825200" cy="5490000"/>
          </a:xfrm>
          <a:solidFill>
            <a:schemeClr val="bg1">
              <a:lumMod val="95000"/>
            </a:schemeClr>
          </a:solidFill>
        </p:spPr>
        <p:txBody>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Tree>
    <p:extLst>
      <p:ext uri="{BB962C8B-B14F-4D97-AF65-F5344CB8AC3E}">
        <p14:creationId xmlns:p14="http://schemas.microsoft.com/office/powerpoint/2010/main" val="32826259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Only" preserve="1">
  <p:cSld name="Fi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50C95A-056C-429F-A1B6-8B1CDC140D27}"/>
              </a:ext>
            </a:extLst>
          </p:cNvPr>
          <p:cNvSpPr>
            <a:spLocks noGrp="1"/>
          </p:cNvSpPr>
          <p:nvPr>
            <p:ph type="title"/>
          </p:nvPr>
        </p:nvSpPr>
        <p:spPr>
          <a:xfrm>
            <a:off x="593180" y="3233455"/>
            <a:ext cx="10912419" cy="1800000"/>
          </a:xfrm>
        </p:spPr>
        <p:txBody>
          <a:bodyPr anchor="ctr"/>
          <a:lstStyle>
            <a:lvl1pPr>
              <a:defRPr sz="3500"/>
            </a:lvl1pPr>
          </a:lstStyle>
          <a:p>
            <a:r>
              <a:rPr lang="fr-FR"/>
              <a:t>Modifiez le style du titre</a:t>
            </a:r>
            <a:endParaRPr lang="fr-FR" dirty="0"/>
          </a:p>
        </p:txBody>
      </p:sp>
      <p:cxnSp>
        <p:nvCxnSpPr>
          <p:cNvPr id="8" name="Connecteur droit 7">
            <a:extLst>
              <a:ext uri="{FF2B5EF4-FFF2-40B4-BE49-F238E27FC236}">
                <a16:creationId xmlns:a16="http://schemas.microsoft.com/office/drawing/2014/main" id="{3F388440-4500-4C20-AC17-72F465DBE225}"/>
              </a:ext>
            </a:extLst>
          </p:cNvPr>
          <p:cNvCxnSpPr/>
          <p:nvPr userDrawn="1"/>
        </p:nvCxnSpPr>
        <p:spPr>
          <a:xfrm>
            <a:off x="684000" y="2043904"/>
            <a:ext cx="10821600" cy="0"/>
          </a:xfrm>
          <a:prstGeom prst="line">
            <a:avLst/>
          </a:prstGeom>
          <a:ln w="889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e 17">
            <a:extLst>
              <a:ext uri="{FF2B5EF4-FFF2-40B4-BE49-F238E27FC236}">
                <a16:creationId xmlns:a16="http://schemas.microsoft.com/office/drawing/2014/main" id="{80C59BA7-E839-4347-A50D-38D5E292A408}"/>
              </a:ext>
            </a:extLst>
          </p:cNvPr>
          <p:cNvGrpSpPr/>
          <p:nvPr userDrawn="1"/>
        </p:nvGrpSpPr>
        <p:grpSpPr>
          <a:xfrm>
            <a:off x="5341144" y="344488"/>
            <a:ext cx="1509712" cy="1335789"/>
            <a:chOff x="7067550" y="401638"/>
            <a:chExt cx="1336676" cy="1182687"/>
          </a:xfrm>
          <a:solidFill>
            <a:schemeClr val="tx1"/>
          </a:solidFill>
        </p:grpSpPr>
        <p:sp>
          <p:nvSpPr>
            <p:cNvPr id="12" name="Freeform 5">
              <a:extLst>
                <a:ext uri="{FF2B5EF4-FFF2-40B4-BE49-F238E27FC236}">
                  <a16:creationId xmlns:a16="http://schemas.microsoft.com/office/drawing/2014/main" id="{C9B04C79-8B28-4521-98DE-707DE2B51B19}"/>
                </a:ext>
              </a:extLst>
            </p:cNvPr>
            <p:cNvSpPr>
              <a:spLocks noEditPoints="1"/>
            </p:cNvSpPr>
            <p:nvPr userDrawn="1"/>
          </p:nvSpPr>
          <p:spPr bwMode="auto">
            <a:xfrm>
              <a:off x="7067550" y="1243013"/>
              <a:ext cx="241300" cy="331787"/>
            </a:xfrm>
            <a:custGeom>
              <a:avLst/>
              <a:gdLst>
                <a:gd name="T0" fmla="*/ 86 w 86"/>
                <a:gd name="T1" fmla="*/ 41 h 118"/>
                <a:gd name="T2" fmla="*/ 45 w 86"/>
                <a:gd name="T3" fmla="*/ 81 h 118"/>
                <a:gd name="T4" fmla="*/ 27 w 86"/>
                <a:gd name="T5" fmla="*/ 81 h 118"/>
                <a:gd name="T6" fmla="*/ 27 w 86"/>
                <a:gd name="T7" fmla="*/ 118 h 118"/>
                <a:gd name="T8" fmla="*/ 0 w 86"/>
                <a:gd name="T9" fmla="*/ 118 h 118"/>
                <a:gd name="T10" fmla="*/ 0 w 86"/>
                <a:gd name="T11" fmla="*/ 0 h 118"/>
                <a:gd name="T12" fmla="*/ 45 w 86"/>
                <a:gd name="T13" fmla="*/ 0 h 118"/>
                <a:gd name="T14" fmla="*/ 86 w 86"/>
                <a:gd name="T15" fmla="*/ 41 h 118"/>
                <a:gd name="T16" fmla="*/ 59 w 86"/>
                <a:gd name="T17" fmla="*/ 41 h 118"/>
                <a:gd name="T18" fmla="*/ 45 w 86"/>
                <a:gd name="T19" fmla="*/ 26 h 118"/>
                <a:gd name="T20" fmla="*/ 27 w 86"/>
                <a:gd name="T21" fmla="*/ 26 h 118"/>
                <a:gd name="T22" fmla="*/ 27 w 86"/>
                <a:gd name="T23" fmla="*/ 56 h 118"/>
                <a:gd name="T24" fmla="*/ 45 w 86"/>
                <a:gd name="T25" fmla="*/ 56 h 118"/>
                <a:gd name="T26" fmla="*/ 59 w 86"/>
                <a:gd name="T27" fmla="*/ 41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 h="118">
                  <a:moveTo>
                    <a:pt x="86" y="41"/>
                  </a:moveTo>
                  <a:cubicBezTo>
                    <a:pt x="86" y="63"/>
                    <a:pt x="68" y="81"/>
                    <a:pt x="45" y="81"/>
                  </a:cubicBezTo>
                  <a:cubicBezTo>
                    <a:pt x="27" y="81"/>
                    <a:pt x="27" y="81"/>
                    <a:pt x="27" y="81"/>
                  </a:cubicBezTo>
                  <a:cubicBezTo>
                    <a:pt x="27" y="118"/>
                    <a:pt x="27" y="118"/>
                    <a:pt x="27" y="118"/>
                  </a:cubicBezTo>
                  <a:cubicBezTo>
                    <a:pt x="0" y="118"/>
                    <a:pt x="0" y="118"/>
                    <a:pt x="0" y="118"/>
                  </a:cubicBezTo>
                  <a:cubicBezTo>
                    <a:pt x="0" y="0"/>
                    <a:pt x="0" y="0"/>
                    <a:pt x="0" y="0"/>
                  </a:cubicBezTo>
                  <a:cubicBezTo>
                    <a:pt x="45" y="0"/>
                    <a:pt x="45" y="0"/>
                    <a:pt x="45" y="0"/>
                  </a:cubicBezTo>
                  <a:cubicBezTo>
                    <a:pt x="68" y="0"/>
                    <a:pt x="86" y="18"/>
                    <a:pt x="86" y="41"/>
                  </a:cubicBezTo>
                  <a:close/>
                  <a:moveTo>
                    <a:pt x="59" y="41"/>
                  </a:moveTo>
                  <a:cubicBezTo>
                    <a:pt x="59" y="32"/>
                    <a:pt x="53" y="26"/>
                    <a:pt x="45" y="26"/>
                  </a:cubicBezTo>
                  <a:cubicBezTo>
                    <a:pt x="27" y="26"/>
                    <a:pt x="27" y="26"/>
                    <a:pt x="27" y="26"/>
                  </a:cubicBezTo>
                  <a:cubicBezTo>
                    <a:pt x="27" y="56"/>
                    <a:pt x="27" y="56"/>
                    <a:pt x="27" y="56"/>
                  </a:cubicBezTo>
                  <a:cubicBezTo>
                    <a:pt x="45" y="56"/>
                    <a:pt x="45" y="56"/>
                    <a:pt x="45" y="56"/>
                  </a:cubicBezTo>
                  <a:cubicBezTo>
                    <a:pt x="53" y="56"/>
                    <a:pt x="59" y="49"/>
                    <a:pt x="59" y="4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3" name="Rectangle 6">
              <a:extLst>
                <a:ext uri="{FF2B5EF4-FFF2-40B4-BE49-F238E27FC236}">
                  <a16:creationId xmlns:a16="http://schemas.microsoft.com/office/drawing/2014/main" id="{3505DFB2-841F-40AE-B995-70C73C178DDA}"/>
                </a:ext>
              </a:extLst>
            </p:cNvPr>
            <p:cNvSpPr>
              <a:spLocks noChangeArrowheads="1"/>
            </p:cNvSpPr>
            <p:nvPr userDrawn="1"/>
          </p:nvSpPr>
          <p:spPr bwMode="auto">
            <a:xfrm>
              <a:off x="8004175" y="1243013"/>
              <a:ext cx="76200" cy="331787"/>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fr-FR"/>
            </a:p>
          </p:txBody>
        </p:sp>
        <p:sp>
          <p:nvSpPr>
            <p:cNvPr id="14" name="Freeform 7">
              <a:extLst>
                <a:ext uri="{FF2B5EF4-FFF2-40B4-BE49-F238E27FC236}">
                  <a16:creationId xmlns:a16="http://schemas.microsoft.com/office/drawing/2014/main" id="{CA50DC57-1DB8-4B0C-A610-F11276BD4822}"/>
                </a:ext>
              </a:extLst>
            </p:cNvPr>
            <p:cNvSpPr>
              <a:spLocks noEditPoints="1"/>
            </p:cNvSpPr>
            <p:nvPr userDrawn="1"/>
          </p:nvSpPr>
          <p:spPr bwMode="auto">
            <a:xfrm>
              <a:off x="7678738" y="1243013"/>
              <a:ext cx="255588" cy="331787"/>
            </a:xfrm>
            <a:custGeom>
              <a:avLst/>
              <a:gdLst>
                <a:gd name="T0" fmla="*/ 27 w 91"/>
                <a:gd name="T1" fmla="*/ 81 h 118"/>
                <a:gd name="T2" fmla="*/ 27 w 91"/>
                <a:gd name="T3" fmla="*/ 118 h 118"/>
                <a:gd name="T4" fmla="*/ 0 w 91"/>
                <a:gd name="T5" fmla="*/ 118 h 118"/>
                <a:gd name="T6" fmla="*/ 0 w 91"/>
                <a:gd name="T7" fmla="*/ 0 h 118"/>
                <a:gd name="T8" fmla="*/ 47 w 91"/>
                <a:gd name="T9" fmla="*/ 0 h 118"/>
                <a:gd name="T10" fmla="*/ 88 w 91"/>
                <a:gd name="T11" fmla="*/ 41 h 118"/>
                <a:gd name="T12" fmla="*/ 66 w 91"/>
                <a:gd name="T13" fmla="*/ 76 h 118"/>
                <a:gd name="T14" fmla="*/ 91 w 91"/>
                <a:gd name="T15" fmla="*/ 118 h 118"/>
                <a:gd name="T16" fmla="*/ 62 w 91"/>
                <a:gd name="T17" fmla="*/ 118 h 118"/>
                <a:gd name="T18" fmla="*/ 41 w 91"/>
                <a:gd name="T19" fmla="*/ 81 h 118"/>
                <a:gd name="T20" fmla="*/ 27 w 91"/>
                <a:gd name="T21" fmla="*/ 81 h 118"/>
                <a:gd name="T22" fmla="*/ 27 w 91"/>
                <a:gd name="T23" fmla="*/ 58 h 118"/>
                <a:gd name="T24" fmla="*/ 47 w 91"/>
                <a:gd name="T25" fmla="*/ 58 h 118"/>
                <a:gd name="T26" fmla="*/ 61 w 91"/>
                <a:gd name="T27" fmla="*/ 42 h 118"/>
                <a:gd name="T28" fmla="*/ 47 w 91"/>
                <a:gd name="T29" fmla="*/ 26 h 118"/>
                <a:gd name="T30" fmla="*/ 27 w 91"/>
                <a:gd name="T31" fmla="*/ 26 h 118"/>
                <a:gd name="T32" fmla="*/ 27 w 91"/>
                <a:gd name="T33" fmla="*/ 5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1" h="118">
                  <a:moveTo>
                    <a:pt x="27" y="81"/>
                  </a:moveTo>
                  <a:cubicBezTo>
                    <a:pt x="27" y="118"/>
                    <a:pt x="27" y="118"/>
                    <a:pt x="27" y="118"/>
                  </a:cubicBezTo>
                  <a:cubicBezTo>
                    <a:pt x="0" y="118"/>
                    <a:pt x="0" y="118"/>
                    <a:pt x="0" y="118"/>
                  </a:cubicBezTo>
                  <a:cubicBezTo>
                    <a:pt x="0" y="0"/>
                    <a:pt x="0" y="0"/>
                    <a:pt x="0" y="0"/>
                  </a:cubicBezTo>
                  <a:cubicBezTo>
                    <a:pt x="47" y="0"/>
                    <a:pt x="47" y="0"/>
                    <a:pt x="47" y="0"/>
                  </a:cubicBezTo>
                  <a:cubicBezTo>
                    <a:pt x="70" y="0"/>
                    <a:pt x="88" y="18"/>
                    <a:pt x="88" y="41"/>
                  </a:cubicBezTo>
                  <a:cubicBezTo>
                    <a:pt x="88" y="55"/>
                    <a:pt x="79" y="69"/>
                    <a:pt x="66" y="76"/>
                  </a:cubicBezTo>
                  <a:cubicBezTo>
                    <a:pt x="91" y="118"/>
                    <a:pt x="91" y="118"/>
                    <a:pt x="91" y="118"/>
                  </a:cubicBezTo>
                  <a:cubicBezTo>
                    <a:pt x="62" y="118"/>
                    <a:pt x="62" y="118"/>
                    <a:pt x="62" y="118"/>
                  </a:cubicBezTo>
                  <a:cubicBezTo>
                    <a:pt x="41" y="81"/>
                    <a:pt x="41" y="81"/>
                    <a:pt x="41" y="81"/>
                  </a:cubicBezTo>
                  <a:lnTo>
                    <a:pt x="27" y="81"/>
                  </a:lnTo>
                  <a:close/>
                  <a:moveTo>
                    <a:pt x="27" y="58"/>
                  </a:moveTo>
                  <a:cubicBezTo>
                    <a:pt x="47" y="58"/>
                    <a:pt x="47" y="58"/>
                    <a:pt x="47" y="58"/>
                  </a:cubicBezTo>
                  <a:cubicBezTo>
                    <a:pt x="55" y="58"/>
                    <a:pt x="61" y="51"/>
                    <a:pt x="61" y="42"/>
                  </a:cubicBezTo>
                  <a:cubicBezTo>
                    <a:pt x="61" y="33"/>
                    <a:pt x="55" y="26"/>
                    <a:pt x="47" y="26"/>
                  </a:cubicBezTo>
                  <a:cubicBezTo>
                    <a:pt x="27" y="26"/>
                    <a:pt x="27" y="26"/>
                    <a:pt x="27" y="26"/>
                  </a:cubicBezTo>
                  <a:lnTo>
                    <a:pt x="27" y="5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5" name="Freeform 8">
              <a:extLst>
                <a:ext uri="{FF2B5EF4-FFF2-40B4-BE49-F238E27FC236}">
                  <a16:creationId xmlns:a16="http://schemas.microsoft.com/office/drawing/2014/main" id="{78394F27-2E9E-4129-A9A8-48A53B52BA24}"/>
                </a:ext>
              </a:extLst>
            </p:cNvPr>
            <p:cNvSpPr>
              <a:spLocks noEditPoints="1"/>
            </p:cNvSpPr>
            <p:nvPr userDrawn="1"/>
          </p:nvSpPr>
          <p:spPr bwMode="auto">
            <a:xfrm>
              <a:off x="7308850" y="1243013"/>
              <a:ext cx="320675" cy="331787"/>
            </a:xfrm>
            <a:custGeom>
              <a:avLst/>
              <a:gdLst>
                <a:gd name="T0" fmla="*/ 36 w 114"/>
                <a:gd name="T1" fmla="*/ 98 h 118"/>
                <a:gd name="T2" fmla="*/ 57 w 114"/>
                <a:gd name="T3" fmla="*/ 100 h 118"/>
                <a:gd name="T4" fmla="*/ 78 w 114"/>
                <a:gd name="T5" fmla="*/ 98 h 118"/>
                <a:gd name="T6" fmla="*/ 85 w 114"/>
                <a:gd name="T7" fmla="*/ 118 h 118"/>
                <a:gd name="T8" fmla="*/ 114 w 114"/>
                <a:gd name="T9" fmla="*/ 118 h 118"/>
                <a:gd name="T10" fmla="*/ 74 w 114"/>
                <a:gd name="T11" fmla="*/ 0 h 118"/>
                <a:gd name="T12" fmla="*/ 40 w 114"/>
                <a:gd name="T13" fmla="*/ 0 h 118"/>
                <a:gd name="T14" fmla="*/ 0 w 114"/>
                <a:gd name="T15" fmla="*/ 118 h 118"/>
                <a:gd name="T16" fmla="*/ 29 w 114"/>
                <a:gd name="T17" fmla="*/ 118 h 118"/>
                <a:gd name="T18" fmla="*/ 36 w 114"/>
                <a:gd name="T19" fmla="*/ 98 h 118"/>
                <a:gd name="T20" fmla="*/ 43 w 114"/>
                <a:gd name="T21" fmla="*/ 75 h 118"/>
                <a:gd name="T22" fmla="*/ 57 w 114"/>
                <a:gd name="T23" fmla="*/ 77 h 118"/>
                <a:gd name="T24" fmla="*/ 71 w 114"/>
                <a:gd name="T25" fmla="*/ 75 h 118"/>
                <a:gd name="T26" fmla="*/ 57 w 114"/>
                <a:gd name="T27" fmla="*/ 31 h 118"/>
                <a:gd name="T28" fmla="*/ 43 w 114"/>
                <a:gd name="T29" fmla="*/ 75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118">
                  <a:moveTo>
                    <a:pt x="36" y="98"/>
                  </a:moveTo>
                  <a:cubicBezTo>
                    <a:pt x="42" y="99"/>
                    <a:pt x="50" y="100"/>
                    <a:pt x="57" y="100"/>
                  </a:cubicBezTo>
                  <a:cubicBezTo>
                    <a:pt x="64" y="100"/>
                    <a:pt x="71" y="99"/>
                    <a:pt x="78" y="98"/>
                  </a:cubicBezTo>
                  <a:cubicBezTo>
                    <a:pt x="85" y="118"/>
                    <a:pt x="85" y="118"/>
                    <a:pt x="85" y="118"/>
                  </a:cubicBezTo>
                  <a:cubicBezTo>
                    <a:pt x="114" y="118"/>
                    <a:pt x="114" y="118"/>
                    <a:pt x="114" y="118"/>
                  </a:cubicBezTo>
                  <a:cubicBezTo>
                    <a:pt x="74" y="0"/>
                    <a:pt x="74" y="0"/>
                    <a:pt x="74" y="0"/>
                  </a:cubicBezTo>
                  <a:cubicBezTo>
                    <a:pt x="40" y="0"/>
                    <a:pt x="40" y="0"/>
                    <a:pt x="40" y="0"/>
                  </a:cubicBezTo>
                  <a:cubicBezTo>
                    <a:pt x="0" y="118"/>
                    <a:pt x="0" y="118"/>
                    <a:pt x="0" y="118"/>
                  </a:cubicBezTo>
                  <a:cubicBezTo>
                    <a:pt x="29" y="118"/>
                    <a:pt x="29" y="118"/>
                    <a:pt x="29" y="118"/>
                  </a:cubicBezTo>
                  <a:lnTo>
                    <a:pt x="36" y="98"/>
                  </a:lnTo>
                  <a:close/>
                  <a:moveTo>
                    <a:pt x="43" y="75"/>
                  </a:moveTo>
                  <a:cubicBezTo>
                    <a:pt x="47" y="76"/>
                    <a:pt x="52" y="77"/>
                    <a:pt x="57" y="77"/>
                  </a:cubicBezTo>
                  <a:cubicBezTo>
                    <a:pt x="62" y="77"/>
                    <a:pt x="66" y="76"/>
                    <a:pt x="71" y="75"/>
                  </a:cubicBezTo>
                  <a:cubicBezTo>
                    <a:pt x="57" y="31"/>
                    <a:pt x="57" y="31"/>
                    <a:pt x="57" y="31"/>
                  </a:cubicBezTo>
                  <a:lnTo>
                    <a:pt x="43" y="7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6" name="Freeform 9">
              <a:extLst>
                <a:ext uri="{FF2B5EF4-FFF2-40B4-BE49-F238E27FC236}">
                  <a16:creationId xmlns:a16="http://schemas.microsoft.com/office/drawing/2014/main" id="{D8086A15-85F1-45A5-A4F9-831BC5ABED28}"/>
                </a:ext>
              </a:extLst>
            </p:cNvPr>
            <p:cNvSpPr>
              <a:spLocks/>
            </p:cNvSpPr>
            <p:nvPr userDrawn="1"/>
          </p:nvSpPr>
          <p:spPr bwMode="auto">
            <a:xfrm>
              <a:off x="8148638" y="1236663"/>
              <a:ext cx="255588" cy="347662"/>
            </a:xfrm>
            <a:custGeom>
              <a:avLst/>
              <a:gdLst>
                <a:gd name="T0" fmla="*/ 45 w 91"/>
                <a:gd name="T1" fmla="*/ 26 h 123"/>
                <a:gd name="T2" fmla="*/ 65 w 91"/>
                <a:gd name="T3" fmla="*/ 38 h 123"/>
                <a:gd name="T4" fmla="*/ 88 w 91"/>
                <a:gd name="T5" fmla="*/ 27 h 123"/>
                <a:gd name="T6" fmla="*/ 45 w 91"/>
                <a:gd name="T7" fmla="*/ 0 h 123"/>
                <a:gd name="T8" fmla="*/ 5 w 91"/>
                <a:gd name="T9" fmla="*/ 36 h 123"/>
                <a:gd name="T10" fmla="*/ 40 w 91"/>
                <a:gd name="T11" fmla="*/ 72 h 123"/>
                <a:gd name="T12" fmla="*/ 64 w 91"/>
                <a:gd name="T13" fmla="*/ 87 h 123"/>
                <a:gd name="T14" fmla="*/ 47 w 91"/>
                <a:gd name="T15" fmla="*/ 96 h 123"/>
                <a:gd name="T16" fmla="*/ 23 w 91"/>
                <a:gd name="T17" fmla="*/ 81 h 123"/>
                <a:gd name="T18" fmla="*/ 0 w 91"/>
                <a:gd name="T19" fmla="*/ 94 h 123"/>
                <a:gd name="T20" fmla="*/ 47 w 91"/>
                <a:gd name="T21" fmla="*/ 123 h 123"/>
                <a:gd name="T22" fmla="*/ 91 w 91"/>
                <a:gd name="T23" fmla="*/ 86 h 123"/>
                <a:gd name="T24" fmla="*/ 58 w 91"/>
                <a:gd name="T25" fmla="*/ 51 h 123"/>
                <a:gd name="T26" fmla="*/ 32 w 91"/>
                <a:gd name="T27" fmla="*/ 35 h 123"/>
                <a:gd name="T28" fmla="*/ 45 w 91"/>
                <a:gd name="T29" fmla="*/ 26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1" h="123">
                  <a:moveTo>
                    <a:pt x="45" y="26"/>
                  </a:moveTo>
                  <a:cubicBezTo>
                    <a:pt x="56" y="26"/>
                    <a:pt x="61" y="33"/>
                    <a:pt x="65" y="38"/>
                  </a:cubicBezTo>
                  <a:cubicBezTo>
                    <a:pt x="88" y="27"/>
                    <a:pt x="88" y="27"/>
                    <a:pt x="88" y="27"/>
                  </a:cubicBezTo>
                  <a:cubicBezTo>
                    <a:pt x="84" y="19"/>
                    <a:pt x="73" y="0"/>
                    <a:pt x="45" y="0"/>
                  </a:cubicBezTo>
                  <a:cubicBezTo>
                    <a:pt x="25" y="0"/>
                    <a:pt x="5" y="13"/>
                    <a:pt x="5" y="36"/>
                  </a:cubicBezTo>
                  <a:cubicBezTo>
                    <a:pt x="5" y="64"/>
                    <a:pt x="32" y="69"/>
                    <a:pt x="40" y="72"/>
                  </a:cubicBezTo>
                  <a:cubicBezTo>
                    <a:pt x="48" y="75"/>
                    <a:pt x="64" y="77"/>
                    <a:pt x="64" y="87"/>
                  </a:cubicBezTo>
                  <a:cubicBezTo>
                    <a:pt x="64" y="94"/>
                    <a:pt x="57" y="96"/>
                    <a:pt x="47" y="96"/>
                  </a:cubicBezTo>
                  <a:cubicBezTo>
                    <a:pt x="37" y="96"/>
                    <a:pt x="28" y="91"/>
                    <a:pt x="23" y="81"/>
                  </a:cubicBezTo>
                  <a:cubicBezTo>
                    <a:pt x="0" y="94"/>
                    <a:pt x="0" y="94"/>
                    <a:pt x="0" y="94"/>
                  </a:cubicBezTo>
                  <a:cubicBezTo>
                    <a:pt x="2" y="98"/>
                    <a:pt x="15" y="123"/>
                    <a:pt x="47" y="123"/>
                  </a:cubicBezTo>
                  <a:cubicBezTo>
                    <a:pt x="73" y="123"/>
                    <a:pt x="91" y="109"/>
                    <a:pt x="91" y="86"/>
                  </a:cubicBezTo>
                  <a:cubicBezTo>
                    <a:pt x="91" y="68"/>
                    <a:pt x="81" y="58"/>
                    <a:pt x="58" y="51"/>
                  </a:cubicBezTo>
                  <a:cubicBezTo>
                    <a:pt x="39" y="46"/>
                    <a:pt x="32" y="43"/>
                    <a:pt x="32" y="35"/>
                  </a:cubicBezTo>
                  <a:cubicBezTo>
                    <a:pt x="32" y="30"/>
                    <a:pt x="37" y="26"/>
                    <a:pt x="45" y="2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7" name="Freeform 10">
              <a:extLst>
                <a:ext uri="{FF2B5EF4-FFF2-40B4-BE49-F238E27FC236}">
                  <a16:creationId xmlns:a16="http://schemas.microsoft.com/office/drawing/2014/main" id="{F5BFD85B-F427-44C1-9D4D-C53A318EA5D0}"/>
                </a:ext>
              </a:extLst>
            </p:cNvPr>
            <p:cNvSpPr>
              <a:spLocks/>
            </p:cNvSpPr>
            <p:nvPr userDrawn="1"/>
          </p:nvSpPr>
          <p:spPr bwMode="auto">
            <a:xfrm>
              <a:off x="7319963" y="401638"/>
              <a:ext cx="833438" cy="769937"/>
            </a:xfrm>
            <a:custGeom>
              <a:avLst/>
              <a:gdLst>
                <a:gd name="T0" fmla="*/ 294 w 296"/>
                <a:gd name="T1" fmla="*/ 162 h 273"/>
                <a:gd name="T2" fmla="*/ 291 w 296"/>
                <a:gd name="T3" fmla="*/ 165 h 273"/>
                <a:gd name="T4" fmla="*/ 162 w 296"/>
                <a:gd name="T5" fmla="*/ 253 h 273"/>
                <a:gd name="T6" fmla="*/ 32 w 296"/>
                <a:gd name="T7" fmla="*/ 165 h 273"/>
                <a:gd name="T8" fmla="*/ 85 w 296"/>
                <a:gd name="T9" fmla="*/ 175 h 273"/>
                <a:gd name="T10" fmla="*/ 160 w 296"/>
                <a:gd name="T11" fmla="*/ 223 h 273"/>
                <a:gd name="T12" fmla="*/ 257 w 296"/>
                <a:gd name="T13" fmla="*/ 107 h 273"/>
                <a:gd name="T14" fmla="*/ 202 w 296"/>
                <a:gd name="T15" fmla="*/ 0 h 273"/>
                <a:gd name="T16" fmla="*/ 57 w 296"/>
                <a:gd name="T17" fmla="*/ 67 h 273"/>
                <a:gd name="T18" fmla="*/ 57 w 296"/>
                <a:gd name="T19" fmla="*/ 70 h 273"/>
                <a:gd name="T20" fmla="*/ 147 w 296"/>
                <a:gd name="T21" fmla="*/ 179 h 273"/>
                <a:gd name="T22" fmla="*/ 153 w 296"/>
                <a:gd name="T23" fmla="*/ 174 h 273"/>
                <a:gd name="T24" fmla="*/ 113 w 296"/>
                <a:gd name="T25" fmla="*/ 68 h 273"/>
                <a:gd name="T26" fmla="*/ 193 w 296"/>
                <a:gd name="T27" fmla="*/ 27 h 273"/>
                <a:gd name="T28" fmla="*/ 235 w 296"/>
                <a:gd name="T29" fmla="*/ 107 h 273"/>
                <a:gd name="T30" fmla="*/ 160 w 296"/>
                <a:gd name="T31" fmla="*/ 204 h 273"/>
                <a:gd name="T32" fmla="*/ 99 w 296"/>
                <a:gd name="T33" fmla="*/ 158 h 273"/>
                <a:gd name="T34" fmla="*/ 3 w 296"/>
                <a:gd name="T35" fmla="*/ 137 h 273"/>
                <a:gd name="T36" fmla="*/ 0 w 296"/>
                <a:gd name="T37" fmla="*/ 139 h 273"/>
                <a:gd name="T38" fmla="*/ 152 w 296"/>
                <a:gd name="T39" fmla="*/ 273 h 273"/>
                <a:gd name="T40" fmla="*/ 291 w 296"/>
                <a:gd name="T41" fmla="*/ 179 h 273"/>
                <a:gd name="T42" fmla="*/ 294 w 296"/>
                <a:gd name="T43" fmla="*/ 162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6" h="273">
                  <a:moveTo>
                    <a:pt x="294" y="162"/>
                  </a:moveTo>
                  <a:cubicBezTo>
                    <a:pt x="293" y="162"/>
                    <a:pt x="292" y="163"/>
                    <a:pt x="291" y="165"/>
                  </a:cubicBezTo>
                  <a:cubicBezTo>
                    <a:pt x="264" y="224"/>
                    <a:pt x="214" y="253"/>
                    <a:pt x="162" y="253"/>
                  </a:cubicBezTo>
                  <a:cubicBezTo>
                    <a:pt x="57" y="254"/>
                    <a:pt x="33" y="168"/>
                    <a:pt x="32" y="165"/>
                  </a:cubicBezTo>
                  <a:cubicBezTo>
                    <a:pt x="85" y="175"/>
                    <a:pt x="85" y="175"/>
                    <a:pt x="85" y="175"/>
                  </a:cubicBezTo>
                  <a:cubicBezTo>
                    <a:pt x="86" y="176"/>
                    <a:pt x="106" y="223"/>
                    <a:pt x="160" y="223"/>
                  </a:cubicBezTo>
                  <a:cubicBezTo>
                    <a:pt x="217" y="223"/>
                    <a:pt x="257" y="166"/>
                    <a:pt x="257" y="107"/>
                  </a:cubicBezTo>
                  <a:cubicBezTo>
                    <a:pt x="257" y="54"/>
                    <a:pt x="234" y="24"/>
                    <a:pt x="202" y="0"/>
                  </a:cubicBezTo>
                  <a:cubicBezTo>
                    <a:pt x="57" y="67"/>
                    <a:pt x="57" y="67"/>
                    <a:pt x="57" y="67"/>
                  </a:cubicBezTo>
                  <a:cubicBezTo>
                    <a:pt x="55" y="68"/>
                    <a:pt x="56" y="70"/>
                    <a:pt x="57" y="70"/>
                  </a:cubicBezTo>
                  <a:cubicBezTo>
                    <a:pt x="138" y="89"/>
                    <a:pt x="151" y="147"/>
                    <a:pt x="147" y="179"/>
                  </a:cubicBezTo>
                  <a:cubicBezTo>
                    <a:pt x="147" y="184"/>
                    <a:pt x="150" y="184"/>
                    <a:pt x="153" y="174"/>
                  </a:cubicBezTo>
                  <a:cubicBezTo>
                    <a:pt x="164" y="142"/>
                    <a:pt x="156" y="94"/>
                    <a:pt x="113" y="68"/>
                  </a:cubicBezTo>
                  <a:cubicBezTo>
                    <a:pt x="113" y="68"/>
                    <a:pt x="193" y="27"/>
                    <a:pt x="193" y="27"/>
                  </a:cubicBezTo>
                  <a:cubicBezTo>
                    <a:pt x="203" y="35"/>
                    <a:pt x="235" y="56"/>
                    <a:pt x="235" y="107"/>
                  </a:cubicBezTo>
                  <a:cubicBezTo>
                    <a:pt x="235" y="158"/>
                    <a:pt x="205" y="204"/>
                    <a:pt x="160" y="204"/>
                  </a:cubicBezTo>
                  <a:cubicBezTo>
                    <a:pt x="115" y="204"/>
                    <a:pt x="99" y="158"/>
                    <a:pt x="99" y="158"/>
                  </a:cubicBezTo>
                  <a:cubicBezTo>
                    <a:pt x="3" y="137"/>
                    <a:pt x="3" y="137"/>
                    <a:pt x="3" y="137"/>
                  </a:cubicBezTo>
                  <a:cubicBezTo>
                    <a:pt x="2" y="136"/>
                    <a:pt x="0" y="138"/>
                    <a:pt x="0" y="139"/>
                  </a:cubicBezTo>
                  <a:cubicBezTo>
                    <a:pt x="9" y="213"/>
                    <a:pt x="67" y="273"/>
                    <a:pt x="152" y="273"/>
                  </a:cubicBezTo>
                  <a:cubicBezTo>
                    <a:pt x="223" y="273"/>
                    <a:pt x="271" y="234"/>
                    <a:pt x="291" y="179"/>
                  </a:cubicBezTo>
                  <a:cubicBezTo>
                    <a:pt x="296" y="166"/>
                    <a:pt x="296" y="162"/>
                    <a:pt x="294" y="16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821911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image" Target="../media/image1.jpeg"/><Relationship Id="rId5" Type="http://schemas.openxmlformats.org/officeDocument/2006/relationships/slideLayout" Target="../slideLayouts/slideLayout12.xml"/><Relationship Id="rId10" Type="http://schemas.openxmlformats.org/officeDocument/2006/relationships/theme" Target="../theme/theme2.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9" name="Image 18">
            <a:extLst>
              <a:ext uri="{FF2B5EF4-FFF2-40B4-BE49-F238E27FC236}">
                <a16:creationId xmlns:a16="http://schemas.microsoft.com/office/drawing/2014/main" id="{BA114EBE-9190-4FA5-B6C9-1339DD9D096D}"/>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657225" y="6250782"/>
            <a:ext cx="1302544" cy="372650"/>
          </a:xfrm>
          <a:prstGeom prst="rect">
            <a:avLst/>
          </a:prstGeom>
        </p:spPr>
      </p:pic>
      <p:sp>
        <p:nvSpPr>
          <p:cNvPr id="2" name="Espace réservé du titre 1">
            <a:extLst>
              <a:ext uri="{FF2B5EF4-FFF2-40B4-BE49-F238E27FC236}">
                <a16:creationId xmlns:a16="http://schemas.microsoft.com/office/drawing/2014/main" id="{BF798E53-107F-468D-A86A-B9E27C8FBA8B}"/>
              </a:ext>
            </a:extLst>
          </p:cNvPr>
          <p:cNvSpPr>
            <a:spLocks noGrp="1"/>
          </p:cNvSpPr>
          <p:nvPr>
            <p:ph type="title"/>
          </p:nvPr>
        </p:nvSpPr>
        <p:spPr>
          <a:xfrm>
            <a:off x="590324" y="540541"/>
            <a:ext cx="10800000" cy="468000"/>
          </a:xfrm>
          <a:prstGeom prst="rect">
            <a:avLst/>
          </a:prstGeom>
        </p:spPr>
        <p:txBody>
          <a:bodyPr vert="horz" lIns="91440" tIns="45720" rIns="91440" bIns="45720" rtlCol="0" anchor="t">
            <a:noAutofit/>
          </a:bodyPr>
          <a:lstStyle/>
          <a:p>
            <a:r>
              <a:rPr lang="fr-FR" dirty="0"/>
              <a:t>Modifiez le style du titre</a:t>
            </a:r>
          </a:p>
        </p:txBody>
      </p:sp>
      <p:sp>
        <p:nvSpPr>
          <p:cNvPr id="3" name="Espace réservé du texte 2">
            <a:extLst>
              <a:ext uri="{FF2B5EF4-FFF2-40B4-BE49-F238E27FC236}">
                <a16:creationId xmlns:a16="http://schemas.microsoft.com/office/drawing/2014/main" id="{33116353-A2DB-400D-836D-10B770C82C62}"/>
              </a:ext>
            </a:extLst>
          </p:cNvPr>
          <p:cNvSpPr>
            <a:spLocks noGrp="1"/>
          </p:cNvSpPr>
          <p:nvPr>
            <p:ph type="body" idx="1"/>
          </p:nvPr>
        </p:nvSpPr>
        <p:spPr>
          <a:xfrm>
            <a:off x="590550" y="1814400"/>
            <a:ext cx="10800000" cy="3960000"/>
          </a:xfrm>
          <a:prstGeom prst="rect">
            <a:avLst/>
          </a:prstGeom>
        </p:spPr>
        <p:txBody>
          <a:bodyPr vert="horz" lIns="91440" tIns="45720" rIns="91440" bIns="45720" rtlCol="0">
            <a:noAutofit/>
          </a:bodyPr>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cxnSp>
        <p:nvCxnSpPr>
          <p:cNvPr id="9" name="Connecteur droit 8">
            <a:extLst>
              <a:ext uri="{FF2B5EF4-FFF2-40B4-BE49-F238E27FC236}">
                <a16:creationId xmlns:a16="http://schemas.microsoft.com/office/drawing/2014/main" id="{FD2BF32D-BDA1-4090-A758-37FE33B63A63}"/>
              </a:ext>
            </a:extLst>
          </p:cNvPr>
          <p:cNvCxnSpPr/>
          <p:nvPr/>
        </p:nvCxnSpPr>
        <p:spPr>
          <a:xfrm>
            <a:off x="684000" y="6169816"/>
            <a:ext cx="108216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5406720" y="6371431"/>
            <a:ext cx="5870880"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mtClean="0"/>
              <a:t>Ecole des Métiers de la Sécurité - Septembre 2022</a:t>
            </a:r>
            <a:endParaRPr lang="fr-FR" dirty="0"/>
          </a:p>
        </p:txBody>
      </p:sp>
      <p:sp>
        <p:nvSpPr>
          <p:cNvPr id="11"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1163300" y="6371431"/>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mtClean="0"/>
              <a:pPr/>
              <a:t>‹N°›</a:t>
            </a:fld>
            <a:endParaRPr lang="fr-FR" dirty="0"/>
          </a:p>
        </p:txBody>
      </p:sp>
    </p:spTree>
    <p:extLst>
      <p:ext uri="{BB962C8B-B14F-4D97-AF65-F5344CB8AC3E}">
        <p14:creationId xmlns:p14="http://schemas.microsoft.com/office/powerpoint/2010/main" val="3123954723"/>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Lst>
  <p:hf hdr="0" dt="0"/>
  <p:txStyles>
    <p:titleStyle>
      <a:lvl1pPr algn="l" defTabSz="914400" rtl="0" eaLnBrk="1" latinLnBrk="0" hangingPunct="1">
        <a:lnSpc>
          <a:spcPct val="115000"/>
        </a:lnSpc>
        <a:spcBef>
          <a:spcPct val="0"/>
        </a:spcBef>
        <a:buNone/>
        <a:defRPr sz="2200" b="1" kern="1200">
          <a:solidFill>
            <a:schemeClr val="tx1"/>
          </a:solidFill>
          <a:latin typeface="+mj-lt"/>
          <a:ea typeface="+mj-ea"/>
          <a:cs typeface="+mj-cs"/>
        </a:defRPr>
      </a:lvl1pPr>
    </p:titleStyle>
    <p:bodyStyle>
      <a:lvl1pPr marL="0" indent="0" algn="l" defTabSz="914400" rtl="0" eaLnBrk="1" latinLnBrk="0" hangingPunct="1">
        <a:lnSpc>
          <a:spcPct val="130000"/>
        </a:lnSpc>
        <a:spcBef>
          <a:spcPts val="0"/>
        </a:spcBef>
        <a:buFont typeface="Arial" panose="020B0604020202020204" pitchFamily="34" charset="0"/>
        <a:buNone/>
        <a:defRPr sz="1400" kern="1200">
          <a:solidFill>
            <a:schemeClr val="tx1"/>
          </a:solidFill>
          <a:latin typeface="+mn-lt"/>
          <a:ea typeface="+mn-ea"/>
          <a:cs typeface="+mn-cs"/>
        </a:defRPr>
      </a:lvl1pPr>
      <a:lvl2pPr marL="179388" indent="-179388" algn="l" defTabSz="914400" rtl="0" eaLnBrk="1" latinLnBrk="0" hangingPunct="1">
        <a:lnSpc>
          <a:spcPct val="130000"/>
        </a:lnSpc>
        <a:spcBef>
          <a:spcPts val="2400"/>
        </a:spcBef>
        <a:buFont typeface="+mj-lt"/>
        <a:buAutoNum type="arabicPeriod"/>
        <a:defRPr sz="1400" b="1" kern="1200">
          <a:solidFill>
            <a:schemeClr val="tx1"/>
          </a:solidFill>
          <a:latin typeface="+mn-lt"/>
          <a:ea typeface="+mn-ea"/>
          <a:cs typeface="+mn-cs"/>
        </a:defRPr>
      </a:lvl2pPr>
      <a:lvl3pPr marL="216000" indent="108000" algn="l" defTabSz="914400" rtl="0" eaLnBrk="1" latinLnBrk="0" hangingPunct="1">
        <a:lnSpc>
          <a:spcPct val="130000"/>
        </a:lnSpc>
        <a:spcBef>
          <a:spcPts val="300"/>
        </a:spcBef>
        <a:buSzPct val="120000"/>
        <a:buFont typeface="Times" panose="02020603050405020304" pitchFamily="18" charset="0"/>
        <a:buChar char="∙"/>
        <a:defRPr sz="1400" kern="1200">
          <a:solidFill>
            <a:schemeClr val="tx1"/>
          </a:solidFill>
          <a:latin typeface="+mn-lt"/>
          <a:ea typeface="+mn-ea"/>
          <a:cs typeface="+mn-cs"/>
        </a:defRPr>
      </a:lvl3pPr>
      <a:lvl4pPr marL="360000" indent="126000" algn="l" defTabSz="914400" rtl="0" eaLnBrk="1" latinLnBrk="0" hangingPunct="1">
        <a:lnSpc>
          <a:spcPct val="130000"/>
        </a:lnSpc>
        <a:spcBef>
          <a:spcPts val="300"/>
        </a:spcBef>
        <a:buFont typeface="Calibri" panose="020F0502020204030204" pitchFamily="34" charset="0"/>
        <a:buChar char="‐"/>
        <a:defRPr sz="1400" kern="1200">
          <a:solidFill>
            <a:schemeClr val="tx1"/>
          </a:solidFill>
          <a:latin typeface="+mn-lt"/>
          <a:ea typeface="+mn-ea"/>
          <a:cs typeface="+mn-cs"/>
        </a:defRPr>
      </a:lvl4pPr>
      <a:lvl5pPr marL="360000" indent="0" algn="l" defTabSz="914400" rtl="0" eaLnBrk="1" latinLnBrk="0" hangingPunct="1">
        <a:lnSpc>
          <a:spcPct val="130000"/>
        </a:lnSpc>
        <a:spcBef>
          <a:spcPts val="3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1" name="Image 10">
            <a:extLst>
              <a:ext uri="{FF2B5EF4-FFF2-40B4-BE49-F238E27FC236}">
                <a16:creationId xmlns:a16="http://schemas.microsoft.com/office/drawing/2014/main" id="{3A32810D-9C38-450F-B140-82ECD0650B8F}"/>
              </a:ext>
            </a:extLst>
          </p:cNvPr>
          <p:cNvPicPr>
            <a:picLocks noChangeAspect="1"/>
          </p:cNvPicPr>
          <p:nvPr/>
        </p:nvPicPr>
        <p:blipFill rotWithShape="1">
          <a:blip r:embed="rId11" cstate="screen">
            <a:extLst>
              <a:ext uri="{28A0092B-C50C-407E-A947-70E740481C1C}">
                <a14:useLocalDpi xmlns:a14="http://schemas.microsoft.com/office/drawing/2010/main"/>
              </a:ext>
            </a:extLst>
          </a:blip>
          <a:srcRect/>
          <a:stretch/>
        </p:blipFill>
        <p:spPr>
          <a:xfrm>
            <a:off x="657225" y="6250782"/>
            <a:ext cx="1302544" cy="372650"/>
          </a:xfrm>
          <a:prstGeom prst="rect">
            <a:avLst/>
          </a:prstGeom>
        </p:spPr>
      </p:pic>
      <p:sp>
        <p:nvSpPr>
          <p:cNvPr id="2" name="Espace réservé du titre 1">
            <a:extLst>
              <a:ext uri="{FF2B5EF4-FFF2-40B4-BE49-F238E27FC236}">
                <a16:creationId xmlns:a16="http://schemas.microsoft.com/office/drawing/2014/main" id="{BF798E53-107F-468D-A86A-B9E27C8FBA8B}"/>
              </a:ext>
            </a:extLst>
          </p:cNvPr>
          <p:cNvSpPr>
            <a:spLocks noGrp="1"/>
          </p:cNvSpPr>
          <p:nvPr>
            <p:ph type="title"/>
          </p:nvPr>
        </p:nvSpPr>
        <p:spPr>
          <a:xfrm>
            <a:off x="590324" y="540541"/>
            <a:ext cx="10800000" cy="468000"/>
          </a:xfrm>
          <a:prstGeom prst="rect">
            <a:avLst/>
          </a:prstGeom>
        </p:spPr>
        <p:txBody>
          <a:bodyPr vert="horz" lIns="91440" tIns="45720" rIns="91440" bIns="45720" rtlCol="0" anchor="t">
            <a:noAutofit/>
          </a:bodyPr>
          <a:lstStyle/>
          <a:p>
            <a:r>
              <a:rPr lang="fr-FR" dirty="0"/>
              <a:t>Modifiez le style du titre</a:t>
            </a:r>
          </a:p>
        </p:txBody>
      </p:sp>
      <p:sp>
        <p:nvSpPr>
          <p:cNvPr id="3" name="Espace réservé du texte 2">
            <a:extLst>
              <a:ext uri="{FF2B5EF4-FFF2-40B4-BE49-F238E27FC236}">
                <a16:creationId xmlns:a16="http://schemas.microsoft.com/office/drawing/2014/main" id="{33116353-A2DB-400D-836D-10B770C82C62}"/>
              </a:ext>
            </a:extLst>
          </p:cNvPr>
          <p:cNvSpPr>
            <a:spLocks noGrp="1"/>
          </p:cNvSpPr>
          <p:nvPr>
            <p:ph type="body" idx="1"/>
          </p:nvPr>
        </p:nvSpPr>
        <p:spPr>
          <a:xfrm>
            <a:off x="590550" y="1814400"/>
            <a:ext cx="10800000" cy="3960000"/>
          </a:xfrm>
          <a:prstGeom prst="rect">
            <a:avLst/>
          </a:prstGeom>
        </p:spPr>
        <p:txBody>
          <a:bodyPr vert="horz" lIns="91440" tIns="45720" rIns="91440" bIns="45720" rtlCol="0">
            <a:noAutofit/>
          </a:bodyPr>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cxnSp>
        <p:nvCxnSpPr>
          <p:cNvPr id="9" name="Connecteur droit 8">
            <a:extLst>
              <a:ext uri="{FF2B5EF4-FFF2-40B4-BE49-F238E27FC236}">
                <a16:creationId xmlns:a16="http://schemas.microsoft.com/office/drawing/2014/main" id="{FD2BF32D-BDA1-4090-A758-37FE33B63A63}"/>
              </a:ext>
            </a:extLst>
          </p:cNvPr>
          <p:cNvCxnSpPr/>
          <p:nvPr/>
        </p:nvCxnSpPr>
        <p:spPr>
          <a:xfrm>
            <a:off x="684000" y="6169816"/>
            <a:ext cx="108216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5406720" y="6371431"/>
            <a:ext cx="5870880"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mtClean="0"/>
              <a:t>Ecole des Métiers de la Sécurité - Septembre 2022</a:t>
            </a:r>
            <a:endParaRPr lang="fr-FR" dirty="0"/>
          </a:p>
        </p:txBody>
      </p:sp>
      <p:sp>
        <p:nvSpPr>
          <p:cNvPr id="14"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1163300" y="6371431"/>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mtClean="0"/>
              <a:pPr/>
              <a:t>‹N°›</a:t>
            </a:fld>
            <a:endParaRPr lang="fr-FR" dirty="0"/>
          </a:p>
        </p:txBody>
      </p:sp>
    </p:spTree>
    <p:extLst>
      <p:ext uri="{BB962C8B-B14F-4D97-AF65-F5344CB8AC3E}">
        <p14:creationId xmlns:p14="http://schemas.microsoft.com/office/powerpoint/2010/main" val="2008101675"/>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9" r:id="rId8"/>
    <p:sldLayoutId id="2147483680" r:id="rId9"/>
  </p:sldLayoutIdLst>
  <p:hf hdr="0" dt="0"/>
  <p:txStyles>
    <p:titleStyle>
      <a:lvl1pPr algn="l" defTabSz="914400" rtl="0" eaLnBrk="1" latinLnBrk="0" hangingPunct="1">
        <a:lnSpc>
          <a:spcPct val="115000"/>
        </a:lnSpc>
        <a:spcBef>
          <a:spcPct val="0"/>
        </a:spcBef>
        <a:buNone/>
        <a:defRPr sz="2200" b="1" kern="1200">
          <a:solidFill>
            <a:schemeClr val="tx1"/>
          </a:solidFill>
          <a:latin typeface="+mj-lt"/>
          <a:ea typeface="+mj-ea"/>
          <a:cs typeface="+mj-cs"/>
        </a:defRPr>
      </a:lvl1pPr>
    </p:titleStyle>
    <p:bodyStyle>
      <a:lvl1pPr marL="0" indent="0" algn="l" defTabSz="914400" rtl="0" eaLnBrk="1" latinLnBrk="0" hangingPunct="1">
        <a:lnSpc>
          <a:spcPct val="130000"/>
        </a:lnSpc>
        <a:spcBef>
          <a:spcPts val="0"/>
        </a:spcBef>
        <a:buFont typeface="Arial" panose="020B0604020202020204" pitchFamily="34" charset="0"/>
        <a:buNone/>
        <a:defRPr sz="1400" kern="1200">
          <a:solidFill>
            <a:schemeClr val="tx1"/>
          </a:solidFill>
          <a:latin typeface="+mn-lt"/>
          <a:ea typeface="+mn-ea"/>
          <a:cs typeface="+mn-cs"/>
        </a:defRPr>
      </a:lvl1pPr>
      <a:lvl2pPr marL="0" indent="179388" algn="l" defTabSz="914400" rtl="0" eaLnBrk="1" latinLnBrk="0" hangingPunct="1">
        <a:lnSpc>
          <a:spcPct val="130000"/>
        </a:lnSpc>
        <a:spcBef>
          <a:spcPts val="2400"/>
        </a:spcBef>
        <a:buClr>
          <a:schemeClr val="tx1"/>
        </a:buClr>
        <a:buFont typeface="+mj-lt"/>
        <a:buAutoNum type="arabicPeriod"/>
        <a:defRPr sz="1400" b="1" kern="1200">
          <a:solidFill>
            <a:schemeClr val="tx1"/>
          </a:solidFill>
          <a:latin typeface="+mn-lt"/>
          <a:ea typeface="+mn-ea"/>
          <a:cs typeface="+mn-cs"/>
        </a:defRPr>
      </a:lvl2pPr>
      <a:lvl3pPr marL="216000" indent="108000" algn="l" defTabSz="914400" rtl="0" eaLnBrk="1" latinLnBrk="0" hangingPunct="1">
        <a:lnSpc>
          <a:spcPct val="130000"/>
        </a:lnSpc>
        <a:spcBef>
          <a:spcPts val="300"/>
        </a:spcBef>
        <a:buSzPct val="120000"/>
        <a:buFont typeface="Times" panose="02020603050405020304" pitchFamily="18" charset="0"/>
        <a:buChar char="∙"/>
        <a:defRPr sz="1400" kern="1200">
          <a:solidFill>
            <a:schemeClr val="tx1"/>
          </a:solidFill>
          <a:latin typeface="+mn-lt"/>
          <a:ea typeface="+mn-ea"/>
          <a:cs typeface="+mn-cs"/>
        </a:defRPr>
      </a:lvl3pPr>
      <a:lvl4pPr marL="360000" indent="126000" algn="l" defTabSz="914400" rtl="0" eaLnBrk="1" latinLnBrk="0" hangingPunct="1">
        <a:lnSpc>
          <a:spcPct val="130000"/>
        </a:lnSpc>
        <a:spcBef>
          <a:spcPts val="300"/>
        </a:spcBef>
        <a:buFont typeface="Calibri" panose="020F0502020204030204" pitchFamily="34" charset="0"/>
        <a:buChar char="‐"/>
        <a:defRPr sz="1400" kern="1200">
          <a:solidFill>
            <a:schemeClr val="tx1"/>
          </a:solidFill>
          <a:latin typeface="+mn-lt"/>
          <a:ea typeface="+mn-ea"/>
          <a:cs typeface="+mn-cs"/>
        </a:defRPr>
      </a:lvl4pPr>
      <a:lvl5pPr marL="360000" indent="0" algn="l" defTabSz="914400" rtl="0" eaLnBrk="1" latinLnBrk="0" hangingPunct="1">
        <a:lnSpc>
          <a:spcPct val="130000"/>
        </a:lnSpc>
        <a:spcBef>
          <a:spcPts val="3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F798E53-107F-468D-A86A-B9E27C8FBA8B}"/>
              </a:ext>
            </a:extLst>
          </p:cNvPr>
          <p:cNvSpPr>
            <a:spLocks noGrp="1"/>
          </p:cNvSpPr>
          <p:nvPr>
            <p:ph type="title"/>
          </p:nvPr>
        </p:nvSpPr>
        <p:spPr>
          <a:xfrm>
            <a:off x="590324" y="540541"/>
            <a:ext cx="10800000" cy="468000"/>
          </a:xfrm>
          <a:prstGeom prst="rect">
            <a:avLst/>
          </a:prstGeom>
        </p:spPr>
        <p:txBody>
          <a:bodyPr vert="horz" lIns="91440" tIns="45720" rIns="91440" bIns="45720" rtlCol="0" anchor="t">
            <a:noAutofit/>
          </a:bodyPr>
          <a:lstStyle/>
          <a:p>
            <a:r>
              <a:rPr lang="fr-FR" dirty="0"/>
              <a:t>Modifiez le style du titre</a:t>
            </a:r>
          </a:p>
        </p:txBody>
      </p:sp>
      <p:sp>
        <p:nvSpPr>
          <p:cNvPr id="3" name="Espace réservé du texte 2">
            <a:extLst>
              <a:ext uri="{FF2B5EF4-FFF2-40B4-BE49-F238E27FC236}">
                <a16:creationId xmlns:a16="http://schemas.microsoft.com/office/drawing/2014/main" id="{33116353-A2DB-400D-836D-10B770C82C62}"/>
              </a:ext>
            </a:extLst>
          </p:cNvPr>
          <p:cNvSpPr>
            <a:spLocks noGrp="1"/>
          </p:cNvSpPr>
          <p:nvPr>
            <p:ph type="body" idx="1"/>
          </p:nvPr>
        </p:nvSpPr>
        <p:spPr>
          <a:xfrm>
            <a:off x="590550" y="1807200"/>
            <a:ext cx="10800000" cy="3960000"/>
          </a:xfrm>
          <a:prstGeom prst="rect">
            <a:avLst/>
          </a:prstGeom>
        </p:spPr>
        <p:txBody>
          <a:bodyPr vert="horz" lIns="91440" tIns="45720" rIns="91440" bIns="45720" rtlCol="0">
            <a:noAutofit/>
          </a:bodyPr>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FDD59078-F0EA-4B2B-B92A-CB1D0AA4F88E}"/>
              </a:ext>
            </a:extLst>
          </p:cNvPr>
          <p:cNvSpPr>
            <a:spLocks noGrp="1"/>
          </p:cNvSpPr>
          <p:nvPr>
            <p:ph type="dt" sz="half" idx="2"/>
          </p:nvPr>
        </p:nvSpPr>
        <p:spPr>
          <a:xfrm>
            <a:off x="3699683" y="6371431"/>
            <a:ext cx="1440000" cy="252000"/>
          </a:xfrm>
          <a:prstGeom prst="rect">
            <a:avLst/>
          </a:prstGeom>
        </p:spPr>
        <p:txBody>
          <a:bodyPr vert="horz" lIns="91440" tIns="45720" rIns="91440" bIns="45720" rtlCol="0" anchor="ctr">
            <a:noAutofit/>
          </a:bodyPr>
          <a:lstStyle>
            <a:lvl1pPr algn="l">
              <a:lnSpc>
                <a:spcPct val="115000"/>
              </a:lnSpc>
              <a:defRPr sz="1000" b="0">
                <a:solidFill>
                  <a:schemeClr val="tx1"/>
                </a:solidFill>
              </a:defRPr>
            </a:lvl1pPr>
          </a:lstStyle>
          <a:p>
            <a:endParaRPr lang="fr-FR" dirty="0"/>
          </a:p>
        </p:txBody>
      </p:sp>
      <p:sp>
        <p:nvSpPr>
          <p:cNvPr id="5"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5284800" y="6371431"/>
            <a:ext cx="6120000"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mtClean="0"/>
              <a:t>Ecole des Métiers de la Sécurité - Septembre 2022</a:t>
            </a:r>
            <a:endParaRPr lang="fr-FR" dirty="0"/>
          </a:p>
        </p:txBody>
      </p:sp>
      <p:sp>
        <p:nvSpPr>
          <p:cNvPr id="6"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1052896" y="6371431"/>
            <a:ext cx="540000"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mtClean="0"/>
              <a:pPr/>
              <a:t>‹N°›</a:t>
            </a:fld>
            <a:endParaRPr lang="fr-FR" dirty="0"/>
          </a:p>
        </p:txBody>
      </p:sp>
      <p:cxnSp>
        <p:nvCxnSpPr>
          <p:cNvPr id="9" name="Connecteur droit 8">
            <a:extLst>
              <a:ext uri="{FF2B5EF4-FFF2-40B4-BE49-F238E27FC236}">
                <a16:creationId xmlns:a16="http://schemas.microsoft.com/office/drawing/2014/main" id="{FD2BF32D-BDA1-4090-A758-37FE33B63A63}"/>
              </a:ext>
            </a:extLst>
          </p:cNvPr>
          <p:cNvCxnSpPr/>
          <p:nvPr/>
        </p:nvCxnSpPr>
        <p:spPr>
          <a:xfrm>
            <a:off x="684000" y="6169816"/>
            <a:ext cx="108216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3">
            <a:extLst>
              <a:ext uri="{FF2B5EF4-FFF2-40B4-BE49-F238E27FC236}">
                <a16:creationId xmlns:a16="http://schemas.microsoft.com/office/drawing/2014/main" id="{09768DF0-2B16-4AE3-A3D3-0DF54A0FFD0D}"/>
              </a:ext>
            </a:extLst>
          </p:cNvPr>
          <p:cNvGrpSpPr>
            <a:grpSpLocks noChangeAspect="1"/>
          </p:cNvGrpSpPr>
          <p:nvPr/>
        </p:nvGrpSpPr>
        <p:grpSpPr bwMode="auto">
          <a:xfrm>
            <a:off x="684213" y="6272213"/>
            <a:ext cx="1239837" cy="330200"/>
            <a:chOff x="431" y="3951"/>
            <a:chExt cx="781" cy="208"/>
          </a:xfrm>
        </p:grpSpPr>
        <p:sp>
          <p:nvSpPr>
            <p:cNvPr id="21" name="AutoShape 12">
              <a:extLst>
                <a:ext uri="{FF2B5EF4-FFF2-40B4-BE49-F238E27FC236}">
                  <a16:creationId xmlns:a16="http://schemas.microsoft.com/office/drawing/2014/main" id="{36E8B9D7-814C-41B8-A715-666EAC81B03C}"/>
                </a:ext>
              </a:extLst>
            </p:cNvPr>
            <p:cNvSpPr>
              <a:spLocks noChangeAspect="1" noChangeArrowheads="1" noTextEdit="1"/>
            </p:cNvSpPr>
            <p:nvPr userDrawn="1"/>
          </p:nvSpPr>
          <p:spPr bwMode="auto">
            <a:xfrm>
              <a:off x="431" y="3951"/>
              <a:ext cx="781"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14">
              <a:extLst>
                <a:ext uri="{FF2B5EF4-FFF2-40B4-BE49-F238E27FC236}">
                  <a16:creationId xmlns:a16="http://schemas.microsoft.com/office/drawing/2014/main" id="{B2F686B2-CC17-4CFE-999D-A04FC6D170B0}"/>
                </a:ext>
              </a:extLst>
            </p:cNvPr>
            <p:cNvSpPr>
              <a:spLocks noEditPoints="1"/>
            </p:cNvSpPr>
            <p:nvPr userDrawn="1"/>
          </p:nvSpPr>
          <p:spPr bwMode="auto">
            <a:xfrm>
              <a:off x="701" y="3990"/>
              <a:ext cx="92" cy="130"/>
            </a:xfrm>
            <a:custGeom>
              <a:avLst/>
              <a:gdLst>
                <a:gd name="T0" fmla="*/ 46 w 46"/>
                <a:gd name="T1" fmla="*/ 22 h 64"/>
                <a:gd name="T2" fmla="*/ 24 w 46"/>
                <a:gd name="T3" fmla="*/ 44 h 64"/>
                <a:gd name="T4" fmla="*/ 14 w 46"/>
                <a:gd name="T5" fmla="*/ 44 h 64"/>
                <a:gd name="T6" fmla="*/ 14 w 46"/>
                <a:gd name="T7" fmla="*/ 64 h 64"/>
                <a:gd name="T8" fmla="*/ 0 w 46"/>
                <a:gd name="T9" fmla="*/ 64 h 64"/>
                <a:gd name="T10" fmla="*/ 0 w 46"/>
                <a:gd name="T11" fmla="*/ 0 h 64"/>
                <a:gd name="T12" fmla="*/ 24 w 46"/>
                <a:gd name="T13" fmla="*/ 0 h 64"/>
                <a:gd name="T14" fmla="*/ 46 w 46"/>
                <a:gd name="T15" fmla="*/ 22 h 64"/>
                <a:gd name="T16" fmla="*/ 32 w 46"/>
                <a:gd name="T17" fmla="*/ 22 h 64"/>
                <a:gd name="T18" fmla="*/ 24 w 46"/>
                <a:gd name="T19" fmla="*/ 14 h 64"/>
                <a:gd name="T20" fmla="*/ 14 w 46"/>
                <a:gd name="T21" fmla="*/ 14 h 64"/>
                <a:gd name="T22" fmla="*/ 14 w 46"/>
                <a:gd name="T23" fmla="*/ 30 h 64"/>
                <a:gd name="T24" fmla="*/ 24 w 46"/>
                <a:gd name="T25" fmla="*/ 30 h 64"/>
                <a:gd name="T26" fmla="*/ 32 w 46"/>
                <a:gd name="T27" fmla="*/ 2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6" h="64">
                  <a:moveTo>
                    <a:pt x="46" y="22"/>
                  </a:moveTo>
                  <a:cubicBezTo>
                    <a:pt x="46" y="34"/>
                    <a:pt x="36" y="44"/>
                    <a:pt x="24" y="44"/>
                  </a:cubicBezTo>
                  <a:cubicBezTo>
                    <a:pt x="14" y="44"/>
                    <a:pt x="14" y="44"/>
                    <a:pt x="14" y="44"/>
                  </a:cubicBezTo>
                  <a:cubicBezTo>
                    <a:pt x="14" y="64"/>
                    <a:pt x="14" y="64"/>
                    <a:pt x="14" y="64"/>
                  </a:cubicBezTo>
                  <a:cubicBezTo>
                    <a:pt x="0" y="64"/>
                    <a:pt x="0" y="64"/>
                    <a:pt x="0" y="64"/>
                  </a:cubicBezTo>
                  <a:cubicBezTo>
                    <a:pt x="0" y="0"/>
                    <a:pt x="0" y="0"/>
                    <a:pt x="0" y="0"/>
                  </a:cubicBezTo>
                  <a:cubicBezTo>
                    <a:pt x="24" y="0"/>
                    <a:pt x="24" y="0"/>
                    <a:pt x="24" y="0"/>
                  </a:cubicBezTo>
                  <a:cubicBezTo>
                    <a:pt x="36" y="0"/>
                    <a:pt x="46" y="10"/>
                    <a:pt x="46" y="22"/>
                  </a:cubicBezTo>
                  <a:close/>
                  <a:moveTo>
                    <a:pt x="32" y="22"/>
                  </a:moveTo>
                  <a:cubicBezTo>
                    <a:pt x="32" y="17"/>
                    <a:pt x="28" y="14"/>
                    <a:pt x="24" y="14"/>
                  </a:cubicBezTo>
                  <a:cubicBezTo>
                    <a:pt x="14" y="14"/>
                    <a:pt x="14" y="14"/>
                    <a:pt x="14" y="14"/>
                  </a:cubicBezTo>
                  <a:cubicBezTo>
                    <a:pt x="14" y="30"/>
                    <a:pt x="14" y="30"/>
                    <a:pt x="14" y="30"/>
                  </a:cubicBezTo>
                  <a:cubicBezTo>
                    <a:pt x="24" y="30"/>
                    <a:pt x="24" y="30"/>
                    <a:pt x="24" y="30"/>
                  </a:cubicBezTo>
                  <a:cubicBezTo>
                    <a:pt x="28" y="30"/>
                    <a:pt x="32" y="27"/>
                    <a:pt x="32" y="22"/>
                  </a:cubicBezTo>
                  <a:close/>
                </a:path>
              </a:pathLst>
            </a:custGeom>
            <a:solidFill>
              <a:srgbClr val="071F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Rectangle 15">
              <a:extLst>
                <a:ext uri="{FF2B5EF4-FFF2-40B4-BE49-F238E27FC236}">
                  <a16:creationId xmlns:a16="http://schemas.microsoft.com/office/drawing/2014/main" id="{B2047C35-D0B7-404A-8335-578F8268886A}"/>
                </a:ext>
              </a:extLst>
            </p:cNvPr>
            <p:cNvSpPr>
              <a:spLocks noChangeArrowheads="1"/>
            </p:cNvSpPr>
            <p:nvPr userDrawn="1"/>
          </p:nvSpPr>
          <p:spPr bwMode="auto">
            <a:xfrm>
              <a:off x="1060" y="3990"/>
              <a:ext cx="30" cy="130"/>
            </a:xfrm>
            <a:prstGeom prst="rect">
              <a:avLst/>
            </a:prstGeom>
            <a:solidFill>
              <a:srgbClr val="071F3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16">
              <a:extLst>
                <a:ext uri="{FF2B5EF4-FFF2-40B4-BE49-F238E27FC236}">
                  <a16:creationId xmlns:a16="http://schemas.microsoft.com/office/drawing/2014/main" id="{8C28D4A1-6E60-4FB3-BA55-087D2D917048}"/>
                </a:ext>
              </a:extLst>
            </p:cNvPr>
            <p:cNvSpPr>
              <a:spLocks noEditPoints="1"/>
            </p:cNvSpPr>
            <p:nvPr userDrawn="1"/>
          </p:nvSpPr>
          <p:spPr bwMode="auto">
            <a:xfrm>
              <a:off x="936" y="3990"/>
              <a:ext cx="98" cy="130"/>
            </a:xfrm>
            <a:custGeom>
              <a:avLst/>
              <a:gdLst>
                <a:gd name="T0" fmla="*/ 14 w 49"/>
                <a:gd name="T1" fmla="*/ 44 h 64"/>
                <a:gd name="T2" fmla="*/ 14 w 49"/>
                <a:gd name="T3" fmla="*/ 64 h 64"/>
                <a:gd name="T4" fmla="*/ 0 w 49"/>
                <a:gd name="T5" fmla="*/ 64 h 64"/>
                <a:gd name="T6" fmla="*/ 0 w 49"/>
                <a:gd name="T7" fmla="*/ 0 h 64"/>
                <a:gd name="T8" fmla="*/ 25 w 49"/>
                <a:gd name="T9" fmla="*/ 0 h 64"/>
                <a:gd name="T10" fmla="*/ 47 w 49"/>
                <a:gd name="T11" fmla="*/ 22 h 64"/>
                <a:gd name="T12" fmla="*/ 36 w 49"/>
                <a:gd name="T13" fmla="*/ 41 h 64"/>
                <a:gd name="T14" fmla="*/ 49 w 49"/>
                <a:gd name="T15" fmla="*/ 64 h 64"/>
                <a:gd name="T16" fmla="*/ 33 w 49"/>
                <a:gd name="T17" fmla="*/ 64 h 64"/>
                <a:gd name="T18" fmla="*/ 22 w 49"/>
                <a:gd name="T19" fmla="*/ 44 h 64"/>
                <a:gd name="T20" fmla="*/ 14 w 49"/>
                <a:gd name="T21" fmla="*/ 44 h 64"/>
                <a:gd name="T22" fmla="*/ 14 w 49"/>
                <a:gd name="T23" fmla="*/ 31 h 64"/>
                <a:gd name="T24" fmla="*/ 25 w 49"/>
                <a:gd name="T25" fmla="*/ 31 h 64"/>
                <a:gd name="T26" fmla="*/ 32 w 49"/>
                <a:gd name="T27" fmla="*/ 22 h 64"/>
                <a:gd name="T28" fmla="*/ 25 w 49"/>
                <a:gd name="T29" fmla="*/ 14 h 64"/>
                <a:gd name="T30" fmla="*/ 14 w 49"/>
                <a:gd name="T31" fmla="*/ 14 h 64"/>
                <a:gd name="T32" fmla="*/ 14 w 49"/>
                <a:gd name="T33" fmla="*/ 3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 h="64">
                  <a:moveTo>
                    <a:pt x="14" y="44"/>
                  </a:moveTo>
                  <a:cubicBezTo>
                    <a:pt x="14" y="64"/>
                    <a:pt x="14" y="64"/>
                    <a:pt x="14" y="64"/>
                  </a:cubicBezTo>
                  <a:cubicBezTo>
                    <a:pt x="0" y="64"/>
                    <a:pt x="0" y="64"/>
                    <a:pt x="0" y="64"/>
                  </a:cubicBezTo>
                  <a:cubicBezTo>
                    <a:pt x="0" y="0"/>
                    <a:pt x="0" y="0"/>
                    <a:pt x="0" y="0"/>
                  </a:cubicBezTo>
                  <a:cubicBezTo>
                    <a:pt x="25" y="0"/>
                    <a:pt x="25" y="0"/>
                    <a:pt x="25" y="0"/>
                  </a:cubicBezTo>
                  <a:cubicBezTo>
                    <a:pt x="37" y="0"/>
                    <a:pt x="47" y="10"/>
                    <a:pt x="47" y="22"/>
                  </a:cubicBezTo>
                  <a:cubicBezTo>
                    <a:pt x="47" y="30"/>
                    <a:pt x="43" y="37"/>
                    <a:pt x="36" y="41"/>
                  </a:cubicBezTo>
                  <a:cubicBezTo>
                    <a:pt x="49" y="64"/>
                    <a:pt x="49" y="64"/>
                    <a:pt x="49" y="64"/>
                  </a:cubicBezTo>
                  <a:cubicBezTo>
                    <a:pt x="33" y="64"/>
                    <a:pt x="33" y="64"/>
                    <a:pt x="33" y="64"/>
                  </a:cubicBezTo>
                  <a:cubicBezTo>
                    <a:pt x="22" y="44"/>
                    <a:pt x="22" y="44"/>
                    <a:pt x="22" y="44"/>
                  </a:cubicBezTo>
                  <a:lnTo>
                    <a:pt x="14" y="44"/>
                  </a:lnTo>
                  <a:close/>
                  <a:moveTo>
                    <a:pt x="14" y="31"/>
                  </a:moveTo>
                  <a:cubicBezTo>
                    <a:pt x="25" y="31"/>
                    <a:pt x="25" y="31"/>
                    <a:pt x="25" y="31"/>
                  </a:cubicBezTo>
                  <a:cubicBezTo>
                    <a:pt x="29" y="31"/>
                    <a:pt x="32" y="27"/>
                    <a:pt x="32" y="22"/>
                  </a:cubicBezTo>
                  <a:cubicBezTo>
                    <a:pt x="32" y="18"/>
                    <a:pt x="29" y="14"/>
                    <a:pt x="25" y="14"/>
                  </a:cubicBezTo>
                  <a:cubicBezTo>
                    <a:pt x="14" y="14"/>
                    <a:pt x="14" y="14"/>
                    <a:pt x="14" y="14"/>
                  </a:cubicBezTo>
                  <a:lnTo>
                    <a:pt x="14" y="31"/>
                  </a:lnTo>
                  <a:close/>
                </a:path>
              </a:pathLst>
            </a:custGeom>
            <a:solidFill>
              <a:srgbClr val="071F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17">
              <a:extLst>
                <a:ext uri="{FF2B5EF4-FFF2-40B4-BE49-F238E27FC236}">
                  <a16:creationId xmlns:a16="http://schemas.microsoft.com/office/drawing/2014/main" id="{AFBA59CD-7E13-4796-B0FB-267D04EC0421}"/>
                </a:ext>
              </a:extLst>
            </p:cNvPr>
            <p:cNvSpPr>
              <a:spLocks noEditPoints="1"/>
            </p:cNvSpPr>
            <p:nvPr userDrawn="1"/>
          </p:nvSpPr>
          <p:spPr bwMode="auto">
            <a:xfrm>
              <a:off x="793" y="3990"/>
              <a:ext cx="125" cy="130"/>
            </a:xfrm>
            <a:custGeom>
              <a:avLst/>
              <a:gdLst>
                <a:gd name="T0" fmla="*/ 19 w 62"/>
                <a:gd name="T1" fmla="*/ 53 h 64"/>
                <a:gd name="T2" fmla="*/ 31 w 62"/>
                <a:gd name="T3" fmla="*/ 54 h 64"/>
                <a:gd name="T4" fmla="*/ 42 w 62"/>
                <a:gd name="T5" fmla="*/ 53 h 64"/>
                <a:gd name="T6" fmla="*/ 46 w 62"/>
                <a:gd name="T7" fmla="*/ 64 h 64"/>
                <a:gd name="T8" fmla="*/ 62 w 62"/>
                <a:gd name="T9" fmla="*/ 64 h 64"/>
                <a:gd name="T10" fmla="*/ 40 w 62"/>
                <a:gd name="T11" fmla="*/ 0 h 64"/>
                <a:gd name="T12" fmla="*/ 22 w 62"/>
                <a:gd name="T13" fmla="*/ 0 h 64"/>
                <a:gd name="T14" fmla="*/ 0 w 62"/>
                <a:gd name="T15" fmla="*/ 64 h 64"/>
                <a:gd name="T16" fmla="*/ 16 w 62"/>
                <a:gd name="T17" fmla="*/ 64 h 64"/>
                <a:gd name="T18" fmla="*/ 19 w 62"/>
                <a:gd name="T19" fmla="*/ 53 h 64"/>
                <a:gd name="T20" fmla="*/ 23 w 62"/>
                <a:gd name="T21" fmla="*/ 40 h 64"/>
                <a:gd name="T22" fmla="*/ 31 w 62"/>
                <a:gd name="T23" fmla="*/ 41 h 64"/>
                <a:gd name="T24" fmla="*/ 38 w 62"/>
                <a:gd name="T25" fmla="*/ 40 h 64"/>
                <a:gd name="T26" fmla="*/ 31 w 62"/>
                <a:gd name="T27" fmla="*/ 17 h 64"/>
                <a:gd name="T28" fmla="*/ 23 w 62"/>
                <a:gd name="T29" fmla="*/ 4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2" h="64">
                  <a:moveTo>
                    <a:pt x="19" y="53"/>
                  </a:moveTo>
                  <a:cubicBezTo>
                    <a:pt x="23" y="54"/>
                    <a:pt x="27" y="54"/>
                    <a:pt x="31" y="54"/>
                  </a:cubicBezTo>
                  <a:cubicBezTo>
                    <a:pt x="35" y="54"/>
                    <a:pt x="39" y="54"/>
                    <a:pt x="42" y="53"/>
                  </a:cubicBezTo>
                  <a:cubicBezTo>
                    <a:pt x="46" y="64"/>
                    <a:pt x="46" y="64"/>
                    <a:pt x="46" y="64"/>
                  </a:cubicBezTo>
                  <a:cubicBezTo>
                    <a:pt x="62" y="64"/>
                    <a:pt x="62" y="64"/>
                    <a:pt x="62" y="64"/>
                  </a:cubicBezTo>
                  <a:cubicBezTo>
                    <a:pt x="40" y="0"/>
                    <a:pt x="40" y="0"/>
                    <a:pt x="40" y="0"/>
                  </a:cubicBezTo>
                  <a:cubicBezTo>
                    <a:pt x="22" y="0"/>
                    <a:pt x="22" y="0"/>
                    <a:pt x="22" y="0"/>
                  </a:cubicBezTo>
                  <a:cubicBezTo>
                    <a:pt x="0" y="64"/>
                    <a:pt x="0" y="64"/>
                    <a:pt x="0" y="64"/>
                  </a:cubicBezTo>
                  <a:cubicBezTo>
                    <a:pt x="16" y="64"/>
                    <a:pt x="16" y="64"/>
                    <a:pt x="16" y="64"/>
                  </a:cubicBezTo>
                  <a:lnTo>
                    <a:pt x="19" y="53"/>
                  </a:lnTo>
                  <a:close/>
                  <a:moveTo>
                    <a:pt x="23" y="40"/>
                  </a:moveTo>
                  <a:cubicBezTo>
                    <a:pt x="26" y="41"/>
                    <a:pt x="28" y="41"/>
                    <a:pt x="31" y="41"/>
                  </a:cubicBezTo>
                  <a:cubicBezTo>
                    <a:pt x="33" y="41"/>
                    <a:pt x="36" y="41"/>
                    <a:pt x="38" y="40"/>
                  </a:cubicBezTo>
                  <a:cubicBezTo>
                    <a:pt x="31" y="17"/>
                    <a:pt x="31" y="17"/>
                    <a:pt x="31" y="17"/>
                  </a:cubicBezTo>
                  <a:lnTo>
                    <a:pt x="23" y="40"/>
                  </a:lnTo>
                  <a:close/>
                </a:path>
              </a:pathLst>
            </a:custGeom>
            <a:solidFill>
              <a:srgbClr val="071F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18">
              <a:extLst>
                <a:ext uri="{FF2B5EF4-FFF2-40B4-BE49-F238E27FC236}">
                  <a16:creationId xmlns:a16="http://schemas.microsoft.com/office/drawing/2014/main" id="{70B3BC61-1B28-45AC-96AD-CB06E4400938}"/>
                </a:ext>
              </a:extLst>
            </p:cNvPr>
            <p:cNvSpPr>
              <a:spLocks/>
            </p:cNvSpPr>
            <p:nvPr userDrawn="1"/>
          </p:nvSpPr>
          <p:spPr bwMode="auto">
            <a:xfrm>
              <a:off x="1116" y="3988"/>
              <a:ext cx="98" cy="134"/>
            </a:xfrm>
            <a:custGeom>
              <a:avLst/>
              <a:gdLst>
                <a:gd name="T0" fmla="*/ 24 w 49"/>
                <a:gd name="T1" fmla="*/ 14 h 66"/>
                <a:gd name="T2" fmla="*/ 35 w 49"/>
                <a:gd name="T3" fmla="*/ 21 h 66"/>
                <a:gd name="T4" fmla="*/ 47 w 49"/>
                <a:gd name="T5" fmla="*/ 14 h 66"/>
                <a:gd name="T6" fmla="*/ 24 w 49"/>
                <a:gd name="T7" fmla="*/ 0 h 66"/>
                <a:gd name="T8" fmla="*/ 3 w 49"/>
                <a:gd name="T9" fmla="*/ 19 h 66"/>
                <a:gd name="T10" fmla="*/ 21 w 49"/>
                <a:gd name="T11" fmla="*/ 39 h 66"/>
                <a:gd name="T12" fmla="*/ 35 w 49"/>
                <a:gd name="T13" fmla="*/ 47 h 66"/>
                <a:gd name="T14" fmla="*/ 25 w 49"/>
                <a:gd name="T15" fmla="*/ 52 h 66"/>
                <a:gd name="T16" fmla="*/ 12 w 49"/>
                <a:gd name="T17" fmla="*/ 44 h 66"/>
                <a:gd name="T18" fmla="*/ 0 w 49"/>
                <a:gd name="T19" fmla="*/ 50 h 66"/>
                <a:gd name="T20" fmla="*/ 25 w 49"/>
                <a:gd name="T21" fmla="*/ 66 h 66"/>
                <a:gd name="T22" fmla="*/ 49 w 49"/>
                <a:gd name="T23" fmla="*/ 47 h 66"/>
                <a:gd name="T24" fmla="*/ 31 w 49"/>
                <a:gd name="T25" fmla="*/ 28 h 66"/>
                <a:gd name="T26" fmla="*/ 17 w 49"/>
                <a:gd name="T27" fmla="*/ 19 h 66"/>
                <a:gd name="T28" fmla="*/ 24 w 49"/>
                <a:gd name="T29"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9" h="66">
                  <a:moveTo>
                    <a:pt x="24" y="14"/>
                  </a:moveTo>
                  <a:cubicBezTo>
                    <a:pt x="30" y="14"/>
                    <a:pt x="33" y="17"/>
                    <a:pt x="35" y="21"/>
                  </a:cubicBezTo>
                  <a:cubicBezTo>
                    <a:pt x="47" y="14"/>
                    <a:pt x="47" y="14"/>
                    <a:pt x="47" y="14"/>
                  </a:cubicBezTo>
                  <a:cubicBezTo>
                    <a:pt x="45" y="10"/>
                    <a:pt x="39" y="0"/>
                    <a:pt x="24" y="0"/>
                  </a:cubicBezTo>
                  <a:cubicBezTo>
                    <a:pt x="13" y="0"/>
                    <a:pt x="3" y="7"/>
                    <a:pt x="3" y="19"/>
                  </a:cubicBezTo>
                  <a:cubicBezTo>
                    <a:pt x="3" y="34"/>
                    <a:pt x="17" y="37"/>
                    <a:pt x="21" y="39"/>
                  </a:cubicBezTo>
                  <a:cubicBezTo>
                    <a:pt x="26" y="40"/>
                    <a:pt x="35" y="41"/>
                    <a:pt x="35" y="47"/>
                  </a:cubicBezTo>
                  <a:cubicBezTo>
                    <a:pt x="35" y="50"/>
                    <a:pt x="31" y="52"/>
                    <a:pt x="25" y="52"/>
                  </a:cubicBezTo>
                  <a:cubicBezTo>
                    <a:pt x="20" y="52"/>
                    <a:pt x="15" y="49"/>
                    <a:pt x="12" y="44"/>
                  </a:cubicBezTo>
                  <a:cubicBezTo>
                    <a:pt x="0" y="50"/>
                    <a:pt x="0" y="50"/>
                    <a:pt x="0" y="50"/>
                  </a:cubicBezTo>
                  <a:cubicBezTo>
                    <a:pt x="1" y="53"/>
                    <a:pt x="8" y="66"/>
                    <a:pt x="25" y="66"/>
                  </a:cubicBezTo>
                  <a:cubicBezTo>
                    <a:pt x="39" y="66"/>
                    <a:pt x="49" y="59"/>
                    <a:pt x="49" y="47"/>
                  </a:cubicBezTo>
                  <a:cubicBezTo>
                    <a:pt x="49" y="37"/>
                    <a:pt x="44" y="31"/>
                    <a:pt x="31" y="28"/>
                  </a:cubicBezTo>
                  <a:cubicBezTo>
                    <a:pt x="21" y="25"/>
                    <a:pt x="17" y="23"/>
                    <a:pt x="17" y="19"/>
                  </a:cubicBezTo>
                  <a:cubicBezTo>
                    <a:pt x="17" y="16"/>
                    <a:pt x="20" y="14"/>
                    <a:pt x="24" y="14"/>
                  </a:cubicBezTo>
                  <a:close/>
                </a:path>
              </a:pathLst>
            </a:custGeom>
            <a:solidFill>
              <a:srgbClr val="071F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19">
              <a:extLst>
                <a:ext uri="{FF2B5EF4-FFF2-40B4-BE49-F238E27FC236}">
                  <a16:creationId xmlns:a16="http://schemas.microsoft.com/office/drawing/2014/main" id="{4A27FB59-F080-4E3F-8607-3298DF002C5E}"/>
                </a:ext>
              </a:extLst>
            </p:cNvPr>
            <p:cNvSpPr>
              <a:spLocks/>
            </p:cNvSpPr>
            <p:nvPr userDrawn="1"/>
          </p:nvSpPr>
          <p:spPr bwMode="auto">
            <a:xfrm>
              <a:off x="433" y="3949"/>
              <a:ext cx="224" cy="210"/>
            </a:xfrm>
            <a:custGeom>
              <a:avLst/>
              <a:gdLst>
                <a:gd name="T0" fmla="*/ 111 w 112"/>
                <a:gd name="T1" fmla="*/ 62 h 103"/>
                <a:gd name="T2" fmla="*/ 110 w 112"/>
                <a:gd name="T3" fmla="*/ 63 h 103"/>
                <a:gd name="T4" fmla="*/ 61 w 112"/>
                <a:gd name="T5" fmla="*/ 96 h 103"/>
                <a:gd name="T6" fmla="*/ 12 w 112"/>
                <a:gd name="T7" fmla="*/ 63 h 103"/>
                <a:gd name="T8" fmla="*/ 32 w 112"/>
                <a:gd name="T9" fmla="*/ 67 h 103"/>
                <a:gd name="T10" fmla="*/ 60 w 112"/>
                <a:gd name="T11" fmla="*/ 85 h 103"/>
                <a:gd name="T12" fmla="*/ 97 w 112"/>
                <a:gd name="T13" fmla="*/ 41 h 103"/>
                <a:gd name="T14" fmla="*/ 76 w 112"/>
                <a:gd name="T15" fmla="*/ 0 h 103"/>
                <a:gd name="T16" fmla="*/ 21 w 112"/>
                <a:gd name="T17" fmla="*/ 26 h 103"/>
                <a:gd name="T18" fmla="*/ 21 w 112"/>
                <a:gd name="T19" fmla="*/ 27 h 103"/>
                <a:gd name="T20" fmla="*/ 55 w 112"/>
                <a:gd name="T21" fmla="*/ 68 h 103"/>
                <a:gd name="T22" fmla="*/ 58 w 112"/>
                <a:gd name="T23" fmla="*/ 66 h 103"/>
                <a:gd name="T24" fmla="*/ 42 w 112"/>
                <a:gd name="T25" fmla="*/ 26 h 103"/>
                <a:gd name="T26" fmla="*/ 73 w 112"/>
                <a:gd name="T27" fmla="*/ 11 h 103"/>
                <a:gd name="T28" fmla="*/ 88 w 112"/>
                <a:gd name="T29" fmla="*/ 41 h 103"/>
                <a:gd name="T30" fmla="*/ 60 w 112"/>
                <a:gd name="T31" fmla="*/ 78 h 103"/>
                <a:gd name="T32" fmla="*/ 37 w 112"/>
                <a:gd name="T33" fmla="*/ 60 h 103"/>
                <a:gd name="T34" fmla="*/ 1 w 112"/>
                <a:gd name="T35" fmla="*/ 52 h 103"/>
                <a:gd name="T36" fmla="*/ 0 w 112"/>
                <a:gd name="T37" fmla="*/ 53 h 103"/>
                <a:gd name="T38" fmla="*/ 57 w 112"/>
                <a:gd name="T39" fmla="*/ 103 h 103"/>
                <a:gd name="T40" fmla="*/ 110 w 112"/>
                <a:gd name="T41" fmla="*/ 68 h 103"/>
                <a:gd name="T42" fmla="*/ 111 w 112"/>
                <a:gd name="T43" fmla="*/ 6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2" h="103">
                  <a:moveTo>
                    <a:pt x="111" y="62"/>
                  </a:moveTo>
                  <a:cubicBezTo>
                    <a:pt x="110" y="62"/>
                    <a:pt x="110" y="62"/>
                    <a:pt x="110" y="63"/>
                  </a:cubicBezTo>
                  <a:cubicBezTo>
                    <a:pt x="100" y="85"/>
                    <a:pt x="81" y="96"/>
                    <a:pt x="61" y="96"/>
                  </a:cubicBezTo>
                  <a:cubicBezTo>
                    <a:pt x="21" y="96"/>
                    <a:pt x="12" y="64"/>
                    <a:pt x="12" y="63"/>
                  </a:cubicBezTo>
                  <a:cubicBezTo>
                    <a:pt x="32" y="67"/>
                    <a:pt x="32" y="67"/>
                    <a:pt x="32" y="67"/>
                  </a:cubicBezTo>
                  <a:cubicBezTo>
                    <a:pt x="32" y="67"/>
                    <a:pt x="40" y="85"/>
                    <a:pt x="60" y="85"/>
                  </a:cubicBezTo>
                  <a:cubicBezTo>
                    <a:pt x="82" y="85"/>
                    <a:pt x="97" y="63"/>
                    <a:pt x="97" y="41"/>
                  </a:cubicBezTo>
                  <a:cubicBezTo>
                    <a:pt x="97" y="21"/>
                    <a:pt x="88" y="9"/>
                    <a:pt x="76" y="0"/>
                  </a:cubicBezTo>
                  <a:cubicBezTo>
                    <a:pt x="21" y="26"/>
                    <a:pt x="21" y="26"/>
                    <a:pt x="21" y="26"/>
                  </a:cubicBezTo>
                  <a:cubicBezTo>
                    <a:pt x="21" y="26"/>
                    <a:pt x="21" y="27"/>
                    <a:pt x="21" y="27"/>
                  </a:cubicBezTo>
                  <a:cubicBezTo>
                    <a:pt x="52" y="34"/>
                    <a:pt x="57" y="56"/>
                    <a:pt x="55" y="68"/>
                  </a:cubicBezTo>
                  <a:cubicBezTo>
                    <a:pt x="55" y="70"/>
                    <a:pt x="56" y="70"/>
                    <a:pt x="58" y="66"/>
                  </a:cubicBezTo>
                  <a:cubicBezTo>
                    <a:pt x="62" y="54"/>
                    <a:pt x="59" y="36"/>
                    <a:pt x="42" y="26"/>
                  </a:cubicBezTo>
                  <a:cubicBezTo>
                    <a:pt x="73" y="11"/>
                    <a:pt x="73" y="11"/>
                    <a:pt x="73" y="11"/>
                  </a:cubicBezTo>
                  <a:cubicBezTo>
                    <a:pt x="76" y="14"/>
                    <a:pt x="88" y="22"/>
                    <a:pt x="88" y="41"/>
                  </a:cubicBezTo>
                  <a:cubicBezTo>
                    <a:pt x="88" y="60"/>
                    <a:pt x="77" y="78"/>
                    <a:pt x="60" y="78"/>
                  </a:cubicBezTo>
                  <a:cubicBezTo>
                    <a:pt x="43" y="78"/>
                    <a:pt x="37" y="60"/>
                    <a:pt x="37" y="60"/>
                  </a:cubicBezTo>
                  <a:cubicBezTo>
                    <a:pt x="1" y="52"/>
                    <a:pt x="1" y="52"/>
                    <a:pt x="1" y="52"/>
                  </a:cubicBezTo>
                  <a:cubicBezTo>
                    <a:pt x="0" y="52"/>
                    <a:pt x="0" y="52"/>
                    <a:pt x="0" y="53"/>
                  </a:cubicBezTo>
                  <a:cubicBezTo>
                    <a:pt x="3" y="81"/>
                    <a:pt x="25" y="103"/>
                    <a:pt x="57" y="103"/>
                  </a:cubicBezTo>
                  <a:cubicBezTo>
                    <a:pt x="84" y="103"/>
                    <a:pt x="102" y="89"/>
                    <a:pt x="110" y="68"/>
                  </a:cubicBezTo>
                  <a:cubicBezTo>
                    <a:pt x="112" y="63"/>
                    <a:pt x="111" y="62"/>
                    <a:pt x="111" y="62"/>
                  </a:cubicBezTo>
                  <a:close/>
                </a:path>
              </a:pathLst>
            </a:custGeom>
            <a:solidFill>
              <a:srgbClr val="071F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715014292"/>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Lst>
  <p:hf hdr="0" dt="0"/>
  <p:txStyles>
    <p:titleStyle>
      <a:lvl1pPr algn="l" defTabSz="914400" rtl="0" eaLnBrk="1" latinLnBrk="0" hangingPunct="1">
        <a:lnSpc>
          <a:spcPct val="115000"/>
        </a:lnSpc>
        <a:spcBef>
          <a:spcPct val="0"/>
        </a:spcBef>
        <a:buNone/>
        <a:defRPr sz="2200" b="1" kern="1200">
          <a:solidFill>
            <a:schemeClr val="tx1"/>
          </a:solidFill>
          <a:latin typeface="+mj-lt"/>
          <a:ea typeface="+mj-ea"/>
          <a:cs typeface="+mj-cs"/>
        </a:defRPr>
      </a:lvl1pPr>
    </p:titleStyle>
    <p:bodyStyle>
      <a:lvl1pPr marL="0" indent="0" algn="l" defTabSz="914400" rtl="0" eaLnBrk="1" latinLnBrk="0" hangingPunct="1">
        <a:lnSpc>
          <a:spcPct val="130000"/>
        </a:lnSpc>
        <a:spcBef>
          <a:spcPts val="0"/>
        </a:spcBef>
        <a:buFont typeface="Arial" panose="020B0604020202020204" pitchFamily="34" charset="0"/>
        <a:buNone/>
        <a:defRPr sz="1450" kern="1200">
          <a:solidFill>
            <a:schemeClr val="tx1"/>
          </a:solidFill>
          <a:latin typeface="+mn-lt"/>
          <a:ea typeface="+mn-ea"/>
          <a:cs typeface="+mn-cs"/>
        </a:defRPr>
      </a:lvl1pPr>
      <a:lvl2pPr marL="179388" indent="-179388" algn="l" defTabSz="914400" rtl="0" eaLnBrk="1" latinLnBrk="0" hangingPunct="1">
        <a:lnSpc>
          <a:spcPct val="130000"/>
        </a:lnSpc>
        <a:spcBef>
          <a:spcPts val="2400"/>
        </a:spcBef>
        <a:buFont typeface="+mj-lt"/>
        <a:buAutoNum type="arabicPeriod"/>
        <a:defRPr sz="1450" b="1" kern="1200">
          <a:solidFill>
            <a:schemeClr val="tx1"/>
          </a:solidFill>
          <a:latin typeface="+mn-lt"/>
          <a:ea typeface="+mn-ea"/>
          <a:cs typeface="+mn-cs"/>
        </a:defRPr>
      </a:lvl2pPr>
      <a:lvl3pPr marL="216000" indent="108000" algn="l" defTabSz="914400" rtl="0" eaLnBrk="1" latinLnBrk="0" hangingPunct="1">
        <a:lnSpc>
          <a:spcPct val="130000"/>
        </a:lnSpc>
        <a:spcBef>
          <a:spcPts val="300"/>
        </a:spcBef>
        <a:buSzPct val="120000"/>
        <a:buFont typeface="Times" panose="02020603050405020304" pitchFamily="18" charset="0"/>
        <a:buChar char="∙"/>
        <a:defRPr sz="1450" kern="1200">
          <a:solidFill>
            <a:schemeClr val="tx1"/>
          </a:solidFill>
          <a:latin typeface="+mn-lt"/>
          <a:ea typeface="+mn-ea"/>
          <a:cs typeface="+mn-cs"/>
        </a:defRPr>
      </a:lvl3pPr>
      <a:lvl4pPr marL="360000" indent="126000" algn="l" defTabSz="914400" rtl="0" eaLnBrk="1" latinLnBrk="0" hangingPunct="1">
        <a:lnSpc>
          <a:spcPct val="130000"/>
        </a:lnSpc>
        <a:spcBef>
          <a:spcPts val="300"/>
        </a:spcBef>
        <a:buFont typeface="Calibri" panose="020F0502020204030204" pitchFamily="34" charset="0"/>
        <a:buChar char="‐"/>
        <a:defRPr sz="1450" kern="1200">
          <a:solidFill>
            <a:schemeClr val="tx1"/>
          </a:solidFill>
          <a:latin typeface="+mn-lt"/>
          <a:ea typeface="+mn-ea"/>
          <a:cs typeface="+mn-cs"/>
        </a:defRPr>
      </a:lvl4pPr>
      <a:lvl5pPr marL="360000" indent="0" algn="l" defTabSz="914400" rtl="0" eaLnBrk="1" latinLnBrk="0" hangingPunct="1">
        <a:lnSpc>
          <a:spcPct val="130000"/>
        </a:lnSpc>
        <a:spcBef>
          <a:spcPts val="300"/>
        </a:spcBef>
        <a:buFont typeface="Arial" panose="020B0604020202020204" pitchFamily="34" charset="0"/>
        <a:buNone/>
        <a:defRPr sz="14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hyperlink" Target="https://commons.wikimedia.org/wiki/File:Louis_L%C3%A9pine.jpg?uselang=fr" TargetMode="External"/><Relationship Id="rId2" Type="http://schemas.openxmlformats.org/officeDocument/2006/relationships/image" Target="../media/image8.jpeg"/><Relationship Id="rId1" Type="http://schemas.openxmlformats.org/officeDocument/2006/relationships/slideLayout" Target="../slideLayouts/slideLayout15.xml"/><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8.jpe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hyperlink" Target="https://commons.wikimedia.org/wiki/File:Police-IMG_4105.jpg?uselang=fr" TargetMode="External"/><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image" Target="../media/image13.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gif"/><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eg"/><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e 6"/>
          <p:cNvGrpSpPr/>
          <p:nvPr/>
        </p:nvGrpSpPr>
        <p:grpSpPr>
          <a:xfrm>
            <a:off x="5194724" y="6260782"/>
            <a:ext cx="1531620" cy="467678"/>
            <a:chOff x="5220547" y="6260782"/>
            <a:chExt cx="1531620" cy="467678"/>
          </a:xfrm>
        </p:grpSpPr>
        <p:pic>
          <p:nvPicPr>
            <p:cNvPr id="4" name="Image 3" descr="C:\Users\czajezym\Desktop\CC-by-nc-sa.png"/>
            <p:cNvPicPr/>
            <p:nvPr/>
          </p:nvPicPr>
          <p:blipFill>
            <a:blip r:embed="rId2">
              <a:extLst>
                <a:ext uri="{28A0092B-C50C-407E-A947-70E740481C1C}">
                  <a14:useLocalDpi xmlns:a14="http://schemas.microsoft.com/office/drawing/2010/main" val="0"/>
                </a:ext>
              </a:extLst>
            </a:blip>
            <a:srcRect/>
            <a:stretch>
              <a:fillRect/>
            </a:stretch>
          </p:blipFill>
          <p:spPr bwMode="auto">
            <a:xfrm>
              <a:off x="5220547" y="6260782"/>
              <a:ext cx="1531620" cy="467678"/>
            </a:xfrm>
            <a:prstGeom prst="rect">
              <a:avLst/>
            </a:prstGeom>
            <a:noFill/>
            <a:ln>
              <a:noFill/>
            </a:ln>
          </p:spPr>
        </p:pic>
        <p:pic>
          <p:nvPicPr>
            <p:cNvPr id="6" name="Image 5" descr="https://mirrors.creativecommons.org/presskit/icons/nc-eu.png"/>
            <p:cNvPicPr/>
            <p:nvPr/>
          </p:nvPicPr>
          <p:blipFill>
            <a:blip r:embed="rId3">
              <a:extLst>
                <a:ext uri="{28A0092B-C50C-407E-A947-70E740481C1C}">
                  <a14:useLocalDpi xmlns:a14="http://schemas.microsoft.com/office/drawing/2010/main" val="0"/>
                </a:ext>
              </a:extLst>
            </a:blip>
            <a:srcRect/>
            <a:stretch>
              <a:fillRect/>
            </a:stretch>
          </p:blipFill>
          <p:spPr bwMode="auto">
            <a:xfrm>
              <a:off x="6079067" y="6303777"/>
              <a:ext cx="287866" cy="268301"/>
            </a:xfrm>
            <a:prstGeom prst="rect">
              <a:avLst/>
            </a:prstGeom>
            <a:noFill/>
            <a:ln>
              <a:noFill/>
            </a:ln>
          </p:spPr>
        </p:pic>
      </p:grpSp>
      <p:sp>
        <p:nvSpPr>
          <p:cNvPr id="8" name="Espace réservé du pied de page 4">
            <a:extLst>
              <a:ext uri="{FF2B5EF4-FFF2-40B4-BE49-F238E27FC236}">
                <a16:creationId xmlns:a16="http://schemas.microsoft.com/office/drawing/2014/main" id="{16B74129-F7BE-4703-924F-ACEA71B2544C}"/>
              </a:ext>
            </a:extLst>
          </p:cNvPr>
          <p:cNvSpPr txBox="1">
            <a:spLocks/>
          </p:cNvSpPr>
          <p:nvPr/>
        </p:nvSpPr>
        <p:spPr>
          <a:xfrm>
            <a:off x="7315200" y="6371431"/>
            <a:ext cx="3843717" cy="252000"/>
          </a:xfrm>
          <a:prstGeom prst="rect">
            <a:avLst/>
          </a:prstGeom>
        </p:spPr>
        <p:txBody>
          <a:bodyPr vert="horz" lIns="91440" tIns="45720" rIns="91440" bIns="45720" rtlCol="0" anchor="ctr">
            <a:noAutofit/>
          </a:bodyPr>
          <a:lstStyle>
            <a:defPPr>
              <a:defRPr lang="fr-FR"/>
            </a:defPPr>
            <a:lvl1pPr marL="0" algn="r" defTabSz="914400" rtl="0" eaLnBrk="1" latinLnBrk="0" hangingPunct="1">
              <a:lnSpc>
                <a:spcPct val="115000"/>
              </a:lnSpc>
              <a:defRPr sz="10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latin typeface="Montserrat" pitchFamily="50" charset="0"/>
              </a:rPr>
              <a:t>Ecole des Métiers de la Sécurité</a:t>
            </a:r>
            <a:endParaRPr lang="fr-FR" dirty="0">
              <a:latin typeface="Montserrat" pitchFamily="50" charset="0"/>
            </a:endParaRPr>
          </a:p>
        </p:txBody>
      </p:sp>
      <p:sp>
        <p:nvSpPr>
          <p:cNvPr id="9" name="Titre 1">
            <a:extLst>
              <a:ext uri="{FF2B5EF4-FFF2-40B4-BE49-F238E27FC236}">
                <a16:creationId xmlns:a16="http://schemas.microsoft.com/office/drawing/2014/main" id="{883F5A36-87F8-437F-BA12-EC629D69E5DD}"/>
              </a:ext>
            </a:extLst>
          </p:cNvPr>
          <p:cNvSpPr txBox="1">
            <a:spLocks noGrp="1"/>
          </p:cNvSpPr>
          <p:nvPr>
            <p:ph type="ctrTitle"/>
          </p:nvPr>
        </p:nvSpPr>
        <p:spPr>
          <a:xfrm>
            <a:off x="653244" y="2580498"/>
            <a:ext cx="10800000" cy="1800000"/>
          </a:xfrm>
          <a:prstGeom prst="rect">
            <a:avLst/>
          </a:prstGeom>
        </p:spPr>
        <p:txBody>
          <a:bodyPr vert="horz" lIns="91440" tIns="45720" rIns="91440" bIns="45720" rtlCol="0" anchor="ctr">
            <a:noAutofit/>
          </a:bodyPr>
          <a:lstStyle>
            <a:lvl1pPr algn="l" defTabSz="914400" rtl="0" eaLnBrk="1" latinLnBrk="0" hangingPunct="1">
              <a:lnSpc>
                <a:spcPct val="115000"/>
              </a:lnSpc>
              <a:spcBef>
                <a:spcPct val="0"/>
              </a:spcBef>
              <a:buNone/>
              <a:defRPr sz="3500" b="1" kern="1200">
                <a:solidFill>
                  <a:schemeClr val="tx1"/>
                </a:solidFill>
                <a:latin typeface="+mj-lt"/>
                <a:ea typeface="+mj-ea"/>
                <a:cs typeface="+mj-cs"/>
              </a:defRPr>
            </a:lvl1pPr>
          </a:lstStyle>
          <a:p>
            <a:pPr algn="ctr">
              <a:lnSpc>
                <a:spcPct val="115000"/>
              </a:lnSpc>
              <a:spcAft>
                <a:spcPts val="1000"/>
              </a:spcAft>
            </a:pPr>
            <a:r>
              <a:rPr lang="fr-FR" sz="3600" b="1" dirty="0">
                <a:effectLst/>
                <a:latin typeface="Cambria" panose="02040503050406030204" pitchFamily="18" charset="0"/>
                <a:ea typeface="Cambria" panose="02040503050406030204" pitchFamily="18" charset="0"/>
                <a:cs typeface="Times New Roman" panose="02020603050405020304" pitchFamily="18" charset="0"/>
              </a:rPr>
              <a:t>Les enjeux </a:t>
            </a:r>
            <a:r>
              <a:rPr lang="fr-FR" sz="3600" b="1" dirty="0" smtClean="0">
                <a:effectLst/>
                <a:latin typeface="Cambria" panose="02040503050406030204" pitchFamily="18" charset="0"/>
                <a:ea typeface="Cambria" panose="02040503050406030204" pitchFamily="18" charset="0"/>
                <a:cs typeface="Times New Roman" panose="02020603050405020304" pitchFamily="18" charset="0"/>
              </a:rPr>
              <a:t>de la </a:t>
            </a:r>
            <a:r>
              <a:rPr lang="fr-FR" sz="3600" b="1" dirty="0">
                <a:effectLst/>
                <a:latin typeface="Cambria" panose="02040503050406030204" pitchFamily="18" charset="0"/>
                <a:ea typeface="Cambria" panose="02040503050406030204" pitchFamily="18" charset="0"/>
                <a:cs typeface="Times New Roman" panose="02020603050405020304" pitchFamily="18" charset="0"/>
              </a:rPr>
              <a:t>Police de Proximité</a:t>
            </a:r>
            <a:endParaRPr lang="fr-FR" sz="3200" dirty="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2" name="Sous-titre 1"/>
          <p:cNvSpPr>
            <a:spLocks noGrp="1"/>
          </p:cNvSpPr>
          <p:nvPr>
            <p:ph type="subTitle" idx="1"/>
          </p:nvPr>
        </p:nvSpPr>
        <p:spPr/>
        <p:txBody>
          <a:bodyPr/>
          <a:lstStyle/>
          <a:p>
            <a:r>
              <a:rPr lang="fr-FR" dirty="0" smtClean="0">
                <a:latin typeface="Cambria" panose="02040503050406030204" pitchFamily="18" charset="0"/>
                <a:ea typeface="Cambria" panose="02040503050406030204" pitchFamily="18" charset="0"/>
              </a:rPr>
              <a:t>Module 23</a:t>
            </a:r>
            <a:endParaRPr lang="fr-F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132510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idx="1"/>
          </p:nvPr>
        </p:nvSpPr>
        <p:spPr/>
        <p:txBody>
          <a:bodyPr/>
          <a:lstStyle/>
          <a:p>
            <a:r>
              <a:rPr lang="fr-FR" dirty="0" smtClean="0">
                <a:solidFill>
                  <a:schemeClr val="accent1"/>
                </a:solidFill>
                <a:latin typeface="Cambria" panose="02040503050406030204" pitchFamily="18" charset="0"/>
                <a:ea typeface="Cambria" panose="02040503050406030204" pitchFamily="18" charset="0"/>
              </a:rPr>
              <a:t>01</a:t>
            </a:r>
            <a:endParaRPr lang="fr-FR" dirty="0">
              <a:solidFill>
                <a:schemeClr val="accent1"/>
              </a:solidFill>
              <a:latin typeface="Cambria" panose="02040503050406030204" pitchFamily="18" charset="0"/>
              <a:ea typeface="Cambria" panose="02040503050406030204" pitchFamily="18" charset="0"/>
            </a:endParaRPr>
          </a:p>
        </p:txBody>
      </p:sp>
      <p:sp>
        <p:nvSpPr>
          <p:cNvPr id="5" name="Titre 4"/>
          <p:cNvSpPr>
            <a:spLocks noGrp="1"/>
          </p:cNvSpPr>
          <p:nvPr>
            <p:ph type="title"/>
          </p:nvPr>
        </p:nvSpPr>
        <p:spPr/>
        <p:txBody>
          <a:bodyPr/>
          <a:lstStyle/>
          <a:p>
            <a:r>
              <a:rPr lang="fr-FR" dirty="0">
                <a:latin typeface="Cambria" panose="02040503050406030204" pitchFamily="18" charset="0"/>
                <a:ea typeface="Cambria" panose="02040503050406030204" pitchFamily="18" charset="0"/>
              </a:rPr>
              <a:t>Les enjeux de la Police de Proximité</a:t>
            </a:r>
          </a:p>
        </p:txBody>
      </p:sp>
      <p:sp>
        <p:nvSpPr>
          <p:cNvPr id="7" name="Espace réservé du texte 6"/>
          <p:cNvSpPr>
            <a:spLocks noGrp="1"/>
          </p:cNvSpPr>
          <p:nvPr>
            <p:ph type="body" sz="quarter" idx="13"/>
          </p:nvPr>
        </p:nvSpPr>
        <p:spPr/>
        <p:txBody>
          <a:bodyPr/>
          <a:lstStyle/>
          <a:p>
            <a:r>
              <a:rPr lang="fr-FR" dirty="0" smtClean="0">
                <a:solidFill>
                  <a:schemeClr val="accent1"/>
                </a:solidFill>
                <a:latin typeface="Cambria" panose="02040503050406030204" pitchFamily="18" charset="0"/>
                <a:ea typeface="Cambria" panose="02040503050406030204" pitchFamily="18" charset="0"/>
              </a:rPr>
              <a:t>Définition</a:t>
            </a:r>
            <a:endParaRPr lang="fr-FR" dirty="0">
              <a:solidFill>
                <a:schemeClr val="accent1"/>
              </a:solidFill>
              <a:latin typeface="Cambria" panose="02040503050406030204" pitchFamily="18" charset="0"/>
              <a:ea typeface="Cambria" panose="02040503050406030204" pitchFamily="18" charset="0"/>
            </a:endParaRPr>
          </a:p>
        </p:txBody>
      </p:sp>
      <p:sp>
        <p:nvSpPr>
          <p:cNvPr id="8" name="Espace réservé du texte 7"/>
          <p:cNvSpPr>
            <a:spLocks noGrp="1"/>
          </p:cNvSpPr>
          <p:nvPr>
            <p:ph type="body" idx="14"/>
          </p:nvPr>
        </p:nvSpPr>
        <p:spPr/>
        <p:txBody>
          <a:bodyPr/>
          <a:lstStyle/>
          <a:p>
            <a:r>
              <a:rPr lang="fr-FR" dirty="0" smtClean="0">
                <a:solidFill>
                  <a:schemeClr val="accent4"/>
                </a:solidFill>
                <a:latin typeface="Cambria" panose="02040503050406030204" pitchFamily="18" charset="0"/>
                <a:ea typeface="Cambria" panose="02040503050406030204" pitchFamily="18" charset="0"/>
              </a:rPr>
              <a:t>02</a:t>
            </a:r>
            <a:endParaRPr lang="fr-FR" dirty="0">
              <a:solidFill>
                <a:schemeClr val="accent4"/>
              </a:solidFill>
              <a:latin typeface="Cambria" panose="02040503050406030204" pitchFamily="18" charset="0"/>
              <a:ea typeface="Cambria" panose="02040503050406030204" pitchFamily="18" charset="0"/>
            </a:endParaRPr>
          </a:p>
        </p:txBody>
      </p:sp>
      <p:sp>
        <p:nvSpPr>
          <p:cNvPr id="9" name="Espace réservé du texte 8"/>
          <p:cNvSpPr>
            <a:spLocks noGrp="1"/>
          </p:cNvSpPr>
          <p:nvPr>
            <p:ph type="body" sz="quarter" idx="15"/>
          </p:nvPr>
        </p:nvSpPr>
        <p:spPr/>
        <p:txBody>
          <a:bodyPr/>
          <a:lstStyle/>
          <a:p>
            <a:r>
              <a:rPr lang="fr-FR" dirty="0" smtClean="0">
                <a:solidFill>
                  <a:schemeClr val="accent4"/>
                </a:solidFill>
                <a:latin typeface="Cambria" panose="02040503050406030204" pitchFamily="18" charset="0"/>
                <a:ea typeface="Cambria" panose="02040503050406030204" pitchFamily="18" charset="0"/>
              </a:rPr>
              <a:t>Histoire de la police de proximité</a:t>
            </a:r>
            <a:endParaRPr lang="fr-FR" dirty="0">
              <a:solidFill>
                <a:schemeClr val="accent4"/>
              </a:solidFill>
              <a:latin typeface="Cambria" panose="02040503050406030204" pitchFamily="18" charset="0"/>
              <a:ea typeface="Cambria" panose="02040503050406030204" pitchFamily="18" charset="0"/>
            </a:endParaRPr>
          </a:p>
        </p:txBody>
      </p:sp>
      <p:sp>
        <p:nvSpPr>
          <p:cNvPr id="10" name="Espace réservé du texte 9"/>
          <p:cNvSpPr>
            <a:spLocks noGrp="1"/>
          </p:cNvSpPr>
          <p:nvPr>
            <p:ph type="body" idx="16"/>
          </p:nvPr>
        </p:nvSpPr>
        <p:spPr/>
        <p:txBody>
          <a:bodyPr/>
          <a:lstStyle/>
          <a:p>
            <a:r>
              <a:rPr lang="fr-FR" dirty="0" smtClean="0">
                <a:solidFill>
                  <a:schemeClr val="accent5"/>
                </a:solidFill>
                <a:latin typeface="Cambria" panose="02040503050406030204" pitchFamily="18" charset="0"/>
                <a:ea typeface="Cambria" panose="02040503050406030204" pitchFamily="18" charset="0"/>
              </a:rPr>
              <a:t>03</a:t>
            </a:r>
            <a:endParaRPr lang="fr-FR" dirty="0">
              <a:solidFill>
                <a:schemeClr val="accent5"/>
              </a:solidFill>
              <a:latin typeface="Cambria" panose="02040503050406030204" pitchFamily="18" charset="0"/>
              <a:ea typeface="Cambria" panose="02040503050406030204" pitchFamily="18" charset="0"/>
            </a:endParaRPr>
          </a:p>
        </p:txBody>
      </p:sp>
      <p:sp>
        <p:nvSpPr>
          <p:cNvPr id="11" name="Espace réservé du texte 10"/>
          <p:cNvSpPr>
            <a:spLocks noGrp="1"/>
          </p:cNvSpPr>
          <p:nvPr>
            <p:ph type="body" sz="quarter" idx="17"/>
          </p:nvPr>
        </p:nvSpPr>
        <p:spPr/>
        <p:txBody>
          <a:bodyPr/>
          <a:lstStyle/>
          <a:p>
            <a:r>
              <a:rPr lang="fr-FR" dirty="0" smtClean="0">
                <a:solidFill>
                  <a:schemeClr val="accent5"/>
                </a:solidFill>
                <a:latin typeface="Cambria" panose="02040503050406030204" pitchFamily="18" charset="0"/>
                <a:ea typeface="Cambria" panose="02040503050406030204" pitchFamily="18" charset="0"/>
              </a:rPr>
              <a:t>La Police de proximité à Paris</a:t>
            </a:r>
            <a:endParaRPr lang="fr-FR" dirty="0">
              <a:solidFill>
                <a:schemeClr val="accent5"/>
              </a:solidFill>
              <a:latin typeface="Cambria" panose="02040503050406030204" pitchFamily="18" charset="0"/>
              <a:ea typeface="Cambria" panose="02040503050406030204" pitchFamily="18" charset="0"/>
            </a:endParaRPr>
          </a:p>
        </p:txBody>
      </p:sp>
      <p:sp>
        <p:nvSpPr>
          <p:cNvPr id="12" name="Espace réservé du texte 11"/>
          <p:cNvSpPr>
            <a:spLocks noGrp="1"/>
          </p:cNvSpPr>
          <p:nvPr>
            <p:ph type="body" idx="18"/>
          </p:nvPr>
        </p:nvSpPr>
        <p:spPr/>
        <p:txBody>
          <a:bodyPr/>
          <a:lstStyle/>
          <a:p>
            <a:r>
              <a:rPr lang="fr-FR" dirty="0" smtClean="0">
                <a:solidFill>
                  <a:schemeClr val="accent6"/>
                </a:solidFill>
                <a:latin typeface="Cambria" panose="02040503050406030204" pitchFamily="18" charset="0"/>
                <a:ea typeface="Cambria" panose="02040503050406030204" pitchFamily="18" charset="0"/>
              </a:rPr>
              <a:t>04</a:t>
            </a:r>
            <a:endParaRPr lang="fr-FR" dirty="0">
              <a:solidFill>
                <a:schemeClr val="accent6"/>
              </a:solidFill>
              <a:latin typeface="Cambria" panose="02040503050406030204" pitchFamily="18" charset="0"/>
              <a:ea typeface="Cambria" panose="02040503050406030204" pitchFamily="18" charset="0"/>
            </a:endParaRPr>
          </a:p>
        </p:txBody>
      </p:sp>
      <p:sp>
        <p:nvSpPr>
          <p:cNvPr id="13" name="Espace réservé du texte 12"/>
          <p:cNvSpPr>
            <a:spLocks noGrp="1"/>
          </p:cNvSpPr>
          <p:nvPr>
            <p:ph type="body" sz="quarter" idx="19"/>
          </p:nvPr>
        </p:nvSpPr>
        <p:spPr/>
        <p:txBody>
          <a:bodyPr/>
          <a:lstStyle/>
          <a:p>
            <a:r>
              <a:rPr lang="fr-FR" dirty="0" smtClean="0">
                <a:solidFill>
                  <a:schemeClr val="accent6"/>
                </a:solidFill>
                <a:latin typeface="Cambria" panose="02040503050406030204" pitchFamily="18" charset="0"/>
                <a:ea typeface="Cambria" panose="02040503050406030204" pitchFamily="18" charset="0"/>
              </a:rPr>
              <a:t>Ilotage</a:t>
            </a:r>
            <a:endParaRPr lang="fr-FR" dirty="0">
              <a:solidFill>
                <a:schemeClr val="accent6"/>
              </a:solidFill>
              <a:latin typeface="Cambria" panose="02040503050406030204" pitchFamily="18" charset="0"/>
              <a:ea typeface="Cambria" panose="02040503050406030204" pitchFamily="18" charset="0"/>
            </a:endParaRPr>
          </a:p>
        </p:txBody>
      </p:sp>
      <p:sp>
        <p:nvSpPr>
          <p:cNvPr id="14" name="Espace réservé du texte 13"/>
          <p:cNvSpPr>
            <a:spLocks noGrp="1"/>
          </p:cNvSpPr>
          <p:nvPr>
            <p:ph type="body" idx="20"/>
          </p:nvPr>
        </p:nvSpPr>
        <p:spPr/>
        <p:txBody>
          <a:bodyPr/>
          <a:lstStyle/>
          <a:p>
            <a:r>
              <a:rPr lang="fr-FR" dirty="0" smtClean="0">
                <a:solidFill>
                  <a:schemeClr val="accent2"/>
                </a:solidFill>
                <a:latin typeface="Cambria" panose="02040503050406030204" pitchFamily="18" charset="0"/>
                <a:ea typeface="Cambria" panose="02040503050406030204" pitchFamily="18" charset="0"/>
              </a:rPr>
              <a:t>05</a:t>
            </a:r>
            <a:endParaRPr lang="fr-FR" dirty="0">
              <a:solidFill>
                <a:schemeClr val="accent2"/>
              </a:solidFill>
              <a:latin typeface="Cambria" panose="02040503050406030204" pitchFamily="18" charset="0"/>
              <a:ea typeface="Cambria" panose="02040503050406030204" pitchFamily="18" charset="0"/>
            </a:endParaRPr>
          </a:p>
        </p:txBody>
      </p:sp>
      <p:sp>
        <p:nvSpPr>
          <p:cNvPr id="15" name="Espace réservé du texte 14"/>
          <p:cNvSpPr>
            <a:spLocks noGrp="1"/>
          </p:cNvSpPr>
          <p:nvPr>
            <p:ph type="body" sz="quarter" idx="21"/>
          </p:nvPr>
        </p:nvSpPr>
        <p:spPr/>
        <p:txBody>
          <a:bodyPr/>
          <a:lstStyle/>
          <a:p>
            <a:r>
              <a:rPr lang="fr-FR" dirty="0">
                <a:solidFill>
                  <a:schemeClr val="accent2"/>
                </a:solidFill>
                <a:latin typeface="Cambria" panose="02040503050406030204" pitchFamily="18" charset="0"/>
                <a:ea typeface="Cambria" panose="02040503050406030204" pitchFamily="18" charset="0"/>
              </a:rPr>
              <a:t>Proximité avec les usagers </a:t>
            </a:r>
          </a:p>
          <a:p>
            <a:endParaRPr lang="fr-FR" dirty="0"/>
          </a:p>
        </p:txBody>
      </p:sp>
      <p:sp>
        <p:nvSpPr>
          <p:cNvPr id="2" name="Espace réservé du pied de page 1"/>
          <p:cNvSpPr>
            <a:spLocks noGrp="1"/>
          </p:cNvSpPr>
          <p:nvPr>
            <p:ph type="ftr" sz="quarter" idx="3"/>
          </p:nvPr>
        </p:nvSpPr>
        <p:spPr/>
        <p:txBody>
          <a:bodyPr/>
          <a:lstStyle/>
          <a:p>
            <a:r>
              <a:rPr lang="fr-FR" smtClean="0"/>
              <a:t>Ecole des Métiers de la Sécurité - Septembre 2022</a:t>
            </a:r>
            <a:endParaRPr lang="fr-FR" dirty="0"/>
          </a:p>
        </p:txBody>
      </p:sp>
      <p:sp>
        <p:nvSpPr>
          <p:cNvPr id="3" name="Espace réservé du numéro de diapositive 2"/>
          <p:cNvSpPr>
            <a:spLocks noGrp="1"/>
          </p:cNvSpPr>
          <p:nvPr>
            <p:ph type="sldNum" sz="quarter" idx="4"/>
          </p:nvPr>
        </p:nvSpPr>
        <p:spPr/>
        <p:txBody>
          <a:bodyPr/>
          <a:lstStyle/>
          <a:p>
            <a:fld id="{975A587B-5814-4D9B-9598-FE9CB954CB01}" type="slidenum">
              <a:rPr lang="fr-FR" smtClean="0"/>
              <a:pPr/>
              <a:t>2</a:t>
            </a:fld>
            <a:endParaRPr lang="fr-FR" dirty="0"/>
          </a:p>
        </p:txBody>
      </p:sp>
    </p:spTree>
    <p:extLst>
      <p:ext uri="{BB962C8B-B14F-4D97-AF65-F5344CB8AC3E}">
        <p14:creationId xmlns:p14="http://schemas.microsoft.com/office/powerpoint/2010/main" val="13253639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re 16"/>
          <p:cNvSpPr>
            <a:spLocks noGrp="1"/>
          </p:cNvSpPr>
          <p:nvPr>
            <p:ph type="ctrTitle"/>
          </p:nvPr>
        </p:nvSpPr>
        <p:spPr/>
        <p:txBody>
          <a:bodyPr/>
          <a:lstStyle/>
          <a:p>
            <a:r>
              <a:rPr lang="fr-FR" dirty="0" smtClean="0">
                <a:solidFill>
                  <a:schemeClr val="accent1"/>
                </a:solidFill>
                <a:latin typeface="Cambria" panose="02040503050406030204" pitchFamily="18" charset="0"/>
                <a:ea typeface="Cambria" panose="02040503050406030204" pitchFamily="18" charset="0"/>
              </a:rPr>
              <a:t>01</a:t>
            </a:r>
            <a:endParaRPr lang="fr-FR" dirty="0">
              <a:solidFill>
                <a:schemeClr val="accent1"/>
              </a:solidFill>
              <a:latin typeface="Cambria" panose="02040503050406030204" pitchFamily="18" charset="0"/>
              <a:ea typeface="Cambria" panose="02040503050406030204" pitchFamily="18" charset="0"/>
            </a:endParaRPr>
          </a:p>
        </p:txBody>
      </p:sp>
      <p:sp>
        <p:nvSpPr>
          <p:cNvPr id="19" name="Espace réservé du texte 18"/>
          <p:cNvSpPr>
            <a:spLocks noGrp="1"/>
          </p:cNvSpPr>
          <p:nvPr>
            <p:ph type="body" idx="13"/>
          </p:nvPr>
        </p:nvSpPr>
        <p:spPr/>
        <p:txBody>
          <a:bodyPr/>
          <a:lstStyle/>
          <a:p>
            <a:endParaRPr lang="fr-FR" dirty="0"/>
          </a:p>
        </p:txBody>
      </p:sp>
      <p:sp>
        <p:nvSpPr>
          <p:cNvPr id="15" name="Espace réservé du numéro de diapositive 14"/>
          <p:cNvSpPr>
            <a:spLocks noGrp="1"/>
          </p:cNvSpPr>
          <p:nvPr>
            <p:ph type="sldNum" sz="quarter" idx="4294967295"/>
          </p:nvPr>
        </p:nvSpPr>
        <p:spPr>
          <a:xfrm>
            <a:off x="11761788" y="6370638"/>
            <a:ext cx="430212" cy="252412"/>
          </a:xfrm>
        </p:spPr>
        <p:txBody>
          <a:bodyPr/>
          <a:lstStyle/>
          <a:p>
            <a:fld id="{975A587B-5814-4D9B-9598-FE9CB954CB01}" type="slidenum">
              <a:rPr lang="fr-FR" smtClean="0"/>
              <a:pPr/>
              <a:t>3</a:t>
            </a:fld>
            <a:endParaRPr lang="fr-FR" dirty="0"/>
          </a:p>
        </p:txBody>
      </p:sp>
      <p:sp>
        <p:nvSpPr>
          <p:cNvPr id="16" name="Espace réservé du pied de page 15"/>
          <p:cNvSpPr>
            <a:spLocks noGrp="1"/>
          </p:cNvSpPr>
          <p:nvPr>
            <p:ph type="ftr" sz="quarter" idx="4294967295"/>
          </p:nvPr>
        </p:nvSpPr>
        <p:spPr>
          <a:xfrm>
            <a:off x="6440488" y="6370638"/>
            <a:ext cx="5751512" cy="252412"/>
          </a:xfrm>
        </p:spPr>
        <p:txBody>
          <a:bodyPr/>
          <a:lstStyle/>
          <a:p>
            <a:r>
              <a:rPr lang="fr-FR" smtClean="0"/>
              <a:t>Ecole des Métiers de la Sécurité - Septembre 2022</a:t>
            </a:r>
            <a:endParaRPr lang="fr-FR" dirty="0"/>
          </a:p>
        </p:txBody>
      </p:sp>
      <p:sp>
        <p:nvSpPr>
          <p:cNvPr id="20" name="Espace réservé du texte 3"/>
          <p:cNvSpPr>
            <a:spLocks noGrp="1"/>
          </p:cNvSpPr>
          <p:nvPr>
            <p:ph type="subTitle" idx="1"/>
          </p:nvPr>
        </p:nvSpPr>
        <p:spPr>
          <a:xfrm>
            <a:off x="4473146" y="2526858"/>
            <a:ext cx="5472712" cy="1440000"/>
          </a:xfrm>
        </p:spPr>
        <p:txBody>
          <a:bodyPr/>
          <a:lstStyle/>
          <a:p>
            <a:r>
              <a:rPr lang="fr-FR" sz="4400" dirty="0" smtClean="0">
                <a:solidFill>
                  <a:schemeClr val="accent1"/>
                </a:solidFill>
                <a:latin typeface="Cambria" panose="02040503050406030204" pitchFamily="18" charset="0"/>
                <a:ea typeface="Cambria" panose="02040503050406030204" pitchFamily="18" charset="0"/>
              </a:rPr>
              <a:t>Définition</a:t>
            </a:r>
            <a:endParaRPr lang="fr-FR" sz="4400" dirty="0">
              <a:solidFill>
                <a:schemeClr val="accent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9526642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14DB927-DE7D-4E19-BF9C-011DC8DF75CB}"/>
              </a:ext>
            </a:extLst>
          </p:cNvPr>
          <p:cNvSpPr>
            <a:spLocks noGrp="1"/>
          </p:cNvSpPr>
          <p:nvPr>
            <p:ph type="title"/>
          </p:nvPr>
        </p:nvSpPr>
        <p:spPr>
          <a:xfrm>
            <a:off x="577516" y="359999"/>
            <a:ext cx="10762484" cy="746905"/>
          </a:xfrm>
        </p:spPr>
        <p:txBody>
          <a:bodyPr>
            <a:noAutofit/>
          </a:bodyPr>
          <a:lstStyle/>
          <a:p>
            <a:r>
              <a:rPr lang="fr-FR" sz="2800" dirty="0" smtClean="0">
                <a:solidFill>
                  <a:schemeClr val="accent1"/>
                </a:solidFill>
                <a:latin typeface="Cambria" panose="02040503050406030204" pitchFamily="18" charset="0"/>
                <a:ea typeface="Cambria" panose="02040503050406030204" pitchFamily="18" charset="0"/>
                <a:cs typeface="Calibri" panose="020F0502020204030204" pitchFamily="34" charset="0"/>
              </a:rPr>
              <a:t>Qu’est ce que la Police de proximité ? </a:t>
            </a:r>
            <a:endParaRPr lang="fr-FR" sz="2800" dirty="0">
              <a:solidFill>
                <a:schemeClr val="accent1"/>
              </a:solidFill>
              <a:latin typeface="Cambria" panose="02040503050406030204" pitchFamily="18" charset="0"/>
              <a:ea typeface="Cambria" panose="02040503050406030204" pitchFamily="18" charset="0"/>
              <a:cs typeface="Calibri" panose="020F0502020204030204" pitchFamily="34" charset="0"/>
            </a:endParaRPr>
          </a:p>
        </p:txBody>
      </p:sp>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mtClean="0">
                <a:latin typeface="Montserrat" pitchFamily="50" charset="0"/>
              </a:rPr>
              <a:pPr/>
              <a:t>4</a:t>
            </a:fld>
            <a:endParaRPr lang="fr-FR"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mtClean="0">
                <a:latin typeface="Montserrat" pitchFamily="50" charset="0"/>
              </a:rPr>
              <a:t>Ecole des Métiers de la Sécurité - Septembre 2022</a:t>
            </a:r>
            <a:endParaRPr lang="fr-FR" dirty="0">
              <a:latin typeface="Montserrat" pitchFamily="50" charset="0"/>
            </a:endParaRPr>
          </a:p>
        </p:txBody>
      </p:sp>
      <p:sp>
        <p:nvSpPr>
          <p:cNvPr id="11" name="Sous-titre 2">
            <a:extLst>
              <a:ext uri="{FF2B5EF4-FFF2-40B4-BE49-F238E27FC236}">
                <a16:creationId xmlns:a16="http://schemas.microsoft.com/office/drawing/2014/main" id="{3F17CF64-5167-4A52-B674-CC42E367BEF3}"/>
              </a:ext>
            </a:extLst>
          </p:cNvPr>
          <p:cNvSpPr txBox="1">
            <a:spLocks/>
          </p:cNvSpPr>
          <p:nvPr/>
        </p:nvSpPr>
        <p:spPr>
          <a:xfrm>
            <a:off x="578099" y="2682152"/>
            <a:ext cx="10667656" cy="4758607"/>
          </a:xfrm>
          <a:prstGeom prst="rect">
            <a:avLst/>
          </a:prstGeom>
        </p:spPr>
        <p:txBody>
          <a:bodyPr/>
          <a:lstStyle>
            <a:lvl1pPr marL="0" indent="0" algn="l" defTabSz="914400" rtl="0" eaLnBrk="1" latinLnBrk="0" hangingPunct="1">
              <a:lnSpc>
                <a:spcPct val="130000"/>
              </a:lnSpc>
              <a:spcBef>
                <a:spcPts val="0"/>
              </a:spcBef>
              <a:buFont typeface="Arial" panose="020B0604020202020204" pitchFamily="34" charset="0"/>
              <a:buNone/>
              <a:defRPr sz="1400" kern="1200">
                <a:solidFill>
                  <a:schemeClr val="tx1"/>
                </a:solidFill>
                <a:latin typeface="+mn-lt"/>
                <a:ea typeface="+mn-ea"/>
                <a:cs typeface="+mn-cs"/>
              </a:defRPr>
            </a:lvl1pPr>
            <a:lvl2pPr marL="179388" indent="-179388" algn="l" defTabSz="914400" rtl="0" eaLnBrk="1" latinLnBrk="0" hangingPunct="1">
              <a:lnSpc>
                <a:spcPct val="130000"/>
              </a:lnSpc>
              <a:spcBef>
                <a:spcPts val="2400"/>
              </a:spcBef>
              <a:buFont typeface="+mj-lt"/>
              <a:buAutoNum type="arabicPeriod"/>
              <a:defRPr sz="1400" b="1" kern="1200">
                <a:solidFill>
                  <a:schemeClr val="tx1"/>
                </a:solidFill>
                <a:latin typeface="+mn-lt"/>
                <a:ea typeface="+mn-ea"/>
                <a:cs typeface="+mn-cs"/>
              </a:defRPr>
            </a:lvl2pPr>
            <a:lvl3pPr marL="216000" indent="108000" algn="l" defTabSz="914400" rtl="0" eaLnBrk="1" latinLnBrk="0" hangingPunct="1">
              <a:lnSpc>
                <a:spcPct val="130000"/>
              </a:lnSpc>
              <a:spcBef>
                <a:spcPts val="300"/>
              </a:spcBef>
              <a:buSzPct val="120000"/>
              <a:buFont typeface="Times" panose="02020603050405020304" pitchFamily="18" charset="0"/>
              <a:buChar char="∙"/>
              <a:defRPr sz="1400" kern="1200">
                <a:solidFill>
                  <a:schemeClr val="tx1"/>
                </a:solidFill>
                <a:latin typeface="+mn-lt"/>
                <a:ea typeface="+mn-ea"/>
                <a:cs typeface="+mn-cs"/>
              </a:defRPr>
            </a:lvl3pPr>
            <a:lvl4pPr marL="360000" indent="126000" algn="l" defTabSz="914400" rtl="0" eaLnBrk="1" latinLnBrk="0" hangingPunct="1">
              <a:lnSpc>
                <a:spcPct val="130000"/>
              </a:lnSpc>
              <a:spcBef>
                <a:spcPts val="300"/>
              </a:spcBef>
              <a:buFont typeface="Calibri" panose="020F0502020204030204" pitchFamily="34" charset="0"/>
              <a:buChar char="‐"/>
              <a:defRPr sz="1400" kern="1200">
                <a:solidFill>
                  <a:schemeClr val="tx1"/>
                </a:solidFill>
                <a:latin typeface="+mn-lt"/>
                <a:ea typeface="+mn-ea"/>
                <a:cs typeface="+mn-cs"/>
              </a:defRPr>
            </a:lvl4pPr>
            <a:lvl5pPr marL="360000" indent="0" algn="l" defTabSz="914400" rtl="0" eaLnBrk="1" latinLnBrk="0" hangingPunct="1">
              <a:lnSpc>
                <a:spcPct val="130000"/>
              </a:lnSpc>
              <a:spcBef>
                <a:spcPts val="3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5000"/>
              </a:lnSpc>
              <a:spcAft>
                <a:spcPts val="1000"/>
              </a:spcAft>
            </a:pPr>
            <a:endParaRPr lang="fr-FR" sz="2400" dirty="0">
              <a:effectLst/>
              <a:latin typeface="+mj-lt"/>
              <a:ea typeface="Calibri" panose="020F0502020204030204" pitchFamily="34" charset="0"/>
              <a:cs typeface="Times New Roman" panose="02020603050405020304" pitchFamily="18" charset="0"/>
            </a:endParaRPr>
          </a:p>
        </p:txBody>
      </p:sp>
      <p:sp>
        <p:nvSpPr>
          <p:cNvPr id="6" name="Sous-titre 2">
            <a:extLst>
              <a:ext uri="{FF2B5EF4-FFF2-40B4-BE49-F238E27FC236}">
                <a16:creationId xmlns:a16="http://schemas.microsoft.com/office/drawing/2014/main" id="{3F17CF64-5167-4A52-B674-CC42E367BEF3}"/>
              </a:ext>
            </a:extLst>
          </p:cNvPr>
          <p:cNvSpPr txBox="1">
            <a:spLocks/>
          </p:cNvSpPr>
          <p:nvPr/>
        </p:nvSpPr>
        <p:spPr>
          <a:xfrm>
            <a:off x="730499" y="1432472"/>
            <a:ext cx="8434766" cy="4758607"/>
          </a:xfrm>
          <a:prstGeom prst="rect">
            <a:avLst/>
          </a:prstGeom>
        </p:spPr>
        <p:txBody>
          <a:bodyPr/>
          <a:lstStyle>
            <a:lvl1pPr marL="0" indent="0" algn="l" defTabSz="914400" rtl="0" eaLnBrk="1" latinLnBrk="0" hangingPunct="1">
              <a:lnSpc>
                <a:spcPct val="130000"/>
              </a:lnSpc>
              <a:spcBef>
                <a:spcPts val="0"/>
              </a:spcBef>
              <a:buFont typeface="Arial" panose="020B0604020202020204" pitchFamily="34" charset="0"/>
              <a:buNone/>
              <a:defRPr sz="1400" kern="1200">
                <a:solidFill>
                  <a:schemeClr val="tx1"/>
                </a:solidFill>
                <a:latin typeface="+mn-lt"/>
                <a:ea typeface="+mn-ea"/>
                <a:cs typeface="+mn-cs"/>
              </a:defRPr>
            </a:lvl1pPr>
            <a:lvl2pPr marL="179388" indent="-179388" algn="l" defTabSz="914400" rtl="0" eaLnBrk="1" latinLnBrk="0" hangingPunct="1">
              <a:lnSpc>
                <a:spcPct val="130000"/>
              </a:lnSpc>
              <a:spcBef>
                <a:spcPts val="2400"/>
              </a:spcBef>
              <a:buFont typeface="+mj-lt"/>
              <a:buAutoNum type="arabicPeriod"/>
              <a:defRPr sz="1400" b="1" kern="1200">
                <a:solidFill>
                  <a:schemeClr val="tx1"/>
                </a:solidFill>
                <a:latin typeface="+mn-lt"/>
                <a:ea typeface="+mn-ea"/>
                <a:cs typeface="+mn-cs"/>
              </a:defRPr>
            </a:lvl2pPr>
            <a:lvl3pPr marL="216000" indent="108000" algn="l" defTabSz="914400" rtl="0" eaLnBrk="1" latinLnBrk="0" hangingPunct="1">
              <a:lnSpc>
                <a:spcPct val="130000"/>
              </a:lnSpc>
              <a:spcBef>
                <a:spcPts val="300"/>
              </a:spcBef>
              <a:buSzPct val="120000"/>
              <a:buFont typeface="Times" panose="02020603050405020304" pitchFamily="18" charset="0"/>
              <a:buChar char="∙"/>
              <a:defRPr sz="1400" kern="1200">
                <a:solidFill>
                  <a:schemeClr val="tx1"/>
                </a:solidFill>
                <a:latin typeface="+mn-lt"/>
                <a:ea typeface="+mn-ea"/>
                <a:cs typeface="+mn-cs"/>
              </a:defRPr>
            </a:lvl3pPr>
            <a:lvl4pPr marL="360000" indent="126000" algn="l" defTabSz="914400" rtl="0" eaLnBrk="1" latinLnBrk="0" hangingPunct="1">
              <a:lnSpc>
                <a:spcPct val="130000"/>
              </a:lnSpc>
              <a:spcBef>
                <a:spcPts val="300"/>
              </a:spcBef>
              <a:buFont typeface="Calibri" panose="020F0502020204030204" pitchFamily="34" charset="0"/>
              <a:buChar char="‐"/>
              <a:defRPr sz="1400" kern="1200">
                <a:solidFill>
                  <a:schemeClr val="tx1"/>
                </a:solidFill>
                <a:latin typeface="+mn-lt"/>
                <a:ea typeface="+mn-ea"/>
                <a:cs typeface="+mn-cs"/>
              </a:defRPr>
            </a:lvl4pPr>
            <a:lvl5pPr marL="360000" indent="0" algn="l" defTabSz="914400" rtl="0" eaLnBrk="1" latinLnBrk="0" hangingPunct="1">
              <a:lnSpc>
                <a:spcPct val="130000"/>
              </a:lnSpc>
              <a:spcBef>
                <a:spcPts val="3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15000"/>
              </a:lnSpc>
              <a:spcAft>
                <a:spcPts val="1000"/>
              </a:spcAft>
              <a:buFont typeface="Wingdings" panose="05000000000000000000" pitchFamily="2" charset="2"/>
              <a:buChar char="q"/>
            </a:pPr>
            <a:r>
              <a:rPr lang="fr-FR" sz="2400" dirty="0">
                <a:latin typeface="Cambria" panose="02040503050406030204" pitchFamily="18" charset="0"/>
                <a:ea typeface="Cambria" panose="02040503050406030204" pitchFamily="18" charset="0"/>
              </a:rPr>
              <a:t>Le développement de la police de proximité vise à substituer à une police essentiellement réactive et mobilisée sur des missions de maintien de l'ordre, une </a:t>
            </a:r>
            <a:r>
              <a:rPr lang="fr-FR" sz="2400" b="1" dirty="0">
                <a:solidFill>
                  <a:srgbClr val="FF0000"/>
                </a:solidFill>
                <a:latin typeface="Cambria" panose="02040503050406030204" pitchFamily="18" charset="0"/>
                <a:ea typeface="Cambria" panose="02040503050406030204" pitchFamily="18" charset="0"/>
              </a:rPr>
              <a:t>police plus anticipatrice</a:t>
            </a:r>
            <a:r>
              <a:rPr lang="fr-FR" sz="2400" dirty="0">
                <a:latin typeface="Cambria" panose="02040503050406030204" pitchFamily="18" charset="0"/>
                <a:ea typeface="Cambria" panose="02040503050406030204" pitchFamily="18" charset="0"/>
              </a:rPr>
              <a:t>, </a:t>
            </a:r>
            <a:r>
              <a:rPr lang="fr-FR" sz="2400" b="1" dirty="0">
                <a:solidFill>
                  <a:srgbClr val="FF0000"/>
                </a:solidFill>
                <a:latin typeface="Cambria" panose="02040503050406030204" pitchFamily="18" charset="0"/>
                <a:ea typeface="Cambria" panose="02040503050406030204" pitchFamily="18" charset="0"/>
              </a:rPr>
              <a:t>plus proche </a:t>
            </a:r>
            <a:r>
              <a:rPr lang="fr-FR" sz="2400" dirty="0">
                <a:latin typeface="Cambria" panose="02040503050406030204" pitchFamily="18" charset="0"/>
                <a:ea typeface="Cambria" panose="02040503050406030204" pitchFamily="18" charset="0"/>
              </a:rPr>
              <a:t>et plus à l'image de la population, et de la sorte capable d'apporter des réponses satisfaisantes aux attentes des habitants en matière de sécurité par la mobilisation de toutes les possibilités de la prévention, de la dissuasion comme de la </a:t>
            </a:r>
            <a:r>
              <a:rPr lang="fr-FR" sz="2400" dirty="0" smtClean="0">
                <a:latin typeface="Cambria" panose="02040503050406030204" pitchFamily="18" charset="0"/>
                <a:ea typeface="Cambria" panose="02040503050406030204" pitchFamily="18" charset="0"/>
              </a:rPr>
              <a:t>répression</a:t>
            </a:r>
          </a:p>
          <a:p>
            <a:pPr marL="457200" indent="-457200" algn="just">
              <a:lnSpc>
                <a:spcPct val="115000"/>
              </a:lnSpc>
              <a:spcAft>
                <a:spcPts val="1000"/>
              </a:spcAft>
              <a:buFont typeface="Wingdings" panose="05000000000000000000" pitchFamily="2" charset="2"/>
              <a:buChar char="q"/>
            </a:pPr>
            <a:r>
              <a:rPr lang="fr-FR" sz="2400" dirty="0" smtClean="0">
                <a:effectLst/>
                <a:latin typeface="Cambria" panose="02040503050406030204" pitchFamily="18" charset="0"/>
                <a:ea typeface="Cambria" panose="02040503050406030204" pitchFamily="18" charset="0"/>
                <a:cs typeface="Times New Roman" panose="02020603050405020304" pitchFamily="18" charset="0"/>
              </a:rPr>
              <a:t>Elle repose sur 3 piliers et fixe 3 objectifs</a:t>
            </a:r>
            <a:endParaRPr lang="fr-FR" sz="2400" dirty="0">
              <a:effectLst/>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6016441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14DB927-DE7D-4E19-BF9C-011DC8DF75CB}"/>
              </a:ext>
            </a:extLst>
          </p:cNvPr>
          <p:cNvSpPr>
            <a:spLocks noGrp="1"/>
          </p:cNvSpPr>
          <p:nvPr>
            <p:ph type="title"/>
          </p:nvPr>
        </p:nvSpPr>
        <p:spPr>
          <a:xfrm>
            <a:off x="540000" y="391897"/>
            <a:ext cx="10800000" cy="648000"/>
          </a:xfrm>
        </p:spPr>
        <p:txBody>
          <a:bodyPr>
            <a:noAutofit/>
          </a:bodyPr>
          <a:lstStyle/>
          <a:p>
            <a:r>
              <a:rPr lang="fr-FR" sz="2800" dirty="0" smtClean="0">
                <a:solidFill>
                  <a:schemeClr val="accent1"/>
                </a:solidFill>
                <a:latin typeface="Cambria" panose="02040503050406030204" pitchFamily="18" charset="0"/>
                <a:ea typeface="Cambria" panose="02040503050406030204" pitchFamily="18" charset="0"/>
                <a:cs typeface="Calibri" panose="020F0502020204030204" pitchFamily="34" charset="0"/>
              </a:rPr>
              <a:t>Concept </a:t>
            </a:r>
            <a:r>
              <a:rPr lang="fr-FR" sz="2800" dirty="0">
                <a:solidFill>
                  <a:schemeClr val="accent1"/>
                </a:solidFill>
                <a:latin typeface="Cambria" panose="02040503050406030204" pitchFamily="18" charset="0"/>
                <a:ea typeface="Cambria" panose="02040503050406030204" pitchFamily="18" charset="0"/>
                <a:cs typeface="Calibri" panose="020F0502020204030204" pitchFamily="34" charset="0"/>
              </a:rPr>
              <a:t>de police de proximité</a:t>
            </a:r>
          </a:p>
        </p:txBody>
      </p:sp>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5</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7" name="ZoneTexte 6">
            <a:extLst>
              <a:ext uri="{FF2B5EF4-FFF2-40B4-BE49-F238E27FC236}">
                <a16:creationId xmlns:a16="http://schemas.microsoft.com/office/drawing/2014/main" id="{93D91C96-963E-4A1B-B40D-DEA55B6BA486}"/>
              </a:ext>
            </a:extLst>
          </p:cNvPr>
          <p:cNvSpPr txBox="1"/>
          <p:nvPr/>
        </p:nvSpPr>
        <p:spPr>
          <a:xfrm>
            <a:off x="540000" y="1311001"/>
            <a:ext cx="8274391" cy="4724370"/>
          </a:xfrm>
          <a:prstGeom prst="rect">
            <a:avLst/>
          </a:prstGeom>
          <a:noFill/>
        </p:spPr>
        <p:txBody>
          <a:bodyPr wrap="square">
            <a:spAutoFit/>
          </a:bodyPr>
          <a:lstStyle/>
          <a:p>
            <a:pPr algn="just">
              <a:lnSpc>
                <a:spcPct val="115000"/>
              </a:lnSpc>
              <a:spcAft>
                <a:spcPts val="1000"/>
              </a:spcAft>
            </a:pPr>
            <a:r>
              <a:rPr lang="fr-FR" sz="2400" b="1" dirty="0">
                <a:effectLst/>
                <a:latin typeface="Cambria" panose="02040503050406030204" pitchFamily="18" charset="0"/>
                <a:ea typeface="Cambria" panose="02040503050406030204" pitchFamily="18" charset="0"/>
                <a:cs typeface="Calibri" panose="020F0502020204030204" pitchFamily="34" charset="0"/>
              </a:rPr>
              <a:t>Repose sur trois piliers (PPP): </a:t>
            </a:r>
            <a:endParaRPr lang="fr-FR" sz="2400" dirty="0">
              <a:effectLst/>
              <a:latin typeface="Cambria" panose="02040503050406030204" pitchFamily="18" charset="0"/>
              <a:ea typeface="Cambria" panose="02040503050406030204" pitchFamily="18" charset="0"/>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fr-FR" sz="2400" b="1" dirty="0">
                <a:effectLst/>
                <a:latin typeface="Cambria" panose="02040503050406030204" pitchFamily="18" charset="0"/>
                <a:ea typeface="Cambria" panose="02040503050406030204" pitchFamily="18" charset="0"/>
                <a:cs typeface="Calibri" panose="020F0502020204030204" pitchFamily="34" charset="0"/>
              </a:rPr>
              <a:t>la « prévention </a:t>
            </a:r>
            <a:r>
              <a:rPr lang="fr-FR" sz="2400" b="1" dirty="0">
                <a:latin typeface="Cambria" panose="02040503050406030204" pitchFamily="18" charset="0"/>
                <a:ea typeface="Cambria" panose="02040503050406030204" pitchFamily="18" charset="0"/>
                <a:cs typeface="Calibri" panose="020F0502020204030204" pitchFamily="34" charset="0"/>
              </a:rPr>
              <a:t> »</a:t>
            </a:r>
            <a:r>
              <a:rPr lang="fr-FR" sz="2400" dirty="0">
                <a:effectLst/>
                <a:latin typeface="Cambria" panose="02040503050406030204" pitchFamily="18" charset="0"/>
                <a:ea typeface="Cambria" panose="02040503050406030204" pitchFamily="18" charset="0"/>
                <a:cs typeface="Calibri" panose="020F0502020204030204" pitchFamily="34" charset="0"/>
              </a:rPr>
              <a:t> , préalable permanent à la démarche dissuasive et répressive ;</a:t>
            </a:r>
            <a:endParaRPr lang="fr-FR" sz="2400" dirty="0">
              <a:effectLst/>
              <a:latin typeface="Cambria" panose="02040503050406030204" pitchFamily="18" charset="0"/>
              <a:ea typeface="Cambria" panose="02040503050406030204" pitchFamily="18" charset="0"/>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fr-FR" sz="2400" b="1" dirty="0">
                <a:effectLst/>
                <a:latin typeface="Cambria" panose="02040503050406030204" pitchFamily="18" charset="0"/>
                <a:ea typeface="Cambria" panose="02040503050406030204" pitchFamily="18" charset="0"/>
                <a:cs typeface="Calibri" panose="020F0502020204030204" pitchFamily="34" charset="0"/>
              </a:rPr>
              <a:t>le « partenariat »,</a:t>
            </a:r>
            <a:r>
              <a:rPr lang="fr-FR" sz="2400" dirty="0">
                <a:effectLst/>
                <a:latin typeface="Cambria" panose="02040503050406030204" pitchFamily="18" charset="0"/>
                <a:ea typeface="Cambria" panose="02040503050406030204" pitchFamily="18" charset="0"/>
                <a:cs typeface="Calibri" panose="020F0502020204030204" pitchFamily="34" charset="0"/>
              </a:rPr>
              <a:t> coopération entre autorités locales, </a:t>
            </a:r>
            <a:r>
              <a:rPr lang="fr-FR" sz="2400" u="none" strike="noStrike" dirty="0">
                <a:effectLst/>
                <a:latin typeface="Cambria" panose="02040503050406030204" pitchFamily="18" charset="0"/>
                <a:ea typeface="Cambria" panose="02040503050406030204" pitchFamily="18" charset="0"/>
                <a:cs typeface="Calibri" panose="020F0502020204030204" pitchFamily="34" charset="0"/>
              </a:rPr>
              <a:t>nationales</a:t>
            </a:r>
            <a:r>
              <a:rPr lang="fr-FR" sz="2400" dirty="0">
                <a:effectLst/>
                <a:latin typeface="Cambria" panose="02040503050406030204" pitchFamily="18" charset="0"/>
                <a:ea typeface="Cambria" panose="02040503050406030204" pitchFamily="18" charset="0"/>
                <a:cs typeface="Calibri" panose="020F0502020204030204" pitchFamily="34" charset="0"/>
              </a:rPr>
              <a:t>, le secteur privé et associatif pour une meilleure mobilisation et un bon maillage du territoire </a:t>
            </a:r>
            <a:endParaRPr lang="fr-FR" sz="2400" dirty="0">
              <a:effectLst/>
              <a:latin typeface="Cambria" panose="02040503050406030204" pitchFamily="18" charset="0"/>
              <a:ea typeface="Cambria" panose="02040503050406030204" pitchFamily="18" charset="0"/>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fr-FR" sz="2400" b="1" dirty="0">
                <a:effectLst/>
                <a:latin typeface="Cambria" panose="02040503050406030204" pitchFamily="18" charset="0"/>
                <a:ea typeface="Cambria" panose="02040503050406030204" pitchFamily="18" charset="0"/>
                <a:cs typeface="Calibri" panose="020F0502020204030204" pitchFamily="34" charset="0"/>
              </a:rPr>
              <a:t>la « proximité »,</a:t>
            </a:r>
            <a:r>
              <a:rPr lang="fr-FR" sz="2400" dirty="0">
                <a:effectLst/>
                <a:latin typeface="Cambria" panose="02040503050406030204" pitchFamily="18" charset="0"/>
                <a:ea typeface="Cambria" panose="02040503050406030204" pitchFamily="18" charset="0"/>
                <a:cs typeface="Calibri" panose="020F0502020204030204" pitchFamily="34" charset="0"/>
              </a:rPr>
              <a:t> mode d’intervention au cœur de la population, dans laquelle les forces de police doivent se fondre afin de répondre à ses attentes en matière de sécurité</a:t>
            </a:r>
            <a:r>
              <a:rPr lang="fr-FR" sz="2400" dirty="0">
                <a:effectLst/>
                <a:latin typeface="+mj-lt"/>
                <a:ea typeface="Times New Roman" panose="02020603050405020304" pitchFamily="18" charset="0"/>
                <a:cs typeface="Calibri" panose="020F0502020204030204" pitchFamily="34" charset="0"/>
              </a:rPr>
              <a:t> </a:t>
            </a:r>
            <a:endParaRPr lang="fr-FR" sz="24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132573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14DB927-DE7D-4E19-BF9C-011DC8DF75CB}"/>
              </a:ext>
            </a:extLst>
          </p:cNvPr>
          <p:cNvSpPr>
            <a:spLocks noGrp="1"/>
          </p:cNvSpPr>
          <p:nvPr>
            <p:ph type="title"/>
          </p:nvPr>
        </p:nvSpPr>
        <p:spPr>
          <a:xfrm>
            <a:off x="577516" y="360000"/>
            <a:ext cx="10800000" cy="648000"/>
          </a:xfrm>
        </p:spPr>
        <p:txBody>
          <a:bodyPr>
            <a:noAutofit/>
          </a:bodyPr>
          <a:lstStyle/>
          <a:p>
            <a:r>
              <a:rPr lang="fr-FR" sz="2800" dirty="0">
                <a:solidFill>
                  <a:schemeClr val="accent1"/>
                </a:solidFill>
                <a:latin typeface="Cambria" panose="02040503050406030204" pitchFamily="18" charset="0"/>
                <a:ea typeface="Cambria" panose="02040503050406030204" pitchFamily="18" charset="0"/>
                <a:cs typeface="Calibri" panose="020F0502020204030204" pitchFamily="34" charset="0"/>
              </a:rPr>
              <a:t>Doctrine de la police de proximité, les 3 objectifs</a:t>
            </a:r>
          </a:p>
        </p:txBody>
      </p:sp>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6</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7" name="ZoneTexte 6">
            <a:extLst>
              <a:ext uri="{FF2B5EF4-FFF2-40B4-BE49-F238E27FC236}">
                <a16:creationId xmlns:a16="http://schemas.microsoft.com/office/drawing/2014/main" id="{05DFCE03-3279-40F5-99B4-EC6931BFC244}"/>
              </a:ext>
            </a:extLst>
          </p:cNvPr>
          <p:cNvSpPr txBox="1"/>
          <p:nvPr/>
        </p:nvSpPr>
        <p:spPr>
          <a:xfrm>
            <a:off x="1990397" y="2068556"/>
            <a:ext cx="7685231" cy="3060838"/>
          </a:xfrm>
          <a:prstGeom prst="rect">
            <a:avLst/>
          </a:prstGeom>
          <a:noFill/>
        </p:spPr>
        <p:txBody>
          <a:bodyPr wrap="square">
            <a:spAutoFit/>
          </a:bodyPr>
          <a:lstStyle/>
          <a:p>
            <a:pPr algn="ctr">
              <a:lnSpc>
                <a:spcPct val="115000"/>
              </a:lnSpc>
              <a:spcAft>
                <a:spcPts val="1000"/>
              </a:spcAft>
            </a:pPr>
            <a:r>
              <a:rPr lang="fr-FR" sz="2400" dirty="0">
                <a:effectLst/>
                <a:latin typeface="Cambria" panose="02040503050406030204" pitchFamily="18" charset="0"/>
                <a:ea typeface="Cambria" panose="02040503050406030204" pitchFamily="18" charset="0"/>
                <a:cs typeface="Calibri" panose="020F0502020204030204" pitchFamily="34" charset="0"/>
              </a:rPr>
              <a:t>La police (nationale) de proximité est une doctrine d'emploi qui a </a:t>
            </a:r>
            <a:r>
              <a:rPr lang="fr-FR" sz="2400" b="1" dirty="0">
                <a:effectLst/>
                <a:latin typeface="Cambria" panose="02040503050406030204" pitchFamily="18" charset="0"/>
                <a:ea typeface="Cambria" panose="02040503050406030204" pitchFamily="18" charset="0"/>
                <a:cs typeface="Calibri" panose="020F0502020204030204" pitchFamily="34" charset="0"/>
              </a:rPr>
              <a:t>trois objectifs</a:t>
            </a:r>
            <a:r>
              <a:rPr lang="fr-FR" sz="2400" dirty="0">
                <a:effectLst/>
                <a:latin typeface="Cambria" panose="02040503050406030204" pitchFamily="18" charset="0"/>
                <a:ea typeface="Cambria" panose="02040503050406030204" pitchFamily="18" charset="0"/>
                <a:cs typeface="Calibri" panose="020F0502020204030204" pitchFamily="34" charset="0"/>
              </a:rPr>
              <a:t> : </a:t>
            </a:r>
            <a:endParaRPr lang="fr-FR" sz="2400" dirty="0" smtClean="0">
              <a:effectLst/>
              <a:latin typeface="Cambria" panose="02040503050406030204" pitchFamily="18" charset="0"/>
              <a:ea typeface="Cambria" panose="02040503050406030204" pitchFamily="18" charset="0"/>
              <a:cs typeface="Calibri" panose="020F0502020204030204" pitchFamily="34" charset="0"/>
            </a:endParaRPr>
          </a:p>
          <a:p>
            <a:pPr algn="just">
              <a:lnSpc>
                <a:spcPct val="115000"/>
              </a:lnSpc>
              <a:spcAft>
                <a:spcPts val="1000"/>
              </a:spcAft>
            </a:pPr>
            <a:endParaRPr lang="fr-FR" sz="2400" dirty="0">
              <a:latin typeface="Cambria" panose="02040503050406030204" pitchFamily="18" charset="0"/>
              <a:ea typeface="Cambria" panose="02040503050406030204" pitchFamily="18" charset="0"/>
              <a:cs typeface="Calibri" panose="020F0502020204030204" pitchFamily="34" charset="0"/>
            </a:endParaRPr>
          </a:p>
          <a:p>
            <a:pPr lvl="0" algn="just">
              <a:lnSpc>
                <a:spcPct val="115000"/>
              </a:lnSpc>
              <a:spcAft>
                <a:spcPts val="1000"/>
              </a:spcAft>
              <a:tabLst>
                <a:tab pos="457200" algn="l"/>
              </a:tabLst>
            </a:pPr>
            <a:r>
              <a:rPr lang="fr-FR" sz="2400" dirty="0" smtClean="0">
                <a:latin typeface="Cambria" panose="02040503050406030204" pitchFamily="18" charset="0"/>
                <a:ea typeface="Cambria" panose="02040503050406030204" pitchFamily="18" charset="0"/>
                <a:cs typeface="Calibri" panose="020F0502020204030204" pitchFamily="34" charset="0"/>
              </a:rPr>
              <a:t>I:</a:t>
            </a:r>
            <a:r>
              <a:rPr lang="fr-FR" sz="2400" dirty="0" smtClean="0">
                <a:effectLst/>
                <a:latin typeface="Cambria" panose="02040503050406030204" pitchFamily="18" charset="0"/>
                <a:ea typeface="Cambria" panose="02040503050406030204" pitchFamily="18" charset="0"/>
                <a:cs typeface="Calibri" panose="020F0502020204030204" pitchFamily="34" charset="0"/>
              </a:rPr>
              <a:t>"Une </a:t>
            </a:r>
            <a:r>
              <a:rPr lang="fr-FR" sz="2400" dirty="0">
                <a:effectLst/>
                <a:latin typeface="Cambria" panose="02040503050406030204" pitchFamily="18" charset="0"/>
                <a:ea typeface="Cambria" panose="02040503050406030204" pitchFamily="18" charset="0"/>
                <a:cs typeface="Calibri" panose="020F0502020204030204" pitchFamily="34" charset="0"/>
              </a:rPr>
              <a:t>police qui sait anticiper et prévenir les difficultés pour ne plus seulement réagir à l'événement" </a:t>
            </a:r>
            <a:endParaRPr lang="fr-FR" sz="2400" dirty="0" smtClean="0">
              <a:effectLst/>
              <a:latin typeface="Cambria" panose="02040503050406030204" pitchFamily="18" charset="0"/>
              <a:ea typeface="Cambria" panose="02040503050406030204" pitchFamily="18" charset="0"/>
              <a:cs typeface="Calibri" panose="020F0502020204030204" pitchFamily="34" charset="0"/>
            </a:endParaRPr>
          </a:p>
          <a:p>
            <a:pPr>
              <a:lnSpc>
                <a:spcPct val="115000"/>
              </a:lnSpc>
              <a:spcAft>
                <a:spcPts val="1000"/>
              </a:spcAft>
            </a:pPr>
            <a:endParaRPr lang="fr-FR" sz="26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2311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14DB927-DE7D-4E19-BF9C-011DC8DF75CB}"/>
              </a:ext>
            </a:extLst>
          </p:cNvPr>
          <p:cNvSpPr>
            <a:spLocks noGrp="1"/>
          </p:cNvSpPr>
          <p:nvPr>
            <p:ph type="title"/>
          </p:nvPr>
        </p:nvSpPr>
        <p:spPr>
          <a:xfrm>
            <a:off x="577516" y="360000"/>
            <a:ext cx="10800000" cy="648000"/>
          </a:xfrm>
        </p:spPr>
        <p:txBody>
          <a:bodyPr>
            <a:noAutofit/>
          </a:bodyPr>
          <a:lstStyle/>
          <a:p>
            <a:r>
              <a:rPr lang="fr-FR" sz="2800" dirty="0">
                <a:solidFill>
                  <a:schemeClr val="accent1"/>
                </a:solidFill>
                <a:latin typeface="Cambria" panose="02040503050406030204" pitchFamily="18" charset="0"/>
                <a:ea typeface="Cambria" panose="02040503050406030204" pitchFamily="18" charset="0"/>
                <a:cs typeface="Calibri" panose="020F0502020204030204" pitchFamily="34" charset="0"/>
              </a:rPr>
              <a:t>Doctrine de la police de proximité, les 3 objectifs</a:t>
            </a:r>
          </a:p>
        </p:txBody>
      </p:sp>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7</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7" name="ZoneTexte 6">
            <a:extLst>
              <a:ext uri="{FF2B5EF4-FFF2-40B4-BE49-F238E27FC236}">
                <a16:creationId xmlns:a16="http://schemas.microsoft.com/office/drawing/2014/main" id="{05DFCE03-3279-40F5-99B4-EC6931BFC244}"/>
              </a:ext>
            </a:extLst>
          </p:cNvPr>
          <p:cNvSpPr txBox="1"/>
          <p:nvPr/>
        </p:nvSpPr>
        <p:spPr>
          <a:xfrm>
            <a:off x="1246118" y="2057924"/>
            <a:ext cx="8068003" cy="3613810"/>
          </a:xfrm>
          <a:prstGeom prst="rect">
            <a:avLst/>
          </a:prstGeom>
          <a:noFill/>
        </p:spPr>
        <p:txBody>
          <a:bodyPr wrap="square">
            <a:spAutoFit/>
          </a:bodyPr>
          <a:lstStyle/>
          <a:p>
            <a:pPr marL="342900" lvl="0" indent="-342900" algn="just">
              <a:lnSpc>
                <a:spcPct val="115000"/>
              </a:lnSpc>
              <a:spcAft>
                <a:spcPts val="1000"/>
              </a:spcAft>
              <a:buFont typeface="+mj-lt"/>
              <a:buAutoNum type="arabicPeriod"/>
              <a:tabLst>
                <a:tab pos="457200" algn="l"/>
              </a:tabLst>
            </a:pPr>
            <a:endParaRPr lang="fr-FR" sz="2400" dirty="0">
              <a:effectLst/>
              <a:latin typeface="Cambria" panose="02040503050406030204" pitchFamily="18" charset="0"/>
              <a:ea typeface="Cambria" panose="02040503050406030204" pitchFamily="18" charset="0"/>
              <a:cs typeface="Calibri" panose="020F0502020204030204" pitchFamily="34" charset="0"/>
            </a:endParaRPr>
          </a:p>
          <a:p>
            <a:pPr lvl="0" algn="just">
              <a:lnSpc>
                <a:spcPct val="115000"/>
              </a:lnSpc>
              <a:spcAft>
                <a:spcPts val="1000"/>
              </a:spcAft>
              <a:tabLst>
                <a:tab pos="457200" algn="l"/>
              </a:tabLst>
            </a:pPr>
            <a:r>
              <a:rPr lang="fr-FR" sz="2400" dirty="0" smtClean="0">
                <a:effectLst/>
                <a:latin typeface="Cambria" panose="02040503050406030204" pitchFamily="18" charset="0"/>
                <a:ea typeface="Cambria" panose="02040503050406030204" pitchFamily="18" charset="0"/>
                <a:cs typeface="Calibri" panose="020F0502020204030204" pitchFamily="34" charset="0"/>
              </a:rPr>
              <a:t>II: "Une </a:t>
            </a:r>
            <a:r>
              <a:rPr lang="fr-FR" sz="2400" dirty="0">
                <a:effectLst/>
                <a:latin typeface="Cambria" panose="02040503050406030204" pitchFamily="18" charset="0"/>
                <a:ea typeface="Cambria" panose="02040503050406030204" pitchFamily="18" charset="0"/>
                <a:cs typeface="Calibri" panose="020F0502020204030204" pitchFamily="34" charset="0"/>
              </a:rPr>
              <a:t>police qui connait son territoire et qui est bien connue de ses habitants ; bien intégrée dans le tissu urbain, elle en a identifié tous les problèmes" </a:t>
            </a:r>
            <a:endParaRPr lang="fr-FR" sz="2400" dirty="0" smtClean="0">
              <a:effectLst/>
              <a:latin typeface="Cambria" panose="02040503050406030204" pitchFamily="18" charset="0"/>
              <a:ea typeface="Cambria" panose="02040503050406030204" pitchFamily="18" charset="0"/>
              <a:cs typeface="Calibri" panose="020F0502020204030204" pitchFamily="34" charset="0"/>
            </a:endParaRPr>
          </a:p>
          <a:p>
            <a:pPr lvl="0" algn="just">
              <a:lnSpc>
                <a:spcPct val="115000"/>
              </a:lnSpc>
              <a:spcAft>
                <a:spcPts val="1000"/>
              </a:spcAft>
              <a:tabLst>
                <a:tab pos="457200" algn="l"/>
              </a:tabLst>
            </a:pPr>
            <a:endParaRPr lang="fr-FR" sz="2400" dirty="0">
              <a:latin typeface="Cambria" panose="02040503050406030204" pitchFamily="18" charset="0"/>
              <a:ea typeface="Cambria" panose="02040503050406030204" pitchFamily="18" charset="0"/>
              <a:cs typeface="Calibri" panose="020F0502020204030204" pitchFamily="34" charset="0"/>
            </a:endParaRPr>
          </a:p>
          <a:p>
            <a:pPr lvl="0" algn="just">
              <a:lnSpc>
                <a:spcPct val="115000"/>
              </a:lnSpc>
              <a:spcAft>
                <a:spcPts val="1000"/>
              </a:spcAft>
              <a:tabLst>
                <a:tab pos="457200" algn="l"/>
              </a:tabLst>
            </a:pPr>
            <a:r>
              <a:rPr lang="fr-FR" sz="2400" dirty="0" smtClean="0">
                <a:effectLst/>
                <a:latin typeface="Cambria" panose="02040503050406030204" pitchFamily="18" charset="0"/>
                <a:ea typeface="Cambria" panose="02040503050406030204" pitchFamily="18" charset="0"/>
                <a:cs typeface="Calibri" panose="020F0502020204030204" pitchFamily="34" charset="0"/>
              </a:rPr>
              <a:t>. </a:t>
            </a:r>
          </a:p>
          <a:p>
            <a:pPr>
              <a:lnSpc>
                <a:spcPct val="115000"/>
              </a:lnSpc>
              <a:spcAft>
                <a:spcPts val="1000"/>
              </a:spcAft>
            </a:pPr>
            <a:endParaRPr lang="fr-FR" sz="26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346052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14DB927-DE7D-4E19-BF9C-011DC8DF75CB}"/>
              </a:ext>
            </a:extLst>
          </p:cNvPr>
          <p:cNvSpPr>
            <a:spLocks noGrp="1"/>
          </p:cNvSpPr>
          <p:nvPr>
            <p:ph type="title"/>
          </p:nvPr>
        </p:nvSpPr>
        <p:spPr>
          <a:xfrm>
            <a:off x="577516" y="360000"/>
            <a:ext cx="10800000" cy="648000"/>
          </a:xfrm>
        </p:spPr>
        <p:txBody>
          <a:bodyPr>
            <a:noAutofit/>
          </a:bodyPr>
          <a:lstStyle/>
          <a:p>
            <a:r>
              <a:rPr lang="fr-FR" sz="2800" dirty="0">
                <a:solidFill>
                  <a:schemeClr val="accent1"/>
                </a:solidFill>
                <a:latin typeface="Cambria" panose="02040503050406030204" pitchFamily="18" charset="0"/>
                <a:ea typeface="Cambria" panose="02040503050406030204" pitchFamily="18" charset="0"/>
                <a:cs typeface="Calibri" panose="020F0502020204030204" pitchFamily="34" charset="0"/>
              </a:rPr>
              <a:t>Doctrine de la police de proximité, les 3 objectifs</a:t>
            </a:r>
          </a:p>
        </p:txBody>
      </p:sp>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8</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7" name="ZoneTexte 6">
            <a:extLst>
              <a:ext uri="{FF2B5EF4-FFF2-40B4-BE49-F238E27FC236}">
                <a16:creationId xmlns:a16="http://schemas.microsoft.com/office/drawing/2014/main" id="{05DFCE03-3279-40F5-99B4-EC6931BFC244}"/>
              </a:ext>
            </a:extLst>
          </p:cNvPr>
          <p:cNvSpPr txBox="1"/>
          <p:nvPr/>
        </p:nvSpPr>
        <p:spPr>
          <a:xfrm>
            <a:off x="1884071" y="1962231"/>
            <a:ext cx="8301919" cy="3485570"/>
          </a:xfrm>
          <a:prstGeom prst="rect">
            <a:avLst/>
          </a:prstGeom>
          <a:noFill/>
        </p:spPr>
        <p:txBody>
          <a:bodyPr wrap="square">
            <a:spAutoFit/>
          </a:bodyPr>
          <a:lstStyle/>
          <a:p>
            <a:pPr lvl="0" algn="just">
              <a:lnSpc>
                <a:spcPct val="115000"/>
              </a:lnSpc>
              <a:spcAft>
                <a:spcPts val="1000"/>
              </a:spcAft>
              <a:tabLst>
                <a:tab pos="457200" algn="l"/>
              </a:tabLst>
            </a:pPr>
            <a:endParaRPr lang="fr-FR" sz="2400" dirty="0">
              <a:latin typeface="Cambria" panose="02040503050406030204" pitchFamily="18" charset="0"/>
              <a:ea typeface="Cambria" panose="02040503050406030204" pitchFamily="18" charset="0"/>
              <a:cs typeface="Calibri" panose="020F0502020204030204" pitchFamily="34" charset="0"/>
            </a:endParaRPr>
          </a:p>
          <a:p>
            <a:pPr lvl="0" algn="just">
              <a:lnSpc>
                <a:spcPct val="115000"/>
              </a:lnSpc>
              <a:spcAft>
                <a:spcPts val="1000"/>
              </a:spcAft>
              <a:tabLst>
                <a:tab pos="457200" algn="l"/>
              </a:tabLst>
            </a:pPr>
            <a:r>
              <a:rPr lang="fr-FR" sz="2400" dirty="0" smtClean="0">
                <a:effectLst/>
                <a:latin typeface="Cambria" panose="02040503050406030204" pitchFamily="18" charset="0"/>
                <a:ea typeface="Cambria" panose="02040503050406030204" pitchFamily="18" charset="0"/>
                <a:cs typeface="Calibri" panose="020F0502020204030204" pitchFamily="34" charset="0"/>
              </a:rPr>
              <a:t>III: "Une </a:t>
            </a:r>
            <a:r>
              <a:rPr lang="fr-FR" sz="2400" dirty="0">
                <a:effectLst/>
                <a:latin typeface="Cambria" panose="02040503050406030204" pitchFamily="18" charset="0"/>
                <a:ea typeface="Cambria" panose="02040503050406030204" pitchFamily="18" charset="0"/>
                <a:cs typeface="Calibri" panose="020F0502020204030204" pitchFamily="34" charset="0"/>
              </a:rPr>
              <a:t>police qui répond au mieux aux attentes de la population. </a:t>
            </a:r>
            <a:endParaRPr lang="fr-FR" sz="2400" dirty="0" smtClean="0">
              <a:effectLst/>
              <a:latin typeface="Cambria" panose="02040503050406030204" pitchFamily="18" charset="0"/>
              <a:ea typeface="Cambria" panose="02040503050406030204" pitchFamily="18" charset="0"/>
              <a:cs typeface="Calibri" panose="020F0502020204030204" pitchFamily="34" charset="0"/>
            </a:endParaRPr>
          </a:p>
          <a:p>
            <a:pPr lvl="0" algn="just">
              <a:lnSpc>
                <a:spcPct val="115000"/>
              </a:lnSpc>
              <a:spcAft>
                <a:spcPts val="1000"/>
              </a:spcAft>
              <a:tabLst>
                <a:tab pos="457200" algn="l"/>
              </a:tabLst>
            </a:pPr>
            <a:r>
              <a:rPr lang="fr-FR" sz="2400" dirty="0" smtClean="0">
                <a:effectLst/>
                <a:latin typeface="Cambria" panose="02040503050406030204" pitchFamily="18" charset="0"/>
                <a:ea typeface="Cambria" panose="02040503050406030204" pitchFamily="18" charset="0"/>
                <a:cs typeface="Calibri" panose="020F0502020204030204" pitchFamily="34" charset="0"/>
              </a:rPr>
              <a:t>Par </a:t>
            </a:r>
            <a:r>
              <a:rPr lang="fr-FR" sz="2400" dirty="0">
                <a:effectLst/>
                <a:latin typeface="Cambria" panose="02040503050406030204" pitchFamily="18" charset="0"/>
                <a:ea typeface="Cambria" panose="02040503050406030204" pitchFamily="18" charset="0"/>
                <a:cs typeface="Calibri" panose="020F0502020204030204" pitchFamily="34" charset="0"/>
              </a:rPr>
              <a:t>un dialogue constant et une écoute attentive des citoyens, elle veille à être en phase avec les besoins de sécurité exprimés par les habitants".</a:t>
            </a:r>
          </a:p>
          <a:p>
            <a:pPr>
              <a:lnSpc>
                <a:spcPct val="115000"/>
              </a:lnSpc>
              <a:spcAft>
                <a:spcPts val="1000"/>
              </a:spcAft>
            </a:pPr>
            <a:endParaRPr lang="fr-FR" sz="26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337638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527A3F-5665-4DB1-831B-72D4F7E0E270}"/>
              </a:ext>
            </a:extLst>
          </p:cNvPr>
          <p:cNvSpPr>
            <a:spLocks noGrp="1"/>
          </p:cNvSpPr>
          <p:nvPr>
            <p:ph type="title"/>
          </p:nvPr>
        </p:nvSpPr>
        <p:spPr/>
        <p:txBody>
          <a:bodyPr/>
          <a:lstStyle/>
          <a:p>
            <a:pPr algn="ctr"/>
            <a:r>
              <a:rPr lang="fr-FR" dirty="0" smtClean="0"/>
              <a:t>Des questions ?</a:t>
            </a:r>
            <a:endParaRPr lang="fr-FR" dirty="0"/>
          </a:p>
        </p:txBody>
      </p:sp>
      <p:pic>
        <p:nvPicPr>
          <p:cNvPr id="3" name="Picture 3">
            <a:extLst>
              <a:ext uri="{FF2B5EF4-FFF2-40B4-BE49-F238E27FC236}">
                <a16:creationId xmlns:a16="http://schemas.microsoft.com/office/drawing/2014/main" id="{EDBD5B2A-6E2C-475E-8B66-925C9497241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97520" y="2267221"/>
            <a:ext cx="3335787" cy="31924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a:extLst>
              <a:ext uri="{FF2B5EF4-FFF2-40B4-BE49-F238E27FC236}">
                <a16:creationId xmlns:a16="http://schemas.microsoft.com/office/drawing/2014/main" id="{54C64A4B-C5B5-4DEB-AEEE-528D3D8740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288" y="3290165"/>
            <a:ext cx="2787651" cy="3043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23300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re 19"/>
          <p:cNvSpPr>
            <a:spLocks noGrp="1"/>
          </p:cNvSpPr>
          <p:nvPr>
            <p:ph type="ctrTitle"/>
          </p:nvPr>
        </p:nvSpPr>
        <p:spPr/>
        <p:txBody>
          <a:bodyPr/>
          <a:lstStyle/>
          <a:p>
            <a:r>
              <a:rPr lang="fr-FR" dirty="0" smtClean="0">
                <a:solidFill>
                  <a:schemeClr val="accent4"/>
                </a:solidFill>
                <a:latin typeface="Cambria" panose="02040503050406030204" pitchFamily="18" charset="0"/>
                <a:ea typeface="Cambria" panose="02040503050406030204" pitchFamily="18" charset="0"/>
              </a:rPr>
              <a:t>02</a:t>
            </a:r>
            <a:endParaRPr lang="fr-FR" dirty="0">
              <a:solidFill>
                <a:schemeClr val="accent4"/>
              </a:solidFill>
              <a:latin typeface="Cambria" panose="02040503050406030204" pitchFamily="18" charset="0"/>
              <a:ea typeface="Cambria" panose="02040503050406030204" pitchFamily="18" charset="0"/>
            </a:endParaRPr>
          </a:p>
        </p:txBody>
      </p:sp>
      <p:sp>
        <p:nvSpPr>
          <p:cNvPr id="21" name="Sous-titre 20"/>
          <p:cNvSpPr>
            <a:spLocks noGrp="1"/>
          </p:cNvSpPr>
          <p:nvPr>
            <p:ph type="subTitle" idx="1"/>
          </p:nvPr>
        </p:nvSpPr>
        <p:spPr/>
        <p:txBody>
          <a:bodyPr/>
          <a:lstStyle/>
          <a:p>
            <a:r>
              <a:rPr lang="fr-FR" sz="4400" dirty="0" smtClean="0">
                <a:solidFill>
                  <a:schemeClr val="accent4"/>
                </a:solidFill>
                <a:latin typeface="Cambria" panose="02040503050406030204" pitchFamily="18" charset="0"/>
                <a:ea typeface="Cambria" panose="02040503050406030204" pitchFamily="18" charset="0"/>
              </a:rPr>
              <a:t>Histoire de la police de proximité</a:t>
            </a:r>
            <a:endParaRPr lang="fr-FR" sz="4400" dirty="0">
              <a:solidFill>
                <a:schemeClr val="accent4"/>
              </a:solidFill>
              <a:latin typeface="Cambria" panose="02040503050406030204" pitchFamily="18" charset="0"/>
              <a:ea typeface="Cambria" panose="02040503050406030204" pitchFamily="18" charset="0"/>
            </a:endParaRPr>
          </a:p>
        </p:txBody>
      </p:sp>
      <p:sp>
        <p:nvSpPr>
          <p:cNvPr id="22" name="Espace réservé du texte 21"/>
          <p:cNvSpPr>
            <a:spLocks noGrp="1"/>
          </p:cNvSpPr>
          <p:nvPr>
            <p:ph type="body" idx="13"/>
          </p:nvPr>
        </p:nvSpPr>
        <p:spPr/>
        <p:txBody>
          <a:bodyPr/>
          <a:lstStyle/>
          <a:p>
            <a:endParaRPr lang="fr-FR"/>
          </a:p>
        </p:txBody>
      </p:sp>
      <p:sp>
        <p:nvSpPr>
          <p:cNvPr id="15" name="Espace réservé du numéro de diapositive 14"/>
          <p:cNvSpPr>
            <a:spLocks noGrp="1"/>
          </p:cNvSpPr>
          <p:nvPr>
            <p:ph type="sldNum" sz="quarter" idx="4294967295"/>
          </p:nvPr>
        </p:nvSpPr>
        <p:spPr>
          <a:xfrm>
            <a:off x="11761788" y="6370638"/>
            <a:ext cx="430212" cy="252412"/>
          </a:xfrm>
        </p:spPr>
        <p:txBody>
          <a:bodyPr/>
          <a:lstStyle/>
          <a:p>
            <a:fld id="{975A587B-5814-4D9B-9598-FE9CB954CB01}" type="slidenum">
              <a:rPr lang="fr-FR" smtClean="0"/>
              <a:pPr/>
              <a:t>10</a:t>
            </a:fld>
            <a:endParaRPr lang="fr-FR" dirty="0"/>
          </a:p>
        </p:txBody>
      </p:sp>
      <p:sp>
        <p:nvSpPr>
          <p:cNvPr id="16" name="Espace réservé du pied de page 15"/>
          <p:cNvSpPr>
            <a:spLocks noGrp="1"/>
          </p:cNvSpPr>
          <p:nvPr>
            <p:ph type="ftr" sz="quarter" idx="4294967295"/>
          </p:nvPr>
        </p:nvSpPr>
        <p:spPr>
          <a:xfrm>
            <a:off x="6440488" y="6370638"/>
            <a:ext cx="5751512" cy="252412"/>
          </a:xfrm>
        </p:spPr>
        <p:txBody>
          <a:bodyPr/>
          <a:lstStyle/>
          <a:p>
            <a:r>
              <a:rPr lang="fr-FR" smtClean="0"/>
              <a:t>Ecole des Métiers de la Sécurité - Septembre 2022</a:t>
            </a:r>
            <a:endParaRPr lang="fr-FR" dirty="0"/>
          </a:p>
        </p:txBody>
      </p:sp>
    </p:spTree>
    <p:extLst>
      <p:ext uri="{BB962C8B-B14F-4D97-AF65-F5344CB8AC3E}">
        <p14:creationId xmlns:p14="http://schemas.microsoft.com/office/powerpoint/2010/main" val="1137290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7" descr="DES &quot; HIRONDELLES &quot; DANS LA POLICE - LE PIETON DE PARIS">
            <a:extLst>
              <a:ext uri="{FF2B5EF4-FFF2-40B4-BE49-F238E27FC236}">
                <a16:creationId xmlns:a16="http://schemas.microsoft.com/office/drawing/2014/main" id="{89BAFE48-2CAC-47FA-B094-45C4482C1BFD}"/>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7452" y="3788147"/>
            <a:ext cx="2771636" cy="2303163"/>
          </a:xfrm>
          <a:prstGeom prst="rect">
            <a:avLst/>
          </a:prstGeom>
          <a:noFill/>
          <a:ln>
            <a:noFill/>
          </a:ln>
        </p:spPr>
      </p:pic>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11</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3219901" y="6785790"/>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3" name="Titre 2">
            <a:extLst>
              <a:ext uri="{FF2B5EF4-FFF2-40B4-BE49-F238E27FC236}">
                <a16:creationId xmlns:a16="http://schemas.microsoft.com/office/drawing/2014/main" id="{442CF0F9-E53A-4C66-8DD0-6A21666D11C9}"/>
              </a:ext>
            </a:extLst>
          </p:cNvPr>
          <p:cNvSpPr>
            <a:spLocks noGrp="1"/>
          </p:cNvSpPr>
          <p:nvPr>
            <p:ph type="title"/>
          </p:nvPr>
        </p:nvSpPr>
        <p:spPr>
          <a:xfrm>
            <a:off x="590324" y="540541"/>
            <a:ext cx="10800000" cy="1366528"/>
          </a:xfrm>
          <a:noFill/>
        </p:spPr>
        <p:txBody>
          <a:bodyPr wrap="square">
            <a:spAutoFit/>
          </a:bodyPr>
          <a:lstStyle/>
          <a:p>
            <a:pPr>
              <a:spcAft>
                <a:spcPts val="1000"/>
              </a:spcAft>
            </a:pPr>
            <a:r>
              <a:rPr lang="fr-FR" sz="2400" dirty="0">
                <a:solidFill>
                  <a:schemeClr val="accent4"/>
                </a:solidFill>
                <a:latin typeface="Cambria" panose="02040503050406030204" pitchFamily="18" charset="0"/>
                <a:ea typeface="Cambria" panose="02040503050406030204" pitchFamily="18" charset="0"/>
              </a:rPr>
              <a:t>Histoire de la police de proximité</a:t>
            </a:r>
            <a:r>
              <a:rPr lang="fr-FR" sz="2400" dirty="0">
                <a:solidFill>
                  <a:schemeClr val="accent4"/>
                </a:solidFill>
              </a:rPr>
              <a:t/>
            </a:r>
            <a:br>
              <a:rPr lang="fr-FR" sz="2400" dirty="0">
                <a:solidFill>
                  <a:schemeClr val="accent4"/>
                </a:solidFill>
              </a:rPr>
            </a:br>
            <a:r>
              <a:rPr lang="fr-FR" sz="2400" dirty="0" smtClean="0">
                <a:solidFill>
                  <a:schemeClr val="accent4"/>
                </a:solidFill>
                <a:cs typeface="Calibri" panose="020F0502020204030204" pitchFamily="34" charset="0"/>
              </a:rPr>
              <a:t/>
            </a:r>
            <a:br>
              <a:rPr lang="fr-FR" sz="2400" dirty="0" smtClean="0">
                <a:solidFill>
                  <a:schemeClr val="accent4"/>
                </a:solidFill>
                <a:cs typeface="Calibri" panose="020F0502020204030204" pitchFamily="34" charset="0"/>
              </a:rPr>
            </a:br>
            <a:endParaRPr lang="fr-FR" sz="2400" dirty="0">
              <a:solidFill>
                <a:schemeClr val="accent4"/>
              </a:solidFill>
              <a:cs typeface="Calibri" panose="020F0502020204030204" pitchFamily="34" charset="0"/>
            </a:endParaRPr>
          </a:p>
        </p:txBody>
      </p:sp>
      <p:sp>
        <p:nvSpPr>
          <p:cNvPr id="11" name="ZoneTexte 10">
            <a:extLst>
              <a:ext uri="{FF2B5EF4-FFF2-40B4-BE49-F238E27FC236}">
                <a16:creationId xmlns:a16="http://schemas.microsoft.com/office/drawing/2014/main" id="{648F1FC7-8E6E-4CE1-BBA0-7270064C7918}"/>
              </a:ext>
            </a:extLst>
          </p:cNvPr>
          <p:cNvSpPr txBox="1"/>
          <p:nvPr/>
        </p:nvSpPr>
        <p:spPr>
          <a:xfrm>
            <a:off x="590324" y="1270660"/>
            <a:ext cx="10101122" cy="3237809"/>
          </a:xfrm>
          <a:prstGeom prst="rect">
            <a:avLst/>
          </a:prstGeom>
          <a:noFill/>
        </p:spPr>
        <p:txBody>
          <a:bodyPr wrap="square">
            <a:spAutoFit/>
          </a:bodyPr>
          <a:lstStyle>
            <a:defPPr>
              <a:defRPr lang="fr-FR"/>
            </a:defPPr>
            <a:lvl1pPr algn="just">
              <a:lnSpc>
                <a:spcPct val="115000"/>
              </a:lnSpc>
              <a:spcAft>
                <a:spcPts val="1000"/>
              </a:spcAft>
              <a:defRPr sz="2400">
                <a:solidFill>
                  <a:srgbClr val="F79646"/>
                </a:solidFill>
                <a:effectLst/>
                <a:latin typeface="+mj-lt"/>
                <a:ea typeface="Times New Roman" panose="02020603050405020304" pitchFamily="18" charset="0"/>
                <a:cs typeface="Calibri" panose="020F0502020204030204" pitchFamily="34" charset="0"/>
              </a:defRPr>
            </a:lvl1pPr>
          </a:lstStyle>
          <a:p>
            <a:r>
              <a:rPr lang="fr-FR" sz="2800" dirty="0">
                <a:solidFill>
                  <a:srgbClr val="071F32"/>
                </a:solidFill>
                <a:latin typeface="Cambria" panose="02040503050406030204" pitchFamily="18" charset="0"/>
                <a:ea typeface="Cambria" panose="02040503050406030204" pitchFamily="18" charset="0"/>
              </a:rPr>
              <a:t>« </a:t>
            </a:r>
            <a:r>
              <a:rPr lang="fr-FR" dirty="0">
                <a:solidFill>
                  <a:srgbClr val="071F32"/>
                </a:solidFill>
                <a:latin typeface="Cambria" panose="02040503050406030204" pitchFamily="18" charset="0"/>
                <a:ea typeface="Cambria" panose="02040503050406030204" pitchFamily="18" charset="0"/>
              </a:rPr>
              <a:t>Un concept national d’application locale »</a:t>
            </a:r>
          </a:p>
          <a:p>
            <a:r>
              <a:rPr lang="fr-FR" dirty="0">
                <a:solidFill>
                  <a:srgbClr val="071F32"/>
                </a:solidFill>
                <a:latin typeface="Cambria" panose="02040503050406030204" pitchFamily="18" charset="0"/>
                <a:ea typeface="Cambria" panose="02040503050406030204" pitchFamily="18" charset="0"/>
              </a:rPr>
              <a:t>Après 1900, mise en place de l’ilotage. L’idée du Préfet Louis Lépine est d'assurer une surveillance de nuit dans les quatre-vingts quartiers parisiens. Leur efficacité entraîna la création d'une Brigade cycliste en 1901</a:t>
            </a:r>
            <a:endParaRPr lang="fr-FR" dirty="0">
              <a:solidFill>
                <a:srgbClr val="071F32"/>
              </a:solidFill>
              <a:latin typeface="Cambria" panose="02040503050406030204" pitchFamily="18" charset="0"/>
              <a:ea typeface="Cambria" panose="02040503050406030204" pitchFamily="18" charset="0"/>
              <a:cs typeface="Times New Roman" panose="02020603050405020304" pitchFamily="18" charset="0"/>
            </a:endParaRPr>
          </a:p>
          <a:p>
            <a:endParaRPr lang="fr-FR" sz="2800" b="1" dirty="0">
              <a:solidFill>
                <a:srgbClr val="071F32"/>
              </a:solidFill>
            </a:endParaRPr>
          </a:p>
          <a:p>
            <a:endParaRPr lang="fr-FR" sz="2800" dirty="0"/>
          </a:p>
        </p:txBody>
      </p:sp>
      <p:pic>
        <p:nvPicPr>
          <p:cNvPr id="14" name="Image 13">
            <a:hlinkClick r:id="rId3"/>
            <a:extLst>
              <a:ext uri="{FF2B5EF4-FFF2-40B4-BE49-F238E27FC236}">
                <a16:creationId xmlns:a16="http://schemas.microsoft.com/office/drawing/2014/main" id="{C20F8799-5EDA-43F8-BBD3-F09E3D93568D}"/>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0743210" y="1814642"/>
            <a:ext cx="1285358" cy="1614358"/>
          </a:xfrm>
          <a:prstGeom prst="rect">
            <a:avLst/>
          </a:prstGeom>
          <a:noFill/>
          <a:ln>
            <a:noFill/>
          </a:ln>
        </p:spPr>
      </p:pic>
      <p:sp>
        <p:nvSpPr>
          <p:cNvPr id="16" name="ZoneTexte 15">
            <a:extLst>
              <a:ext uri="{FF2B5EF4-FFF2-40B4-BE49-F238E27FC236}">
                <a16:creationId xmlns:a16="http://schemas.microsoft.com/office/drawing/2014/main" id="{26A83D78-8B63-4BF9-9A99-FF193E677BC8}"/>
              </a:ext>
            </a:extLst>
          </p:cNvPr>
          <p:cNvSpPr txBox="1"/>
          <p:nvPr/>
        </p:nvSpPr>
        <p:spPr>
          <a:xfrm>
            <a:off x="4192173" y="3816793"/>
            <a:ext cx="7409504" cy="941796"/>
          </a:xfrm>
          <a:prstGeom prst="rect">
            <a:avLst/>
          </a:prstGeom>
          <a:noFill/>
        </p:spPr>
        <p:txBody>
          <a:bodyPr wrap="square">
            <a:spAutoFit/>
          </a:bodyPr>
          <a:lstStyle/>
          <a:p>
            <a:pPr algn="just">
              <a:lnSpc>
                <a:spcPct val="115000"/>
              </a:lnSpc>
              <a:spcAft>
                <a:spcPts val="1000"/>
              </a:spcAft>
            </a:pPr>
            <a:r>
              <a:rPr lang="fr-FR" sz="2400" dirty="0">
                <a:latin typeface="Cambria" panose="02040503050406030204" pitchFamily="18" charset="0"/>
                <a:ea typeface="Cambria" panose="02040503050406030204" pitchFamily="18" charset="0"/>
                <a:cs typeface="Calibri" panose="020F0502020204030204" pitchFamily="34" charset="0"/>
              </a:rPr>
              <a:t>J</a:t>
            </a:r>
            <a:r>
              <a:rPr lang="fr-FR" sz="2400" dirty="0">
                <a:effectLst/>
                <a:latin typeface="Cambria" panose="02040503050406030204" pitchFamily="18" charset="0"/>
                <a:ea typeface="Cambria" panose="02040503050406030204" pitchFamily="18" charset="0"/>
                <a:cs typeface="Calibri" panose="020F0502020204030204" pitchFamily="34" charset="0"/>
              </a:rPr>
              <a:t>usqu'en 1984, furent dénommées les « hirondelles » en raison de la marque de vélo qui les transportait</a:t>
            </a:r>
            <a:r>
              <a:rPr lang="fr-FR" sz="2400" dirty="0">
                <a:solidFill>
                  <a:srgbClr val="F79646"/>
                </a:solidFill>
                <a:effectLst/>
                <a:latin typeface="Cambria" panose="02040503050406030204" pitchFamily="18" charset="0"/>
                <a:ea typeface="Cambria" panose="02040503050406030204" pitchFamily="18" charset="0"/>
                <a:cs typeface="Calibri" panose="020F0502020204030204" pitchFamily="34" charset="0"/>
              </a:rPr>
              <a:t>. </a:t>
            </a:r>
            <a:endParaRPr lang="fr-FR" sz="2400" dirty="0">
              <a:effectLst/>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7508629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12</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3" name="Titre 2">
            <a:extLst>
              <a:ext uri="{FF2B5EF4-FFF2-40B4-BE49-F238E27FC236}">
                <a16:creationId xmlns:a16="http://schemas.microsoft.com/office/drawing/2014/main" id="{5B680634-3242-4325-AA94-6F2D4BE41756}"/>
              </a:ext>
            </a:extLst>
          </p:cNvPr>
          <p:cNvSpPr>
            <a:spLocks noGrp="1"/>
          </p:cNvSpPr>
          <p:nvPr>
            <p:ph type="title"/>
          </p:nvPr>
        </p:nvSpPr>
        <p:spPr>
          <a:xfrm>
            <a:off x="494231" y="409913"/>
            <a:ext cx="10800000" cy="468000"/>
          </a:xfrm>
        </p:spPr>
        <p:txBody>
          <a:bodyPr/>
          <a:lstStyle/>
          <a:p>
            <a:r>
              <a:rPr lang="fr-FR" sz="2400" dirty="0">
                <a:solidFill>
                  <a:schemeClr val="accent4"/>
                </a:solidFill>
                <a:latin typeface="Cambria" panose="02040503050406030204" pitchFamily="18" charset="0"/>
                <a:ea typeface="Cambria" panose="02040503050406030204" pitchFamily="18" charset="0"/>
              </a:rPr>
              <a:t>Histoire de la police de proximité</a:t>
            </a:r>
          </a:p>
        </p:txBody>
      </p:sp>
      <p:sp>
        <p:nvSpPr>
          <p:cNvPr id="11" name="ZoneTexte 10">
            <a:extLst>
              <a:ext uri="{FF2B5EF4-FFF2-40B4-BE49-F238E27FC236}">
                <a16:creationId xmlns:a16="http://schemas.microsoft.com/office/drawing/2014/main" id="{C0B8B109-9702-4BC5-9DF7-2DC7CA138055}"/>
              </a:ext>
            </a:extLst>
          </p:cNvPr>
          <p:cNvSpPr txBox="1"/>
          <p:nvPr/>
        </p:nvSpPr>
        <p:spPr>
          <a:xfrm>
            <a:off x="3613767" y="1323836"/>
            <a:ext cx="8212992" cy="4299639"/>
          </a:xfrm>
          <a:prstGeom prst="rect">
            <a:avLst/>
          </a:prstGeom>
          <a:noFill/>
        </p:spPr>
        <p:txBody>
          <a:bodyPr wrap="square">
            <a:spAutoFit/>
          </a:bodyPr>
          <a:lstStyle/>
          <a:p>
            <a:pPr algn="just">
              <a:lnSpc>
                <a:spcPct val="115000"/>
              </a:lnSpc>
              <a:spcAft>
                <a:spcPts val="1000"/>
              </a:spcAft>
            </a:pPr>
            <a:r>
              <a:rPr lang="fr-FR" sz="2400" dirty="0" smtClean="0">
                <a:effectLst/>
                <a:latin typeface="Cambria" panose="02040503050406030204" pitchFamily="18" charset="0"/>
                <a:ea typeface="Cambria" panose="02040503050406030204" pitchFamily="18" charset="0"/>
                <a:cs typeface="Calibri" panose="020F0502020204030204" pitchFamily="34" charset="0"/>
              </a:rPr>
              <a:t>3 </a:t>
            </a:r>
            <a:r>
              <a:rPr lang="fr-FR" sz="2400" dirty="0">
                <a:effectLst/>
                <a:latin typeface="Cambria" panose="02040503050406030204" pitchFamily="18" charset="0"/>
                <a:ea typeface="Cambria" panose="02040503050406030204" pitchFamily="18" charset="0"/>
                <a:cs typeface="Calibri" panose="020F0502020204030204" pitchFamily="34" charset="0"/>
              </a:rPr>
              <a:t>brigades cyclistes de quatre </a:t>
            </a:r>
            <a:r>
              <a:rPr lang="fr-FR" sz="2400" dirty="0" smtClean="0">
                <a:effectLst/>
                <a:latin typeface="Cambria" panose="02040503050406030204" pitchFamily="18" charset="0"/>
                <a:ea typeface="Cambria" panose="02040503050406030204" pitchFamily="18" charset="0"/>
                <a:cs typeface="Calibri" panose="020F0502020204030204" pitchFamily="34" charset="0"/>
              </a:rPr>
              <a:t>agents par </a:t>
            </a:r>
            <a:r>
              <a:rPr lang="fr-FR" sz="2400" dirty="0" smtClean="0">
                <a:latin typeface="Cambria" panose="02040503050406030204" pitchFamily="18" charset="0"/>
                <a:ea typeface="Cambria" panose="02040503050406030204" pitchFamily="18" charset="0"/>
                <a:cs typeface="Calibri" panose="020F0502020204030204" pitchFamily="34" charset="0"/>
              </a:rPr>
              <a:t>arrondissement </a:t>
            </a:r>
            <a:r>
              <a:rPr lang="fr-FR" sz="2400" dirty="0" smtClean="0">
                <a:effectLst/>
                <a:latin typeface="Cambria" panose="02040503050406030204" pitchFamily="18" charset="0"/>
                <a:ea typeface="Cambria" panose="02040503050406030204" pitchFamily="18" charset="0"/>
                <a:cs typeface="Calibri" panose="020F0502020204030204" pitchFamily="34" charset="0"/>
              </a:rPr>
              <a:t>placés </a:t>
            </a:r>
            <a:r>
              <a:rPr lang="fr-FR" sz="2400" dirty="0">
                <a:effectLst/>
                <a:latin typeface="Cambria" panose="02040503050406030204" pitchFamily="18" charset="0"/>
                <a:ea typeface="Cambria" panose="02040503050406030204" pitchFamily="18" charset="0"/>
                <a:cs typeface="Calibri" panose="020F0502020204030204" pitchFamily="34" charset="0"/>
              </a:rPr>
              <a:t>sous l'autorité d'un sous-brigadier. </a:t>
            </a:r>
            <a:endParaRPr lang="fr-FR" sz="2400" dirty="0" smtClean="0">
              <a:effectLst/>
              <a:latin typeface="Cambria" panose="02040503050406030204" pitchFamily="18" charset="0"/>
              <a:ea typeface="Cambria" panose="02040503050406030204" pitchFamily="18" charset="0"/>
              <a:cs typeface="Calibri" panose="020F0502020204030204" pitchFamily="34" charset="0"/>
            </a:endParaRPr>
          </a:p>
          <a:p>
            <a:pPr algn="just">
              <a:lnSpc>
                <a:spcPct val="115000"/>
              </a:lnSpc>
              <a:spcAft>
                <a:spcPts val="1000"/>
              </a:spcAft>
            </a:pPr>
            <a:r>
              <a:rPr lang="fr-FR" sz="2400" dirty="0" smtClean="0">
                <a:effectLst/>
                <a:latin typeface="Cambria" panose="02040503050406030204" pitchFamily="18" charset="0"/>
                <a:ea typeface="Cambria" panose="02040503050406030204" pitchFamily="18" charset="0"/>
                <a:cs typeface="Calibri" panose="020F0502020204030204" pitchFamily="34" charset="0"/>
              </a:rPr>
              <a:t>Ils </a:t>
            </a:r>
            <a:r>
              <a:rPr lang="fr-FR" sz="2400" dirty="0">
                <a:effectLst/>
                <a:latin typeface="Cambria" panose="02040503050406030204" pitchFamily="18" charset="0"/>
                <a:ea typeface="Cambria" panose="02040503050406030204" pitchFamily="18" charset="0"/>
                <a:cs typeface="Calibri" panose="020F0502020204030204" pitchFamily="34" charset="0"/>
              </a:rPr>
              <a:t>achetaient leur propre vélo (toujours, de marque hirondelle) pour lequel une indemnité leur était versée. </a:t>
            </a:r>
            <a:endParaRPr lang="fr-FR" sz="2400" dirty="0" smtClean="0">
              <a:effectLst/>
              <a:latin typeface="Cambria" panose="02040503050406030204" pitchFamily="18" charset="0"/>
              <a:ea typeface="Cambria" panose="02040503050406030204" pitchFamily="18" charset="0"/>
              <a:cs typeface="Calibri" panose="020F0502020204030204" pitchFamily="34" charset="0"/>
            </a:endParaRPr>
          </a:p>
          <a:p>
            <a:pPr algn="just">
              <a:lnSpc>
                <a:spcPct val="115000"/>
              </a:lnSpc>
              <a:spcAft>
                <a:spcPts val="1000"/>
              </a:spcAft>
            </a:pPr>
            <a:endParaRPr lang="fr-FR" sz="2400" dirty="0">
              <a:effectLst/>
              <a:latin typeface="Cambria" panose="02040503050406030204" pitchFamily="18" charset="0"/>
              <a:ea typeface="Cambria" panose="02040503050406030204" pitchFamily="18" charset="0"/>
              <a:cs typeface="Calibri" panose="020F0502020204030204" pitchFamily="34" charset="0"/>
            </a:endParaRPr>
          </a:p>
          <a:p>
            <a:pPr algn="just">
              <a:lnSpc>
                <a:spcPct val="115000"/>
              </a:lnSpc>
              <a:spcAft>
                <a:spcPts val="1000"/>
              </a:spcAft>
            </a:pPr>
            <a:r>
              <a:rPr lang="fr-FR" sz="2400" dirty="0">
                <a:effectLst/>
                <a:latin typeface="Cambria" panose="02040503050406030204" pitchFamily="18" charset="0"/>
                <a:ea typeface="Cambria" panose="02040503050406030204" pitchFamily="18" charset="0"/>
                <a:cs typeface="Calibri" panose="020F0502020204030204" pitchFamily="34" charset="0"/>
              </a:rPr>
              <a:t>Début des années 1950, </a:t>
            </a:r>
            <a:r>
              <a:rPr lang="fr-FR" sz="2400" b="1" dirty="0">
                <a:effectLst/>
                <a:latin typeface="Cambria" panose="02040503050406030204" pitchFamily="18" charset="0"/>
                <a:ea typeface="Cambria" panose="02040503050406030204" pitchFamily="18" charset="0"/>
                <a:cs typeface="Calibri" panose="020F0502020204030204" pitchFamily="34" charset="0"/>
              </a:rPr>
              <a:t>2 819 « hirondelles </a:t>
            </a:r>
            <a:r>
              <a:rPr lang="fr-FR" sz="2400" dirty="0">
                <a:effectLst/>
                <a:latin typeface="Cambria" panose="02040503050406030204" pitchFamily="18" charset="0"/>
                <a:ea typeface="Cambria" panose="02040503050406030204" pitchFamily="18" charset="0"/>
                <a:cs typeface="Calibri" panose="020F0502020204030204" pitchFamily="34" charset="0"/>
              </a:rPr>
              <a:t>» à Paris et </a:t>
            </a:r>
            <a:r>
              <a:rPr lang="fr-FR" sz="2400" b="1" dirty="0">
                <a:effectLst/>
                <a:latin typeface="Cambria" panose="02040503050406030204" pitchFamily="18" charset="0"/>
                <a:ea typeface="Cambria" panose="02040503050406030204" pitchFamily="18" charset="0"/>
                <a:cs typeface="Calibri" panose="020F0502020204030204" pitchFamily="34" charset="0"/>
              </a:rPr>
              <a:t>2</a:t>
            </a:r>
            <a:r>
              <a:rPr lang="fr-FR" sz="2400" dirty="0">
                <a:effectLst/>
                <a:latin typeface="Cambria" panose="02040503050406030204" pitchFamily="18" charset="0"/>
                <a:ea typeface="Cambria" panose="02040503050406030204" pitchFamily="18" charset="0"/>
                <a:cs typeface="Calibri" panose="020F0502020204030204" pitchFamily="34" charset="0"/>
              </a:rPr>
              <a:t> </a:t>
            </a:r>
            <a:r>
              <a:rPr lang="fr-FR" sz="2400" b="1" dirty="0">
                <a:effectLst/>
                <a:latin typeface="Cambria" panose="02040503050406030204" pitchFamily="18" charset="0"/>
                <a:ea typeface="Cambria" panose="02040503050406030204" pitchFamily="18" charset="0"/>
                <a:cs typeface="Calibri" panose="020F0502020204030204" pitchFamily="34" charset="0"/>
              </a:rPr>
              <a:t>644</a:t>
            </a:r>
            <a:r>
              <a:rPr lang="fr-FR" sz="2400" dirty="0">
                <a:effectLst/>
                <a:latin typeface="Cambria" panose="02040503050406030204" pitchFamily="18" charset="0"/>
                <a:ea typeface="Cambria" panose="02040503050406030204" pitchFamily="18" charset="0"/>
                <a:cs typeface="Calibri" panose="020F0502020204030204" pitchFamily="34" charset="0"/>
              </a:rPr>
              <a:t>, hors de Paris dans le département de la Seine. </a:t>
            </a:r>
            <a:r>
              <a:rPr lang="fr-FR" sz="2400" dirty="0" smtClean="0">
                <a:latin typeface="Cambria" panose="02040503050406030204" pitchFamily="18" charset="0"/>
                <a:ea typeface="Cambria" panose="02040503050406030204" pitchFamily="18" charset="0"/>
                <a:cs typeface="Calibri" panose="020F0502020204030204" pitchFamily="34" charset="0"/>
              </a:rPr>
              <a:t>M</a:t>
            </a:r>
            <a:r>
              <a:rPr lang="fr-FR" sz="2400" dirty="0" smtClean="0">
                <a:effectLst/>
                <a:latin typeface="Cambria" panose="02040503050406030204" pitchFamily="18" charset="0"/>
                <a:ea typeface="Cambria" panose="02040503050406030204" pitchFamily="18" charset="0"/>
                <a:cs typeface="Calibri" panose="020F0502020204030204" pitchFamily="34" charset="0"/>
              </a:rPr>
              <a:t>otocyclistes </a:t>
            </a:r>
            <a:r>
              <a:rPr lang="fr-FR" sz="2400" dirty="0">
                <a:effectLst/>
                <a:latin typeface="Cambria" panose="02040503050406030204" pitchFamily="18" charset="0"/>
                <a:ea typeface="Cambria" panose="02040503050406030204" pitchFamily="18" charset="0"/>
                <a:cs typeface="Calibri" panose="020F0502020204030204" pitchFamily="34" charset="0"/>
              </a:rPr>
              <a:t>dans les </a:t>
            </a:r>
            <a:r>
              <a:rPr lang="fr-FR" sz="2400" strike="noStrike" dirty="0">
                <a:effectLst/>
                <a:latin typeface="Cambria" panose="02040503050406030204" pitchFamily="18" charset="0"/>
                <a:ea typeface="Cambria" panose="02040503050406030204" pitchFamily="18" charset="0"/>
                <a:cs typeface="Calibri" panose="020F0502020204030204" pitchFamily="34" charset="0"/>
              </a:rPr>
              <a:t>années 1960/1970, </a:t>
            </a:r>
            <a:r>
              <a:rPr lang="fr-FR" sz="2400" dirty="0">
                <a:effectLst/>
                <a:latin typeface="Cambria" panose="02040503050406030204" pitchFamily="18" charset="0"/>
                <a:ea typeface="Cambria" panose="02040503050406030204" pitchFamily="18" charset="0"/>
                <a:cs typeface="Calibri" panose="020F0502020204030204" pitchFamily="34" charset="0"/>
              </a:rPr>
              <a:t> </a:t>
            </a:r>
            <a:r>
              <a:rPr lang="fr-FR" sz="2400" dirty="0" smtClean="0">
                <a:effectLst/>
                <a:latin typeface="Cambria" panose="02040503050406030204" pitchFamily="18" charset="0"/>
                <a:ea typeface="Cambria" panose="02040503050406030204" pitchFamily="18" charset="0"/>
                <a:cs typeface="Calibri" panose="020F0502020204030204" pitchFamily="34" charset="0"/>
              </a:rPr>
              <a:t>les «</a:t>
            </a:r>
            <a:r>
              <a:rPr lang="fr-FR" sz="2400" dirty="0">
                <a:effectLst/>
                <a:latin typeface="Cambria" panose="02040503050406030204" pitchFamily="18" charset="0"/>
                <a:ea typeface="Cambria" panose="02040503050406030204" pitchFamily="18" charset="0"/>
                <a:cs typeface="Calibri" panose="020F0502020204030204" pitchFamily="34" charset="0"/>
              </a:rPr>
              <a:t> hirondelles » ont </a:t>
            </a:r>
            <a:r>
              <a:rPr lang="fr-FR" sz="2400" dirty="0" smtClean="0">
                <a:effectLst/>
                <a:latin typeface="Cambria" panose="02040503050406030204" pitchFamily="18" charset="0"/>
                <a:ea typeface="Cambria" panose="02040503050406030204" pitchFamily="18" charset="0"/>
                <a:cs typeface="Calibri" panose="020F0502020204030204" pitchFamily="34" charset="0"/>
              </a:rPr>
              <a:t>décliné, </a:t>
            </a:r>
            <a:r>
              <a:rPr lang="fr-FR" sz="2400" dirty="0">
                <a:effectLst/>
                <a:latin typeface="Cambria" panose="02040503050406030204" pitchFamily="18" charset="0"/>
                <a:ea typeface="Cambria" panose="02040503050406030204" pitchFamily="18" charset="0"/>
                <a:cs typeface="Calibri" panose="020F0502020204030204" pitchFamily="34" charset="0"/>
              </a:rPr>
              <a:t>puis disparu en </a:t>
            </a:r>
            <a:r>
              <a:rPr lang="fr-FR" sz="2400" dirty="0" smtClean="0">
                <a:latin typeface="Cambria" panose="02040503050406030204" pitchFamily="18" charset="0"/>
                <a:ea typeface="Cambria" panose="02040503050406030204" pitchFamily="18" charset="0"/>
                <a:cs typeface="Calibri" panose="020F0502020204030204" pitchFamily="34" charset="0"/>
              </a:rPr>
              <a:t>1984.</a:t>
            </a:r>
            <a:endParaRPr lang="fr-FR" sz="2400" dirty="0">
              <a:effectLst/>
              <a:latin typeface="Cambria" panose="02040503050406030204" pitchFamily="18" charset="0"/>
              <a:ea typeface="Cambria" panose="02040503050406030204" pitchFamily="18" charset="0"/>
              <a:cs typeface="Times New Roman" panose="02020603050405020304" pitchFamily="18" charset="0"/>
            </a:endParaRPr>
          </a:p>
        </p:txBody>
      </p:sp>
      <p:pic>
        <p:nvPicPr>
          <p:cNvPr id="6" name="Image 5" descr="DES &quot; HIRONDELLES &quot; DANS LA POLICE - LE PIETON DE PARIS">
            <a:extLst>
              <a:ext uri="{FF2B5EF4-FFF2-40B4-BE49-F238E27FC236}">
                <a16:creationId xmlns:a16="http://schemas.microsoft.com/office/drawing/2014/main" id="{4A650F77-21F7-4216-8B10-45C83CC4C95E}"/>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6098" y="1089445"/>
            <a:ext cx="2771636" cy="2303163"/>
          </a:xfrm>
          <a:prstGeom prst="rect">
            <a:avLst/>
          </a:prstGeom>
          <a:noFill/>
          <a:ln>
            <a:noFill/>
          </a:ln>
        </p:spPr>
      </p:pic>
      <p:pic>
        <p:nvPicPr>
          <p:cNvPr id="7" name="Picture 2" descr="Devenir policier à la brigade motocycliste : salaire, missions - Fiche  métier">
            <a:extLst>
              <a:ext uri="{FF2B5EF4-FFF2-40B4-BE49-F238E27FC236}">
                <a16:creationId xmlns:a16="http://schemas.microsoft.com/office/drawing/2014/main" id="{E3A0CBB3-B913-4773-BD1E-2018E9ABE0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83653" y="3984205"/>
            <a:ext cx="2676525" cy="1784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19455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13</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3" name="Titre 2">
            <a:extLst>
              <a:ext uri="{FF2B5EF4-FFF2-40B4-BE49-F238E27FC236}">
                <a16:creationId xmlns:a16="http://schemas.microsoft.com/office/drawing/2014/main" id="{5B680634-3242-4325-AA94-6F2D4BE41756}"/>
              </a:ext>
            </a:extLst>
          </p:cNvPr>
          <p:cNvSpPr>
            <a:spLocks noGrp="1"/>
          </p:cNvSpPr>
          <p:nvPr>
            <p:ph type="title"/>
          </p:nvPr>
        </p:nvSpPr>
        <p:spPr/>
        <p:txBody>
          <a:bodyPr/>
          <a:lstStyle/>
          <a:p>
            <a:r>
              <a:rPr lang="fr-FR" sz="2400" dirty="0">
                <a:solidFill>
                  <a:schemeClr val="accent4"/>
                </a:solidFill>
                <a:latin typeface="Cambria" panose="02040503050406030204" pitchFamily="18" charset="0"/>
                <a:ea typeface="Cambria" panose="02040503050406030204" pitchFamily="18" charset="0"/>
              </a:rPr>
              <a:t>Histoire de la police de proximité</a:t>
            </a:r>
          </a:p>
        </p:txBody>
      </p:sp>
      <p:sp>
        <p:nvSpPr>
          <p:cNvPr id="11" name="ZoneTexte 10">
            <a:extLst>
              <a:ext uri="{FF2B5EF4-FFF2-40B4-BE49-F238E27FC236}">
                <a16:creationId xmlns:a16="http://schemas.microsoft.com/office/drawing/2014/main" id="{C0B8B109-9702-4BC5-9DF7-2DC7CA138055}"/>
              </a:ext>
            </a:extLst>
          </p:cNvPr>
          <p:cNvSpPr txBox="1"/>
          <p:nvPr/>
        </p:nvSpPr>
        <p:spPr>
          <a:xfrm>
            <a:off x="632916" y="1076287"/>
            <a:ext cx="7097214" cy="3861570"/>
          </a:xfrm>
          <a:prstGeom prst="rect">
            <a:avLst/>
          </a:prstGeom>
          <a:noFill/>
        </p:spPr>
        <p:txBody>
          <a:bodyPr wrap="square">
            <a:spAutoFit/>
          </a:bodyPr>
          <a:lstStyle/>
          <a:p>
            <a:pPr algn="just">
              <a:lnSpc>
                <a:spcPct val="115000"/>
              </a:lnSpc>
              <a:spcAft>
                <a:spcPts val="1000"/>
              </a:spcAft>
            </a:pPr>
            <a:r>
              <a:rPr lang="fr-FR" sz="2400" dirty="0">
                <a:effectLst/>
                <a:latin typeface="Cambria" panose="02040503050406030204" pitchFamily="18" charset="0"/>
                <a:ea typeface="Cambria" panose="02040503050406030204" pitchFamily="18" charset="0"/>
                <a:cs typeface="Calibri" panose="020F0502020204030204" pitchFamily="34" charset="0"/>
              </a:rPr>
              <a:t>Depuis </a:t>
            </a:r>
            <a:r>
              <a:rPr lang="fr-FR" sz="2400" dirty="0" smtClean="0">
                <a:effectLst/>
                <a:latin typeface="Cambria" panose="02040503050406030204" pitchFamily="18" charset="0"/>
                <a:ea typeface="Cambria" panose="02040503050406030204" pitchFamily="18" charset="0"/>
                <a:cs typeface="Calibri" panose="020F0502020204030204" pitchFamily="34" charset="0"/>
              </a:rPr>
              <a:t>1982, des </a:t>
            </a:r>
            <a:r>
              <a:rPr lang="fr-FR" sz="2400" dirty="0">
                <a:effectLst/>
                <a:latin typeface="Cambria" panose="02040503050406030204" pitchFamily="18" charset="0"/>
                <a:ea typeface="Cambria" panose="02040503050406030204" pitchFamily="18" charset="0"/>
                <a:cs typeface="Calibri" panose="020F0502020204030204" pitchFamily="34" charset="0"/>
              </a:rPr>
              <a:t>vététistes au sein de la police nationale et de la police municipale, en banlieue parisienne et dans les villes de province. </a:t>
            </a:r>
          </a:p>
          <a:p>
            <a:pPr algn="just">
              <a:lnSpc>
                <a:spcPct val="115000"/>
              </a:lnSpc>
              <a:spcAft>
                <a:spcPts val="1000"/>
              </a:spcAft>
            </a:pPr>
            <a:endParaRPr lang="fr-FR" sz="2800" dirty="0">
              <a:latin typeface="+mj-lt"/>
              <a:ea typeface="Times New Roman" panose="02020603050405020304" pitchFamily="18" charset="0"/>
              <a:cs typeface="Calibri" panose="020F0502020204030204" pitchFamily="34" charset="0"/>
            </a:endParaRPr>
          </a:p>
          <a:p>
            <a:pPr algn="just">
              <a:lnSpc>
                <a:spcPct val="115000"/>
              </a:lnSpc>
              <a:spcAft>
                <a:spcPts val="1000"/>
              </a:spcAft>
            </a:pPr>
            <a:endParaRPr lang="fr-FR" sz="2800" dirty="0">
              <a:effectLst/>
              <a:latin typeface="+mj-lt"/>
              <a:ea typeface="Times New Roman" panose="02020603050405020304" pitchFamily="18" charset="0"/>
              <a:cs typeface="Calibri" panose="020F0502020204030204" pitchFamily="34" charset="0"/>
            </a:endParaRPr>
          </a:p>
          <a:p>
            <a:pPr algn="just">
              <a:lnSpc>
                <a:spcPct val="115000"/>
              </a:lnSpc>
              <a:spcAft>
                <a:spcPts val="1000"/>
              </a:spcAft>
            </a:pPr>
            <a:endParaRPr lang="fr-FR" sz="2800" dirty="0">
              <a:latin typeface="+mj-lt"/>
              <a:ea typeface="Times New Roman" panose="02020603050405020304" pitchFamily="18" charset="0"/>
              <a:cs typeface="Calibri" panose="020F0502020204030204" pitchFamily="34" charset="0"/>
            </a:endParaRPr>
          </a:p>
          <a:p>
            <a:pPr algn="just">
              <a:lnSpc>
                <a:spcPct val="115000"/>
              </a:lnSpc>
              <a:spcAft>
                <a:spcPts val="1000"/>
              </a:spcAft>
            </a:pPr>
            <a:endParaRPr lang="fr-FR" sz="2800" dirty="0">
              <a:effectLst/>
              <a:latin typeface="+mj-lt"/>
              <a:ea typeface="Times New Roman" panose="02020603050405020304" pitchFamily="18" charset="0"/>
              <a:cs typeface="Calibri" panose="020F0502020204030204" pitchFamily="34" charset="0"/>
            </a:endParaRPr>
          </a:p>
        </p:txBody>
      </p:sp>
      <p:pic>
        <p:nvPicPr>
          <p:cNvPr id="1028" name="Picture 4" descr="Paris : le dealer fonce sur un policier à vélo et le renverse - Le Parisien">
            <a:extLst>
              <a:ext uri="{FF2B5EF4-FFF2-40B4-BE49-F238E27FC236}">
                <a16:creationId xmlns:a16="http://schemas.microsoft.com/office/drawing/2014/main" id="{3C7F8905-774A-4B2B-8E29-F3AC72CA8A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5508" y="1148584"/>
            <a:ext cx="3143576" cy="2065455"/>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a:extLst>
              <a:ext uri="{FF2B5EF4-FFF2-40B4-BE49-F238E27FC236}">
                <a16:creationId xmlns:a16="http://schemas.microsoft.com/office/drawing/2014/main" id="{53D83EE5-78C9-4779-9FE9-73FF924AE5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0324" y="3214039"/>
            <a:ext cx="3850671" cy="2795138"/>
          </a:xfrm>
          <a:prstGeom prst="rect">
            <a:avLst/>
          </a:prstGeom>
        </p:spPr>
      </p:pic>
      <p:sp>
        <p:nvSpPr>
          <p:cNvPr id="12" name="ZoneTexte 11">
            <a:extLst>
              <a:ext uri="{FF2B5EF4-FFF2-40B4-BE49-F238E27FC236}">
                <a16:creationId xmlns:a16="http://schemas.microsoft.com/office/drawing/2014/main" id="{8C818E9D-0CAB-4935-A487-79BBE1846501}"/>
              </a:ext>
            </a:extLst>
          </p:cNvPr>
          <p:cNvSpPr txBox="1"/>
          <p:nvPr/>
        </p:nvSpPr>
        <p:spPr>
          <a:xfrm>
            <a:off x="4925152" y="3581462"/>
            <a:ext cx="6295334" cy="2215991"/>
          </a:xfrm>
          <a:prstGeom prst="rect">
            <a:avLst/>
          </a:prstGeom>
          <a:noFill/>
        </p:spPr>
        <p:txBody>
          <a:bodyPr wrap="square">
            <a:spAutoFit/>
          </a:bodyPr>
          <a:lstStyle/>
          <a:p>
            <a:pPr algn="just">
              <a:lnSpc>
                <a:spcPct val="115000"/>
              </a:lnSpc>
              <a:spcAft>
                <a:spcPts val="1000"/>
              </a:spcAft>
            </a:pPr>
            <a:r>
              <a:rPr lang="fr-FR" sz="2400" dirty="0">
                <a:effectLst/>
                <a:latin typeface="Cambria" panose="02040503050406030204" pitchFamily="18" charset="0"/>
                <a:ea typeface="Cambria" panose="02040503050406030204" pitchFamily="18" charset="0"/>
                <a:cs typeface="Calibri" panose="020F0502020204030204" pitchFamily="34" charset="0"/>
              </a:rPr>
              <a:t>Des policiers en </a:t>
            </a:r>
            <a:r>
              <a:rPr lang="fr-FR" sz="2400" dirty="0" smtClean="0">
                <a:effectLst/>
                <a:latin typeface="Cambria" panose="02040503050406030204" pitchFamily="18" charset="0"/>
                <a:ea typeface="Cambria" panose="02040503050406030204" pitchFamily="18" charset="0"/>
                <a:cs typeface="Calibri" panose="020F0502020204030204" pitchFamily="34" charset="0"/>
              </a:rPr>
              <a:t>V.T.T. </a:t>
            </a:r>
            <a:r>
              <a:rPr lang="fr-FR" sz="2400" dirty="0">
                <a:effectLst/>
                <a:latin typeface="Cambria" panose="02040503050406030204" pitchFamily="18" charset="0"/>
                <a:ea typeface="Cambria" panose="02040503050406030204" pitchFamily="18" charset="0"/>
                <a:cs typeface="Calibri" panose="020F0502020204030204" pitchFamily="34" charset="0"/>
              </a:rPr>
              <a:t>circulent ainsi dans la capitale depuis 1990, leur mobilité leur permettant de pénétrer dans des zones difficilement accessibles aux brigades motorisées. </a:t>
            </a:r>
            <a:endParaRPr lang="fr-FR" sz="2400" dirty="0">
              <a:effectLst/>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94504419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14</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3" name="Titre 2">
            <a:extLst>
              <a:ext uri="{FF2B5EF4-FFF2-40B4-BE49-F238E27FC236}">
                <a16:creationId xmlns:a16="http://schemas.microsoft.com/office/drawing/2014/main" id="{5B680634-3242-4325-AA94-6F2D4BE41756}"/>
              </a:ext>
            </a:extLst>
          </p:cNvPr>
          <p:cNvSpPr>
            <a:spLocks noGrp="1"/>
          </p:cNvSpPr>
          <p:nvPr>
            <p:ph type="title"/>
          </p:nvPr>
        </p:nvSpPr>
        <p:spPr/>
        <p:txBody>
          <a:bodyPr/>
          <a:lstStyle/>
          <a:p>
            <a:r>
              <a:rPr lang="fr-FR" sz="2400" dirty="0">
                <a:solidFill>
                  <a:schemeClr val="accent4"/>
                </a:solidFill>
                <a:latin typeface="Cambria" panose="02040503050406030204" pitchFamily="18" charset="0"/>
                <a:ea typeface="Cambria" panose="02040503050406030204" pitchFamily="18" charset="0"/>
              </a:rPr>
              <a:t>Histoire de la police de proximité</a:t>
            </a:r>
          </a:p>
        </p:txBody>
      </p:sp>
      <p:sp>
        <p:nvSpPr>
          <p:cNvPr id="6" name="ZoneTexte 5">
            <a:extLst>
              <a:ext uri="{FF2B5EF4-FFF2-40B4-BE49-F238E27FC236}">
                <a16:creationId xmlns:a16="http://schemas.microsoft.com/office/drawing/2014/main" id="{ECE96572-9BA2-47BE-947C-524CFE8A2D12}"/>
              </a:ext>
            </a:extLst>
          </p:cNvPr>
          <p:cNvSpPr txBox="1"/>
          <p:nvPr/>
        </p:nvSpPr>
        <p:spPr>
          <a:xfrm>
            <a:off x="0" y="1125933"/>
            <a:ext cx="12115800" cy="4627934"/>
          </a:xfrm>
          <a:prstGeom prst="rect">
            <a:avLst/>
          </a:prstGeom>
          <a:noFill/>
        </p:spPr>
        <p:txBody>
          <a:bodyPr wrap="square">
            <a:spAutoFit/>
          </a:bodyPr>
          <a:lstStyle/>
          <a:p>
            <a:pPr marL="457200" indent="-457200">
              <a:lnSpc>
                <a:spcPct val="115000"/>
              </a:lnSpc>
              <a:spcAft>
                <a:spcPts val="1000"/>
              </a:spcAft>
              <a:buFont typeface="Wingdings" panose="05000000000000000000" pitchFamily="2" charset="2"/>
              <a:buChar char="q"/>
            </a:pPr>
            <a:r>
              <a:rPr lang="fr-FR" sz="2400" b="1" u="sng" dirty="0">
                <a:latin typeface="Cambria" panose="02040503050406030204" pitchFamily="18" charset="0"/>
                <a:ea typeface="Cambria" panose="02040503050406030204" pitchFamily="18" charset="0"/>
                <a:cs typeface="Calibri" panose="020F0502020204030204" pitchFamily="34" charset="0"/>
              </a:rPr>
              <a:t>Colloque de Villepinte octobre 1997 </a:t>
            </a:r>
            <a:endParaRPr lang="fr-FR" sz="2400" dirty="0">
              <a:latin typeface="Cambria" panose="02040503050406030204" pitchFamily="18" charset="0"/>
              <a:ea typeface="Cambria" panose="02040503050406030204" pitchFamily="18" charset="0"/>
              <a:cs typeface="Calibri" panose="020F0502020204030204" pitchFamily="34" charset="0"/>
            </a:endParaRPr>
          </a:p>
          <a:p>
            <a:pPr>
              <a:lnSpc>
                <a:spcPct val="115000"/>
              </a:lnSpc>
              <a:spcAft>
                <a:spcPts val="1000"/>
              </a:spcAft>
            </a:pPr>
            <a:r>
              <a:rPr lang="fr-FR" sz="2400" b="1" dirty="0" smtClean="0">
                <a:latin typeface="Cambria" panose="02040503050406030204" pitchFamily="18" charset="0"/>
                <a:ea typeface="Cambria" panose="02040503050406030204" pitchFamily="18" charset="0"/>
                <a:cs typeface="Calibri" panose="020F0502020204030204" pitchFamily="34" charset="0"/>
              </a:rPr>
              <a:t>Instauration </a:t>
            </a:r>
            <a:r>
              <a:rPr lang="fr-FR" sz="2400" b="1" dirty="0">
                <a:latin typeface="Cambria" panose="02040503050406030204" pitchFamily="18" charset="0"/>
                <a:ea typeface="Cambria" panose="02040503050406030204" pitchFamily="18" charset="0"/>
                <a:cs typeface="Calibri" panose="020F0502020204030204" pitchFamily="34" charset="0"/>
              </a:rPr>
              <a:t>de l</a:t>
            </a:r>
            <a:r>
              <a:rPr lang="fr-FR" sz="2400" b="1" dirty="0">
                <a:effectLst/>
                <a:latin typeface="Cambria" panose="02040503050406030204" pitchFamily="18" charset="0"/>
                <a:ea typeface="Cambria" panose="02040503050406030204" pitchFamily="18" charset="0"/>
                <a:cs typeface="Calibri" panose="020F0502020204030204" pitchFamily="34" charset="0"/>
              </a:rPr>
              <a:t>a police de proximité comme une doctrine d'emploi de la police nationale </a:t>
            </a:r>
            <a:r>
              <a:rPr lang="fr-FR" sz="2400" b="1" dirty="0" smtClean="0">
                <a:effectLst/>
                <a:latin typeface="Cambria" panose="02040503050406030204" pitchFamily="18" charset="0"/>
                <a:ea typeface="Cambria" panose="02040503050406030204" pitchFamily="18" charset="0"/>
                <a:cs typeface="Calibri" panose="020F0502020204030204" pitchFamily="34" charset="0"/>
              </a:rPr>
              <a:t>à </a:t>
            </a:r>
            <a:r>
              <a:rPr lang="fr-FR" sz="2400" b="1" dirty="0">
                <a:effectLst/>
                <a:latin typeface="Cambria" panose="02040503050406030204" pitchFamily="18" charset="0"/>
                <a:ea typeface="Cambria" panose="02040503050406030204" pitchFamily="18" charset="0"/>
                <a:cs typeface="Calibri" panose="020F0502020204030204" pitchFamily="34" charset="0"/>
              </a:rPr>
              <a:t>partir de 1998 par le </a:t>
            </a:r>
            <a:r>
              <a:rPr lang="fr-FR" sz="2400" b="1" dirty="0">
                <a:latin typeface="Cambria" panose="02040503050406030204" pitchFamily="18" charset="0"/>
                <a:ea typeface="Cambria" panose="02040503050406030204" pitchFamily="18" charset="0"/>
                <a:cs typeface="Calibri" panose="020F0502020204030204" pitchFamily="34" charset="0"/>
              </a:rPr>
              <a:t>gouvernement de Lionel </a:t>
            </a:r>
            <a:r>
              <a:rPr lang="fr-FR" sz="2400" b="1" dirty="0" smtClean="0">
                <a:latin typeface="Cambria" panose="02040503050406030204" pitchFamily="18" charset="0"/>
                <a:ea typeface="Cambria" panose="02040503050406030204" pitchFamily="18" charset="0"/>
                <a:cs typeface="Calibri" panose="020F0502020204030204" pitchFamily="34" charset="0"/>
              </a:rPr>
              <a:t>Jospin.</a:t>
            </a:r>
          </a:p>
          <a:p>
            <a:pPr>
              <a:lnSpc>
                <a:spcPct val="115000"/>
              </a:lnSpc>
              <a:spcAft>
                <a:spcPts val="1000"/>
              </a:spcAft>
            </a:pPr>
            <a:endParaRPr lang="fr-FR" sz="2400" b="1" dirty="0">
              <a:latin typeface="Cambria" panose="02040503050406030204" pitchFamily="18" charset="0"/>
              <a:ea typeface="Cambria" panose="02040503050406030204" pitchFamily="18" charset="0"/>
              <a:cs typeface="Calibri" panose="020F0502020204030204" pitchFamily="34" charset="0"/>
            </a:endParaRPr>
          </a:p>
          <a:p>
            <a:pPr marL="457200" indent="-457200">
              <a:lnSpc>
                <a:spcPct val="115000"/>
              </a:lnSpc>
              <a:spcAft>
                <a:spcPts val="1000"/>
              </a:spcAft>
              <a:buFont typeface="Wingdings" panose="05000000000000000000" pitchFamily="2" charset="2"/>
              <a:buChar char="q"/>
            </a:pPr>
            <a:r>
              <a:rPr lang="fr-FR" sz="2000" dirty="0" smtClean="0">
                <a:latin typeface="Cambria" panose="02040503050406030204" pitchFamily="18" charset="0"/>
                <a:ea typeface="Cambria" panose="02040503050406030204" pitchFamily="18" charset="0"/>
                <a:cs typeface="Calibri" panose="020F0502020204030204" pitchFamily="34" charset="0"/>
              </a:rPr>
              <a:t>J.-P</a:t>
            </a:r>
            <a:r>
              <a:rPr lang="fr-FR" sz="2000" dirty="0">
                <a:latin typeface="Cambria" panose="02040503050406030204" pitchFamily="18" charset="0"/>
                <a:ea typeface="Cambria" panose="02040503050406030204" pitchFamily="18" charset="0"/>
                <a:cs typeface="Calibri" panose="020F0502020204030204" pitchFamily="34" charset="0"/>
              </a:rPr>
              <a:t>. </a:t>
            </a:r>
            <a:r>
              <a:rPr lang="fr-FR" sz="2000" dirty="0" smtClean="0">
                <a:latin typeface="Cambria" panose="02040503050406030204" pitchFamily="18" charset="0"/>
                <a:ea typeface="Cambria" panose="02040503050406030204" pitchFamily="18" charset="0"/>
                <a:cs typeface="Calibri" panose="020F0502020204030204" pitchFamily="34" charset="0"/>
              </a:rPr>
              <a:t>Chevènement, ministre de l’Intérieur : «</a:t>
            </a:r>
            <a:r>
              <a:rPr lang="fr-FR" sz="2000" dirty="0">
                <a:latin typeface="Cambria" panose="02040503050406030204" pitchFamily="18" charset="0"/>
                <a:ea typeface="Cambria" panose="02040503050406030204" pitchFamily="18" charset="0"/>
                <a:cs typeface="Calibri" panose="020F0502020204030204" pitchFamily="34" charset="0"/>
              </a:rPr>
              <a:t> </a:t>
            </a:r>
            <a:r>
              <a:rPr lang="fr-FR" sz="2000" dirty="0" smtClean="0">
                <a:latin typeface="Cambria" panose="02040503050406030204" pitchFamily="18" charset="0"/>
                <a:ea typeface="Cambria" panose="02040503050406030204" pitchFamily="18" charset="0"/>
                <a:cs typeface="Calibri" panose="020F0502020204030204" pitchFamily="34" charset="0"/>
              </a:rPr>
              <a:t>La </a:t>
            </a:r>
            <a:r>
              <a:rPr lang="fr-FR" sz="2000" dirty="0">
                <a:latin typeface="Cambria" panose="02040503050406030204" pitchFamily="18" charset="0"/>
                <a:ea typeface="Cambria" panose="02040503050406030204" pitchFamily="18" charset="0"/>
                <a:cs typeface="Calibri" panose="020F0502020204030204" pitchFamily="34" charset="0"/>
              </a:rPr>
              <a:t>prévention tant qu’on peut le faire et la répression dès que c’est nécessaire ». </a:t>
            </a:r>
          </a:p>
          <a:p>
            <a:pPr marL="914400" lvl="1" indent="-457200">
              <a:spcAft>
                <a:spcPts val="1000"/>
              </a:spcAft>
              <a:buFont typeface="Arial" panose="020B0604020202020204" pitchFamily="34" charset="0"/>
              <a:buChar char="•"/>
            </a:pPr>
            <a:r>
              <a:rPr lang="fr-FR" sz="1900" dirty="0">
                <a:latin typeface="Cambria" panose="02040503050406030204" pitchFamily="18" charset="0"/>
                <a:ea typeface="Cambria" panose="02040503050406030204" pitchFamily="18" charset="0"/>
                <a:cs typeface="Calibri" panose="020F0502020204030204" pitchFamily="34" charset="0"/>
              </a:rPr>
              <a:t>Liée à une politique de territorialisation, </a:t>
            </a:r>
          </a:p>
          <a:p>
            <a:pPr marL="914400" lvl="1" indent="-457200">
              <a:spcAft>
                <a:spcPts val="1000"/>
              </a:spcAft>
              <a:buFont typeface="Arial" panose="020B0604020202020204" pitchFamily="34" charset="0"/>
              <a:buChar char="•"/>
            </a:pPr>
            <a:r>
              <a:rPr lang="fr-FR" sz="1900" dirty="0" smtClean="0">
                <a:latin typeface="Cambria" panose="02040503050406030204" pitchFamily="18" charset="0"/>
                <a:ea typeface="Cambria" panose="02040503050406030204" pitchFamily="18" charset="0"/>
                <a:cs typeface="Calibri" panose="020F0502020204030204" pitchFamily="34" charset="0"/>
              </a:rPr>
              <a:t>Une police </a:t>
            </a:r>
            <a:r>
              <a:rPr lang="fr-FR" sz="1900" dirty="0">
                <a:latin typeface="Cambria" panose="02040503050406030204" pitchFamily="18" charset="0"/>
                <a:ea typeface="Cambria" panose="02040503050406030204" pitchFamily="18" charset="0"/>
                <a:cs typeface="Calibri" panose="020F0502020204030204" pitchFamily="34" charset="0"/>
              </a:rPr>
              <a:t>préventive, dissuasive et répressive.  </a:t>
            </a:r>
          </a:p>
          <a:p>
            <a:pPr marL="914400" lvl="1" indent="-457200">
              <a:spcAft>
                <a:spcPts val="1000"/>
              </a:spcAft>
              <a:buFont typeface="Arial" panose="020B0604020202020204" pitchFamily="34" charset="0"/>
              <a:buChar char="•"/>
            </a:pPr>
            <a:r>
              <a:rPr lang="fr-FR" sz="1900" dirty="0">
                <a:latin typeface="Cambria" panose="02040503050406030204" pitchFamily="18" charset="0"/>
                <a:ea typeface="Cambria" panose="02040503050406030204" pitchFamily="18" charset="0"/>
                <a:cs typeface="Calibri" panose="020F0502020204030204" pitchFamily="34" charset="0"/>
              </a:rPr>
              <a:t>Prérogatives de </a:t>
            </a:r>
            <a:r>
              <a:rPr lang="fr-FR" sz="1900" dirty="0" smtClean="0">
                <a:latin typeface="Cambria" panose="02040503050406030204" pitchFamily="18" charset="0"/>
                <a:ea typeface="Cambria" panose="02040503050406030204" pitchFamily="18" charset="0"/>
                <a:cs typeface="Calibri" panose="020F0502020204030204" pitchFamily="34" charset="0"/>
              </a:rPr>
              <a:t>P.J., </a:t>
            </a:r>
            <a:r>
              <a:rPr lang="fr-FR" sz="1900" dirty="0">
                <a:latin typeface="Cambria" panose="02040503050406030204" pitchFamily="18" charset="0"/>
                <a:ea typeface="Cambria" panose="02040503050406030204" pitchFamily="18" charset="0"/>
                <a:cs typeface="Calibri" panose="020F0502020204030204" pitchFamily="34" charset="0"/>
              </a:rPr>
              <a:t>participation aux renseignements et utilisation des techniques de police scientifique </a:t>
            </a:r>
          </a:p>
          <a:p>
            <a:pPr marL="914400" lvl="1" indent="-457200">
              <a:spcAft>
                <a:spcPts val="1000"/>
              </a:spcAft>
              <a:buFont typeface="Arial" panose="020B0604020202020204" pitchFamily="34" charset="0"/>
              <a:buChar char="•"/>
            </a:pPr>
            <a:r>
              <a:rPr lang="fr-FR" sz="1900" dirty="0" smtClean="0">
                <a:latin typeface="Cambria" panose="02040503050406030204" pitchFamily="18" charset="0"/>
                <a:ea typeface="Cambria" panose="02040503050406030204" pitchFamily="18" charset="0"/>
                <a:cs typeface="Calibri" panose="020F0502020204030204" pitchFamily="34" charset="0"/>
              </a:rPr>
              <a:t>Une police qui accompagne </a:t>
            </a:r>
            <a:r>
              <a:rPr lang="fr-FR" sz="1900" dirty="0">
                <a:latin typeface="Cambria" panose="02040503050406030204" pitchFamily="18" charset="0"/>
                <a:ea typeface="Cambria" panose="02040503050406030204" pitchFamily="18" charset="0"/>
                <a:cs typeface="Calibri" panose="020F0502020204030204" pitchFamily="34" charset="0"/>
              </a:rPr>
              <a:t>et aide les victimes (2008</a:t>
            </a:r>
            <a:r>
              <a:rPr lang="fr-FR" sz="1900" dirty="0" smtClean="0">
                <a:latin typeface="Cambria" panose="02040503050406030204" pitchFamily="18" charset="0"/>
                <a:ea typeface="Cambria" panose="02040503050406030204" pitchFamily="18" charset="0"/>
                <a:cs typeface="Calibri" panose="020F0502020204030204" pitchFamily="34" charset="0"/>
              </a:rPr>
              <a:t>).</a:t>
            </a:r>
            <a:endParaRPr lang="fr-FR" sz="1900" dirty="0">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37166709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14DB927-DE7D-4E19-BF9C-011DC8DF75CB}"/>
              </a:ext>
            </a:extLst>
          </p:cNvPr>
          <p:cNvSpPr>
            <a:spLocks noGrp="1"/>
          </p:cNvSpPr>
          <p:nvPr>
            <p:ph type="title"/>
          </p:nvPr>
        </p:nvSpPr>
        <p:spPr>
          <a:xfrm>
            <a:off x="540000" y="360000"/>
            <a:ext cx="10800000" cy="648000"/>
          </a:xfrm>
        </p:spPr>
        <p:txBody>
          <a:bodyPr>
            <a:noAutofit/>
          </a:bodyPr>
          <a:lstStyle/>
          <a:p>
            <a:r>
              <a:rPr lang="fr-FR" sz="2400" dirty="0">
                <a:solidFill>
                  <a:schemeClr val="accent4"/>
                </a:solidFill>
                <a:latin typeface="Cambria" panose="02040503050406030204" pitchFamily="18" charset="0"/>
                <a:ea typeface="Cambria" panose="02040503050406030204" pitchFamily="18" charset="0"/>
              </a:rPr>
              <a:t>Histoire de la police de proximité</a:t>
            </a:r>
          </a:p>
        </p:txBody>
      </p:sp>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15</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9" name="ZoneTexte 8">
            <a:extLst>
              <a:ext uri="{FF2B5EF4-FFF2-40B4-BE49-F238E27FC236}">
                <a16:creationId xmlns:a16="http://schemas.microsoft.com/office/drawing/2014/main" id="{ED0019C4-43C2-41A4-9225-2AAB45BB6E23}"/>
              </a:ext>
            </a:extLst>
          </p:cNvPr>
          <p:cNvSpPr txBox="1"/>
          <p:nvPr/>
        </p:nvSpPr>
        <p:spPr>
          <a:xfrm>
            <a:off x="505301" y="1567857"/>
            <a:ext cx="10797283" cy="2671501"/>
          </a:xfrm>
          <a:prstGeom prst="rect">
            <a:avLst/>
          </a:prstGeom>
          <a:noFill/>
        </p:spPr>
        <p:txBody>
          <a:bodyPr wrap="square">
            <a:spAutoFit/>
          </a:bodyPr>
          <a:lstStyle/>
          <a:p>
            <a:pPr algn="just">
              <a:lnSpc>
                <a:spcPct val="115000"/>
              </a:lnSpc>
              <a:spcAft>
                <a:spcPts val="1000"/>
              </a:spcAft>
            </a:pPr>
            <a:r>
              <a:rPr lang="fr-FR" sz="2400" dirty="0" smtClean="0">
                <a:effectLst/>
                <a:latin typeface="Cambria" panose="02040503050406030204" pitchFamily="18" charset="0"/>
                <a:ea typeface="Cambria" panose="02040503050406030204" pitchFamily="18" charset="0"/>
                <a:cs typeface="Calibri" panose="020F0502020204030204" pitchFamily="34" charset="0"/>
              </a:rPr>
              <a:t>1997</a:t>
            </a:r>
            <a:r>
              <a:rPr lang="fr-FR" sz="2400" dirty="0">
                <a:latin typeface="Cambria" panose="02040503050406030204" pitchFamily="18" charset="0"/>
                <a:ea typeface="Cambria" panose="02040503050406030204" pitchFamily="18" charset="0"/>
                <a:cs typeface="Calibri" panose="020F0502020204030204" pitchFamily="34" charset="0"/>
              </a:rPr>
              <a:t>: le </a:t>
            </a:r>
            <a:r>
              <a:rPr lang="fr-FR" sz="2400" b="1" dirty="0">
                <a:latin typeface="Cambria" panose="02040503050406030204" pitchFamily="18" charset="0"/>
                <a:ea typeface="Cambria" panose="02040503050406030204" pitchFamily="18" charset="0"/>
                <a:cs typeface="Calibri" panose="020F0502020204030204" pitchFamily="34" charset="0"/>
              </a:rPr>
              <a:t>contrat local de sécurité </a:t>
            </a:r>
            <a:r>
              <a:rPr lang="fr-FR" sz="2400" dirty="0" smtClean="0">
                <a:latin typeface="Cambria" panose="02040503050406030204" pitchFamily="18" charset="0"/>
                <a:ea typeface="Cambria" panose="02040503050406030204" pitchFamily="18" charset="0"/>
                <a:cs typeface="Calibri" panose="020F0502020204030204" pitchFamily="34" charset="0"/>
              </a:rPr>
              <a:t>(circulaire du 28 octobre 1997)</a:t>
            </a:r>
            <a:endParaRPr lang="fr-FR" sz="2400" dirty="0">
              <a:latin typeface="Cambria" panose="02040503050406030204" pitchFamily="18" charset="0"/>
              <a:ea typeface="Cambria" panose="02040503050406030204" pitchFamily="18" charset="0"/>
              <a:cs typeface="Times New Roman" panose="02020603050405020304" pitchFamily="18" charset="0"/>
            </a:endParaRPr>
          </a:p>
          <a:p>
            <a:pPr algn="just">
              <a:lnSpc>
                <a:spcPct val="115000"/>
              </a:lnSpc>
              <a:spcAft>
                <a:spcPts val="1000"/>
              </a:spcAft>
            </a:pPr>
            <a:r>
              <a:rPr lang="fr-FR" sz="2000" dirty="0" smtClean="0">
                <a:effectLst/>
                <a:latin typeface="Cambria" panose="02040503050406030204" pitchFamily="18" charset="0"/>
                <a:ea typeface="Cambria" panose="02040503050406030204" pitchFamily="18" charset="0"/>
                <a:cs typeface="Calibri" panose="020F0502020204030204" pitchFamily="34" charset="0"/>
              </a:rPr>
              <a:t>Outil destiné à favoriser une stratégie territoriale cohérente de prévention et de sécurité et la synergie partenariale nécessaire </a:t>
            </a:r>
          </a:p>
          <a:p>
            <a:pPr algn="just">
              <a:lnSpc>
                <a:spcPct val="115000"/>
              </a:lnSpc>
              <a:spcAft>
                <a:spcPts val="1000"/>
              </a:spcAft>
            </a:pPr>
            <a:r>
              <a:rPr lang="fr-FR" sz="2000" dirty="0" smtClean="0">
                <a:latin typeface="Cambria" panose="02040503050406030204" pitchFamily="18" charset="0"/>
                <a:ea typeface="Cambria" panose="02040503050406030204" pitchFamily="18" charset="0"/>
                <a:cs typeface="Calibri" panose="020F0502020204030204" pitchFamily="34" charset="0"/>
              </a:rPr>
              <a:t>Depuis 2009, il est question d’une </a:t>
            </a:r>
            <a:r>
              <a:rPr lang="fr-FR" sz="2000" b="1" dirty="0" smtClean="0">
                <a:latin typeface="Cambria" panose="02040503050406030204" pitchFamily="18" charset="0"/>
                <a:ea typeface="Cambria" panose="02040503050406030204" pitchFamily="18" charset="0"/>
                <a:cs typeface="Calibri" panose="020F0502020204030204" pitchFamily="34" charset="0"/>
              </a:rPr>
              <a:t>stratégie territoriale de sécurité et de prévention de la délinquance (S.T.S.P.D.)</a:t>
            </a:r>
            <a:r>
              <a:rPr lang="fr-FR" sz="2000" dirty="0" smtClean="0">
                <a:latin typeface="Cambria" panose="02040503050406030204" pitchFamily="18" charset="0"/>
                <a:ea typeface="Cambria" panose="02040503050406030204" pitchFamily="18" charset="0"/>
                <a:cs typeface="Calibri" panose="020F0502020204030204" pitchFamily="34" charset="0"/>
              </a:rPr>
              <a:t>.</a:t>
            </a:r>
            <a:endParaRPr lang="fr-FR" sz="2000" dirty="0" smtClean="0">
              <a:effectLst/>
              <a:latin typeface="Cambria" panose="02040503050406030204" pitchFamily="18" charset="0"/>
              <a:ea typeface="Cambria" panose="02040503050406030204" pitchFamily="18" charset="0"/>
              <a:cs typeface="Calibri" panose="020F0502020204030204" pitchFamily="34" charset="0"/>
            </a:endParaRPr>
          </a:p>
          <a:p>
            <a:pPr algn="just">
              <a:lnSpc>
                <a:spcPct val="115000"/>
              </a:lnSpc>
              <a:spcAft>
                <a:spcPts val="1000"/>
              </a:spcAft>
            </a:pPr>
            <a:endParaRPr lang="fr-FR" sz="2000" dirty="0" smtClean="0">
              <a:effectLst/>
              <a:latin typeface="Cambria" panose="02040503050406030204" pitchFamily="18" charset="0"/>
              <a:ea typeface="Cambria" panose="02040503050406030204" pitchFamily="18" charset="0"/>
              <a:cs typeface="Calibri" panose="020F0502020204030204" pitchFamily="34" charset="0"/>
            </a:endParaRPr>
          </a:p>
        </p:txBody>
      </p:sp>
      <p:pic>
        <p:nvPicPr>
          <p:cNvPr id="11" name="Image 10">
            <a:hlinkClick r:id="rId3"/>
            <a:extLst>
              <a:ext uri="{FF2B5EF4-FFF2-40B4-BE49-F238E27FC236}">
                <a16:creationId xmlns:a16="http://schemas.microsoft.com/office/drawing/2014/main" id="{7AEAEC24-BC6D-4BBF-B9EF-599F0D5F3064}"/>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3751462" y="3612631"/>
            <a:ext cx="4043424" cy="2573234"/>
          </a:xfrm>
          <a:prstGeom prst="rect">
            <a:avLst/>
          </a:prstGeom>
          <a:noFill/>
          <a:ln>
            <a:noFill/>
          </a:ln>
        </p:spPr>
      </p:pic>
    </p:spTree>
    <p:extLst>
      <p:ext uri="{BB962C8B-B14F-4D97-AF65-F5344CB8AC3E}">
        <p14:creationId xmlns:p14="http://schemas.microsoft.com/office/powerpoint/2010/main" val="33382411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14DB927-DE7D-4E19-BF9C-011DC8DF75CB}"/>
              </a:ext>
            </a:extLst>
          </p:cNvPr>
          <p:cNvSpPr>
            <a:spLocks noGrp="1"/>
          </p:cNvSpPr>
          <p:nvPr>
            <p:ph type="title"/>
          </p:nvPr>
        </p:nvSpPr>
        <p:spPr>
          <a:xfrm>
            <a:off x="540000" y="360000"/>
            <a:ext cx="10800000" cy="648000"/>
          </a:xfrm>
        </p:spPr>
        <p:txBody>
          <a:bodyPr>
            <a:noAutofit/>
          </a:bodyPr>
          <a:lstStyle/>
          <a:p>
            <a:r>
              <a:rPr lang="fr-FR" sz="2400" dirty="0">
                <a:solidFill>
                  <a:schemeClr val="accent4"/>
                </a:solidFill>
                <a:latin typeface="Cambria" panose="02040503050406030204" pitchFamily="18" charset="0"/>
                <a:ea typeface="Cambria" panose="02040503050406030204" pitchFamily="18" charset="0"/>
                <a:cs typeface="Calibri" panose="020F0502020204030204" pitchFamily="34" charset="0"/>
              </a:rPr>
              <a:t>Eclipse de la police de proximité</a:t>
            </a:r>
          </a:p>
        </p:txBody>
      </p:sp>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16</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7" name="ZoneTexte 6">
            <a:extLst>
              <a:ext uri="{FF2B5EF4-FFF2-40B4-BE49-F238E27FC236}">
                <a16:creationId xmlns:a16="http://schemas.microsoft.com/office/drawing/2014/main" id="{5AC0C207-1C3C-4CB9-8CC5-A804AC9576BA}"/>
              </a:ext>
            </a:extLst>
          </p:cNvPr>
          <p:cNvSpPr txBox="1"/>
          <p:nvPr/>
        </p:nvSpPr>
        <p:spPr>
          <a:xfrm>
            <a:off x="540000" y="1470707"/>
            <a:ext cx="11308197" cy="3790781"/>
          </a:xfrm>
          <a:prstGeom prst="rect">
            <a:avLst/>
          </a:prstGeom>
          <a:noFill/>
        </p:spPr>
        <p:txBody>
          <a:bodyPr wrap="square">
            <a:spAutoFit/>
          </a:bodyPr>
          <a:lstStyle/>
          <a:p>
            <a:pPr marL="342900" indent="-342900" algn="just">
              <a:lnSpc>
                <a:spcPct val="115000"/>
              </a:lnSpc>
              <a:spcAft>
                <a:spcPts val="1000"/>
              </a:spcAft>
              <a:buFont typeface="Wingdings" panose="05000000000000000000" pitchFamily="2" charset="2"/>
              <a:buChar char="q"/>
            </a:pPr>
            <a:r>
              <a:rPr lang="fr-FR" sz="2400" b="1" dirty="0" smtClean="0">
                <a:latin typeface="Cambria" panose="02040503050406030204" pitchFamily="18" charset="0"/>
                <a:ea typeface="Cambria" panose="02040503050406030204" pitchFamily="18" charset="0"/>
                <a:cs typeface="Calibri" panose="020F0502020204030204" pitchFamily="34" charset="0"/>
              </a:rPr>
              <a:t>2003  Nicolas Sarkozy</a:t>
            </a:r>
            <a:r>
              <a:rPr lang="fr-FR" sz="2400" b="1" dirty="0">
                <a:latin typeface="Cambria" panose="02040503050406030204" pitchFamily="18" charset="0"/>
                <a:ea typeface="Cambria" panose="02040503050406030204" pitchFamily="18" charset="0"/>
                <a:cs typeface="Calibri" panose="020F0502020204030204" pitchFamily="34" charset="0"/>
              </a:rPr>
              <a:t>,</a:t>
            </a:r>
            <a:r>
              <a:rPr lang="fr-FR" sz="2400" b="1" dirty="0" smtClean="0">
                <a:effectLst/>
                <a:latin typeface="Cambria" panose="02040503050406030204" pitchFamily="18" charset="0"/>
                <a:ea typeface="Cambria" panose="02040503050406030204" pitchFamily="18" charset="0"/>
                <a:cs typeface="Calibri" panose="020F0502020204030204" pitchFamily="34" charset="0"/>
              </a:rPr>
              <a:t> </a:t>
            </a:r>
            <a:r>
              <a:rPr lang="fr-FR" sz="2400" b="1" dirty="0">
                <a:effectLst/>
                <a:latin typeface="Cambria" panose="02040503050406030204" pitchFamily="18" charset="0"/>
                <a:ea typeface="Cambria" panose="02040503050406030204" pitchFamily="18" charset="0"/>
                <a:cs typeface="Calibri" panose="020F0502020204030204" pitchFamily="34" charset="0"/>
              </a:rPr>
              <a:t>ministre de l'Intérieur :</a:t>
            </a:r>
            <a:endParaRPr lang="fr-FR" sz="2400" b="1" dirty="0">
              <a:latin typeface="Cambria" panose="02040503050406030204" pitchFamily="18" charset="0"/>
              <a:ea typeface="Cambria" panose="02040503050406030204" pitchFamily="18" charset="0"/>
              <a:cs typeface="Calibri" panose="020F0502020204030204" pitchFamily="34" charset="0"/>
            </a:endParaRPr>
          </a:p>
          <a:p>
            <a:pPr algn="just">
              <a:lnSpc>
                <a:spcPct val="115000"/>
              </a:lnSpc>
              <a:spcAft>
                <a:spcPts val="1000"/>
              </a:spcAft>
            </a:pPr>
            <a:r>
              <a:rPr lang="fr-FR" sz="2000" dirty="0">
                <a:latin typeface="Cambria" panose="02040503050406030204" pitchFamily="18" charset="0"/>
                <a:ea typeface="Cambria" panose="02040503050406030204" pitchFamily="18" charset="0"/>
                <a:cs typeface="Calibri" panose="020F0502020204030204" pitchFamily="34" charset="0"/>
              </a:rPr>
              <a:t>(</a:t>
            </a:r>
            <a:r>
              <a:rPr lang="fr-FR" sz="2000" dirty="0" smtClean="0">
                <a:effectLst/>
                <a:latin typeface="Cambria" panose="02040503050406030204" pitchFamily="18" charset="0"/>
                <a:ea typeface="Cambria" panose="02040503050406030204" pitchFamily="18" charset="0"/>
                <a:cs typeface="Calibri" panose="020F0502020204030204" pitchFamily="34" charset="0"/>
              </a:rPr>
              <a:t>s'adressant </a:t>
            </a:r>
            <a:r>
              <a:rPr lang="fr-FR" sz="2000" dirty="0">
                <a:effectLst/>
                <a:latin typeface="Cambria" panose="02040503050406030204" pitchFamily="18" charset="0"/>
                <a:ea typeface="Cambria" panose="02040503050406030204" pitchFamily="18" charset="0"/>
                <a:cs typeface="Calibri" panose="020F0502020204030204" pitchFamily="34" charset="0"/>
              </a:rPr>
              <a:t>aux policiers du commissariat </a:t>
            </a:r>
            <a:r>
              <a:rPr lang="fr-FR" sz="2000" dirty="0" smtClean="0">
                <a:effectLst/>
                <a:latin typeface="Cambria" panose="02040503050406030204" pitchFamily="18" charset="0"/>
                <a:ea typeface="Cambria" panose="02040503050406030204" pitchFamily="18" charset="0"/>
                <a:cs typeface="Calibri" panose="020F0502020204030204" pitchFamily="34" charset="0"/>
              </a:rPr>
              <a:t>du Mirail à </a:t>
            </a:r>
            <a:r>
              <a:rPr lang="fr-FR" sz="2000" dirty="0" smtClean="0">
                <a:latin typeface="Cambria" panose="02040503050406030204" pitchFamily="18" charset="0"/>
                <a:ea typeface="Cambria" panose="02040503050406030204" pitchFamily="18" charset="0"/>
                <a:cs typeface="Calibri" panose="020F0502020204030204" pitchFamily="34" charset="0"/>
              </a:rPr>
              <a:t>Toulouse, ville pilote de la police de proximité, en présence du Directeur départemental de Sécurité Publique de Haute-Garonne Jean-Pierre HAVRIN, lequel sera démis de ses fonctions en 2004)</a:t>
            </a:r>
            <a:endParaRPr lang="fr-FR" sz="2400" dirty="0" smtClean="0">
              <a:effectLst/>
              <a:latin typeface="Cambria" panose="02040503050406030204" pitchFamily="18" charset="0"/>
              <a:ea typeface="Cambria" panose="02040503050406030204" pitchFamily="18" charset="0"/>
              <a:cs typeface="Calibri" panose="020F0502020204030204" pitchFamily="34" charset="0"/>
            </a:endParaRPr>
          </a:p>
          <a:p>
            <a:pPr algn="just">
              <a:lnSpc>
                <a:spcPct val="115000"/>
              </a:lnSpc>
              <a:spcAft>
                <a:spcPts val="1000"/>
              </a:spcAft>
            </a:pPr>
            <a:r>
              <a:rPr lang="fr-FR" sz="2400" b="1" dirty="0" smtClean="0">
                <a:effectLst/>
                <a:latin typeface="Cambria" panose="02040503050406030204" pitchFamily="18" charset="0"/>
                <a:ea typeface="Cambria" panose="02040503050406030204" pitchFamily="18" charset="0"/>
                <a:cs typeface="Calibri" panose="020F0502020204030204" pitchFamily="34" charset="0"/>
              </a:rPr>
              <a:t>«</a:t>
            </a:r>
            <a:r>
              <a:rPr lang="fr-FR" sz="2400" b="1" dirty="0">
                <a:effectLst/>
                <a:latin typeface="Cambria" panose="02040503050406030204" pitchFamily="18" charset="0"/>
                <a:ea typeface="Cambria" panose="02040503050406030204" pitchFamily="18" charset="0"/>
                <a:cs typeface="Calibri" panose="020F0502020204030204" pitchFamily="34" charset="0"/>
              </a:rPr>
              <a:t> </a:t>
            </a:r>
            <a:r>
              <a:rPr lang="fr-FR" sz="2400" b="1" i="1" dirty="0">
                <a:latin typeface="Cambria" panose="02040503050406030204" pitchFamily="18" charset="0"/>
                <a:ea typeface="Cambria" panose="02040503050406030204" pitchFamily="18" charset="0"/>
                <a:cs typeface="Calibri" panose="020F0502020204030204" pitchFamily="34" charset="0"/>
              </a:rPr>
              <a:t>L</a:t>
            </a:r>
            <a:r>
              <a:rPr lang="fr-FR" sz="2400" b="1" i="1" dirty="0" smtClean="0">
                <a:effectLst/>
                <a:latin typeface="Cambria" panose="02040503050406030204" pitchFamily="18" charset="0"/>
                <a:ea typeface="Cambria" panose="02040503050406030204" pitchFamily="18" charset="0"/>
                <a:cs typeface="Calibri" panose="020F0502020204030204" pitchFamily="34" charset="0"/>
              </a:rPr>
              <a:t>a </a:t>
            </a:r>
            <a:r>
              <a:rPr lang="fr-FR" sz="2400" b="1" i="1" dirty="0">
                <a:effectLst/>
                <a:latin typeface="Cambria" panose="02040503050406030204" pitchFamily="18" charset="0"/>
                <a:ea typeface="Cambria" panose="02040503050406030204" pitchFamily="18" charset="0"/>
                <a:cs typeface="Calibri" panose="020F0502020204030204" pitchFamily="34" charset="0"/>
              </a:rPr>
              <a:t>police n’est pas là pour organiser des tournois sportifs, </a:t>
            </a:r>
            <a:r>
              <a:rPr lang="fr-FR" sz="2400" b="1" i="1" dirty="0" smtClean="0">
                <a:effectLst/>
                <a:latin typeface="Cambria" panose="02040503050406030204" pitchFamily="18" charset="0"/>
                <a:ea typeface="Cambria" panose="02040503050406030204" pitchFamily="18" charset="0"/>
                <a:cs typeface="Calibri" panose="020F0502020204030204" pitchFamily="34" charset="0"/>
              </a:rPr>
              <a:t>mais </a:t>
            </a:r>
            <a:r>
              <a:rPr lang="fr-FR" sz="2400" b="1" i="1" dirty="0">
                <a:effectLst/>
                <a:latin typeface="Cambria" panose="02040503050406030204" pitchFamily="18" charset="0"/>
                <a:ea typeface="Cambria" panose="02040503050406030204" pitchFamily="18" charset="0"/>
                <a:cs typeface="Calibri" panose="020F0502020204030204" pitchFamily="34" charset="0"/>
              </a:rPr>
              <a:t>pour arrêter des délinquants, vous n’êtes pas des </a:t>
            </a:r>
            <a:r>
              <a:rPr lang="fr-FR" sz="2400" b="1" i="1" dirty="0" smtClean="0">
                <a:effectLst/>
                <a:latin typeface="Cambria" panose="02040503050406030204" pitchFamily="18" charset="0"/>
                <a:ea typeface="Cambria" panose="02040503050406030204" pitchFamily="18" charset="0"/>
                <a:cs typeface="Calibri" panose="020F0502020204030204" pitchFamily="34" charset="0"/>
              </a:rPr>
              <a:t>travailleurs sociaux </a:t>
            </a:r>
            <a:r>
              <a:rPr lang="fr-FR" sz="2400" b="1" dirty="0" smtClean="0">
                <a:effectLst/>
                <a:latin typeface="Cambria" panose="02040503050406030204" pitchFamily="18" charset="0"/>
                <a:ea typeface="Cambria" panose="02040503050406030204" pitchFamily="18" charset="0"/>
                <a:cs typeface="Calibri" panose="020F0502020204030204" pitchFamily="34" charset="0"/>
              </a:rPr>
              <a:t>». </a:t>
            </a:r>
          </a:p>
          <a:p>
            <a:pPr algn="just">
              <a:lnSpc>
                <a:spcPct val="115000"/>
              </a:lnSpc>
              <a:spcAft>
                <a:spcPts val="1000"/>
              </a:spcAft>
            </a:pPr>
            <a:endParaRPr lang="fr-FR" sz="2400" b="1" dirty="0">
              <a:latin typeface="Cambria" panose="02040503050406030204" pitchFamily="18" charset="0"/>
              <a:ea typeface="Cambria" panose="02040503050406030204" pitchFamily="18" charset="0"/>
              <a:cs typeface="Calibri" panose="020F0502020204030204" pitchFamily="34" charset="0"/>
            </a:endParaRPr>
          </a:p>
          <a:p>
            <a:pPr algn="just">
              <a:lnSpc>
                <a:spcPct val="115000"/>
              </a:lnSpc>
              <a:spcAft>
                <a:spcPts val="1000"/>
              </a:spcAft>
            </a:pPr>
            <a:r>
              <a:rPr lang="fr-FR" sz="2400" b="1" dirty="0" smtClean="0">
                <a:latin typeface="Cambria" panose="02040503050406030204" pitchFamily="18" charset="0"/>
                <a:ea typeface="Cambria" panose="02040503050406030204" pitchFamily="18" charset="0"/>
                <a:cs typeface="Calibri" panose="020F0502020204030204" pitchFamily="34" charset="0"/>
              </a:rPr>
              <a:t>=</a:t>
            </a:r>
            <a:r>
              <a:rPr lang="fr-FR" sz="2400" b="1" dirty="0" smtClean="0">
                <a:effectLst/>
                <a:latin typeface="Cambria" panose="02040503050406030204" pitchFamily="18" charset="0"/>
                <a:ea typeface="Cambria" panose="02040503050406030204" pitchFamily="18" charset="0"/>
                <a:cs typeface="Calibri" panose="020F0502020204030204" pitchFamily="34" charset="0"/>
              </a:rPr>
              <a:t>&gt; Fin de la police de proximité, remplacée par la culture du résultat.</a:t>
            </a:r>
            <a:endParaRPr lang="fr-FR" sz="2400" dirty="0">
              <a:effectLst/>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33301484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14DB927-DE7D-4E19-BF9C-011DC8DF75CB}"/>
              </a:ext>
            </a:extLst>
          </p:cNvPr>
          <p:cNvSpPr>
            <a:spLocks noGrp="1"/>
          </p:cNvSpPr>
          <p:nvPr>
            <p:ph type="title"/>
          </p:nvPr>
        </p:nvSpPr>
        <p:spPr>
          <a:xfrm>
            <a:off x="540000" y="360000"/>
            <a:ext cx="10800000" cy="648000"/>
          </a:xfrm>
        </p:spPr>
        <p:txBody>
          <a:bodyPr>
            <a:noAutofit/>
          </a:bodyPr>
          <a:lstStyle/>
          <a:p>
            <a:r>
              <a:rPr lang="fr-FR" sz="2400" dirty="0">
                <a:solidFill>
                  <a:schemeClr val="accent4"/>
                </a:solidFill>
                <a:latin typeface="Cambria" panose="02040503050406030204" pitchFamily="18" charset="0"/>
                <a:ea typeface="Cambria" panose="02040503050406030204" pitchFamily="18" charset="0"/>
                <a:cs typeface="Calibri" panose="020F0502020204030204" pitchFamily="34" charset="0"/>
              </a:rPr>
              <a:t>La police de proximité, le retour</a:t>
            </a:r>
          </a:p>
        </p:txBody>
      </p:sp>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17</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7" name="ZoneTexte 6">
            <a:extLst>
              <a:ext uri="{FF2B5EF4-FFF2-40B4-BE49-F238E27FC236}">
                <a16:creationId xmlns:a16="http://schemas.microsoft.com/office/drawing/2014/main" id="{6EA6F637-1963-4118-AD08-BC6FE1DCCFF9}"/>
              </a:ext>
            </a:extLst>
          </p:cNvPr>
          <p:cNvSpPr txBox="1"/>
          <p:nvPr/>
        </p:nvSpPr>
        <p:spPr>
          <a:xfrm>
            <a:off x="540000" y="1537367"/>
            <a:ext cx="10592288" cy="4657685"/>
          </a:xfrm>
          <a:prstGeom prst="rect">
            <a:avLst/>
          </a:prstGeom>
          <a:noFill/>
        </p:spPr>
        <p:txBody>
          <a:bodyPr wrap="square">
            <a:spAutoFit/>
          </a:bodyPr>
          <a:lstStyle/>
          <a:p>
            <a:pPr marL="457200" indent="-457200" algn="just">
              <a:lnSpc>
                <a:spcPct val="115000"/>
              </a:lnSpc>
              <a:spcAft>
                <a:spcPts val="1000"/>
              </a:spcAft>
              <a:buFont typeface="Wingdings" panose="05000000000000000000" pitchFamily="2" charset="2"/>
              <a:buChar char="q"/>
            </a:pPr>
            <a:r>
              <a:rPr lang="fr-FR" sz="2000" dirty="0">
                <a:effectLst/>
                <a:latin typeface="Cambria" panose="02040503050406030204" pitchFamily="18" charset="0"/>
                <a:ea typeface="Cambria" panose="02040503050406030204" pitchFamily="18" charset="0"/>
                <a:cs typeface="Calibri" panose="020F0502020204030204" pitchFamily="34" charset="0"/>
              </a:rPr>
              <a:t>La nouvelle police (nationale) de sécurité du quotidien (2017</a:t>
            </a:r>
            <a:r>
              <a:rPr lang="fr-FR" sz="2000" dirty="0" smtClean="0">
                <a:effectLst/>
                <a:latin typeface="Cambria" panose="02040503050406030204" pitchFamily="18" charset="0"/>
                <a:ea typeface="Cambria" panose="02040503050406030204" pitchFamily="18" charset="0"/>
                <a:cs typeface="Calibri" panose="020F0502020204030204" pitchFamily="34" charset="0"/>
              </a:rPr>
              <a:t>)</a:t>
            </a:r>
          </a:p>
          <a:p>
            <a:pPr marL="457200" indent="-457200" algn="just">
              <a:lnSpc>
                <a:spcPct val="115000"/>
              </a:lnSpc>
              <a:spcAft>
                <a:spcPts val="1000"/>
              </a:spcAft>
              <a:buFont typeface="Wingdings" panose="05000000000000000000" pitchFamily="2" charset="2"/>
              <a:buChar char="q"/>
            </a:pPr>
            <a:endParaRPr lang="fr-FR" sz="2000" dirty="0">
              <a:latin typeface="Cambria" panose="02040503050406030204" pitchFamily="18" charset="0"/>
              <a:ea typeface="Cambria" panose="02040503050406030204" pitchFamily="18" charset="0"/>
              <a:cs typeface="Calibri" panose="020F0502020204030204" pitchFamily="34" charset="0"/>
            </a:endParaRPr>
          </a:p>
          <a:p>
            <a:pPr marL="457200" indent="-457200" algn="just">
              <a:lnSpc>
                <a:spcPct val="115000"/>
              </a:lnSpc>
              <a:spcAft>
                <a:spcPts val="1000"/>
              </a:spcAft>
              <a:buFont typeface="Wingdings" panose="05000000000000000000" pitchFamily="2" charset="2"/>
              <a:buChar char="q"/>
            </a:pPr>
            <a:r>
              <a:rPr lang="fr-FR" sz="2000" dirty="0">
                <a:effectLst/>
                <a:latin typeface="Cambria" panose="02040503050406030204" pitchFamily="18" charset="0"/>
                <a:ea typeface="Cambria" panose="02040503050406030204" pitchFamily="18" charset="0"/>
                <a:cs typeface="Calibri" panose="020F0502020204030204" pitchFamily="34" charset="0"/>
              </a:rPr>
              <a:t>84 % des Français sont favorables à une police de proximité </a:t>
            </a:r>
            <a:r>
              <a:rPr lang="fr-FR" sz="2000" dirty="0" smtClean="0">
                <a:effectLst/>
                <a:latin typeface="Cambria" panose="02040503050406030204" pitchFamily="18" charset="0"/>
                <a:ea typeface="Cambria" panose="02040503050406030204" pitchFamily="18" charset="0"/>
                <a:cs typeface="Calibri" panose="020F0502020204030204" pitchFamily="34" charset="0"/>
              </a:rPr>
              <a:t>(sondage </a:t>
            </a:r>
            <a:r>
              <a:rPr lang="fr-FR" sz="2000" dirty="0">
                <a:effectLst/>
                <a:latin typeface="Cambria" panose="02040503050406030204" pitchFamily="18" charset="0"/>
                <a:ea typeface="Cambria" panose="02040503050406030204" pitchFamily="18" charset="0"/>
                <a:cs typeface="Calibri" panose="020F0502020204030204" pitchFamily="34" charset="0"/>
              </a:rPr>
              <a:t>de juin 2017). </a:t>
            </a:r>
            <a:endParaRPr lang="fr-FR" sz="2000" dirty="0" smtClean="0">
              <a:effectLst/>
              <a:latin typeface="Cambria" panose="02040503050406030204" pitchFamily="18" charset="0"/>
              <a:ea typeface="Cambria" panose="02040503050406030204" pitchFamily="18" charset="0"/>
              <a:cs typeface="Calibri" panose="020F0502020204030204" pitchFamily="34" charset="0"/>
            </a:endParaRPr>
          </a:p>
          <a:p>
            <a:pPr marL="457200" indent="-457200" algn="just">
              <a:lnSpc>
                <a:spcPct val="115000"/>
              </a:lnSpc>
              <a:spcAft>
                <a:spcPts val="1000"/>
              </a:spcAft>
              <a:buFont typeface="Wingdings" panose="05000000000000000000" pitchFamily="2" charset="2"/>
              <a:buChar char="q"/>
            </a:pP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marL="457200" indent="-457200" algn="just">
              <a:lnSpc>
                <a:spcPct val="115000"/>
              </a:lnSpc>
              <a:spcAft>
                <a:spcPts val="1000"/>
              </a:spcAft>
              <a:buFont typeface="Wingdings" panose="05000000000000000000" pitchFamily="2" charset="2"/>
              <a:buChar char="q"/>
            </a:pPr>
            <a:r>
              <a:rPr lang="fr-FR" sz="2000" dirty="0">
                <a:latin typeface="Cambria" panose="02040503050406030204" pitchFamily="18" charset="0"/>
                <a:ea typeface="Cambria" panose="02040503050406030204" pitchFamily="18" charset="0"/>
                <a:cs typeface="Calibri" panose="020F0502020204030204" pitchFamily="34" charset="0"/>
              </a:rPr>
              <a:t>Emmanuel Macron </a:t>
            </a:r>
            <a:r>
              <a:rPr lang="fr-FR" sz="2000" dirty="0">
                <a:effectLst/>
                <a:latin typeface="Cambria" panose="02040503050406030204" pitchFamily="18" charset="0"/>
                <a:ea typeface="Cambria" panose="02040503050406030204" pitchFamily="18" charset="0"/>
                <a:cs typeface="Calibri" panose="020F0502020204030204" pitchFamily="34" charset="0"/>
              </a:rPr>
              <a:t>propose une « police de sécurité quotidienne ». </a:t>
            </a:r>
            <a:endParaRPr lang="fr-FR" sz="2000" dirty="0" smtClean="0">
              <a:effectLst/>
              <a:latin typeface="Cambria" panose="02040503050406030204" pitchFamily="18" charset="0"/>
              <a:ea typeface="Cambria" panose="02040503050406030204" pitchFamily="18" charset="0"/>
              <a:cs typeface="Calibri" panose="020F0502020204030204" pitchFamily="34" charset="0"/>
            </a:endParaRPr>
          </a:p>
          <a:p>
            <a:pPr marL="457200" indent="-457200" algn="just">
              <a:lnSpc>
                <a:spcPct val="115000"/>
              </a:lnSpc>
              <a:spcAft>
                <a:spcPts val="1000"/>
              </a:spcAft>
              <a:buFont typeface="Wingdings" panose="05000000000000000000" pitchFamily="2" charset="2"/>
              <a:buChar char="q"/>
            </a:pP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marL="457200" indent="-457200" algn="just">
              <a:lnSpc>
                <a:spcPct val="115000"/>
              </a:lnSpc>
              <a:spcAft>
                <a:spcPts val="1000"/>
              </a:spcAft>
              <a:buFont typeface="Wingdings" panose="05000000000000000000" pitchFamily="2" charset="2"/>
              <a:buChar char="q"/>
            </a:pPr>
            <a:r>
              <a:rPr lang="fr-FR" sz="2000" dirty="0">
                <a:effectLst/>
                <a:latin typeface="Cambria" panose="02040503050406030204" pitchFamily="18" charset="0"/>
                <a:ea typeface="Cambria" panose="02040503050406030204" pitchFamily="18" charset="0"/>
                <a:cs typeface="Calibri" panose="020F0502020204030204" pitchFamily="34" charset="0"/>
              </a:rPr>
              <a:t>La « police de sécurité du quotidien » </a:t>
            </a:r>
            <a:r>
              <a:rPr lang="fr-FR" sz="2000" b="1" dirty="0">
                <a:effectLst/>
                <a:latin typeface="Cambria" panose="02040503050406030204" pitchFamily="18" charset="0"/>
                <a:ea typeface="Cambria" panose="02040503050406030204" pitchFamily="18" charset="0"/>
                <a:cs typeface="Calibri" panose="020F0502020204030204" pitchFamily="34" charset="0"/>
              </a:rPr>
              <a:t>(</a:t>
            </a:r>
            <a:r>
              <a:rPr lang="fr-FR" sz="2000" b="1" dirty="0" smtClean="0">
                <a:effectLst/>
                <a:latin typeface="Cambria" panose="02040503050406030204" pitchFamily="18" charset="0"/>
                <a:ea typeface="Cambria" panose="02040503050406030204" pitchFamily="18" charset="0"/>
                <a:cs typeface="Calibri" panose="020F0502020204030204" pitchFamily="34" charset="0"/>
              </a:rPr>
              <a:t>P.S.Q.) </a:t>
            </a:r>
            <a:r>
              <a:rPr lang="fr-FR" sz="2000" dirty="0">
                <a:effectLst/>
                <a:latin typeface="Cambria" panose="02040503050406030204" pitchFamily="18" charset="0"/>
                <a:ea typeface="Cambria" panose="02040503050406030204" pitchFamily="18" charset="0"/>
                <a:cs typeface="Calibri" panose="020F0502020204030204" pitchFamily="34" charset="0"/>
              </a:rPr>
              <a:t>devait permettre de « réinventer » le concept. « Retisser le lien police-population </a:t>
            </a:r>
            <a:r>
              <a:rPr lang="fr-FR" sz="2000" dirty="0" smtClean="0">
                <a:effectLst/>
                <a:latin typeface="Cambria" panose="02040503050406030204" pitchFamily="18" charset="0"/>
                <a:ea typeface="Cambria" panose="02040503050406030204" pitchFamily="18" charset="0"/>
                <a:cs typeface="Calibri" panose="020F0502020204030204" pitchFamily="34" charset="0"/>
              </a:rPr>
              <a:t>»</a:t>
            </a:r>
          </a:p>
          <a:p>
            <a:pPr marL="457200" indent="-457200" algn="just">
              <a:lnSpc>
                <a:spcPct val="115000"/>
              </a:lnSpc>
              <a:spcAft>
                <a:spcPts val="1000"/>
              </a:spcAft>
              <a:buFont typeface="Wingdings" panose="05000000000000000000" pitchFamily="2" charset="2"/>
              <a:buChar char="q"/>
            </a:pP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marL="457200" indent="-457200" algn="just">
              <a:lnSpc>
                <a:spcPct val="115000"/>
              </a:lnSpc>
              <a:spcAft>
                <a:spcPts val="1000"/>
              </a:spcAft>
              <a:buFont typeface="Wingdings" panose="05000000000000000000" pitchFamily="2" charset="2"/>
              <a:buChar char="q"/>
            </a:pPr>
            <a:r>
              <a:rPr lang="fr-FR" sz="2000" dirty="0">
                <a:effectLst/>
                <a:latin typeface="Cambria" panose="02040503050406030204" pitchFamily="18" charset="0"/>
                <a:ea typeface="Cambria" panose="02040503050406030204" pitchFamily="18" charset="0"/>
                <a:cs typeface="Calibri" panose="020F0502020204030204" pitchFamily="34" charset="0"/>
              </a:rPr>
              <a:t>« Police communautaire", "police citoyenne"...</a:t>
            </a:r>
          </a:p>
        </p:txBody>
      </p:sp>
    </p:spTree>
    <p:extLst>
      <p:ext uri="{BB962C8B-B14F-4D97-AF65-F5344CB8AC3E}">
        <p14:creationId xmlns:p14="http://schemas.microsoft.com/office/powerpoint/2010/main" val="3940535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527A3F-5665-4DB1-831B-72D4F7E0E270}"/>
              </a:ext>
            </a:extLst>
          </p:cNvPr>
          <p:cNvSpPr>
            <a:spLocks noGrp="1"/>
          </p:cNvSpPr>
          <p:nvPr>
            <p:ph type="title"/>
          </p:nvPr>
        </p:nvSpPr>
        <p:spPr/>
        <p:txBody>
          <a:bodyPr/>
          <a:lstStyle/>
          <a:p>
            <a:pPr algn="ctr"/>
            <a:r>
              <a:rPr lang="fr-FR" dirty="0" smtClean="0"/>
              <a:t>Des questions ?</a:t>
            </a:r>
            <a:endParaRPr lang="fr-FR" dirty="0"/>
          </a:p>
        </p:txBody>
      </p:sp>
      <p:pic>
        <p:nvPicPr>
          <p:cNvPr id="3" name="Picture 3">
            <a:extLst>
              <a:ext uri="{FF2B5EF4-FFF2-40B4-BE49-F238E27FC236}">
                <a16:creationId xmlns:a16="http://schemas.microsoft.com/office/drawing/2014/main" id="{EDBD5B2A-6E2C-475E-8B66-925C9497241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97520" y="2267221"/>
            <a:ext cx="3335787" cy="31924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a:extLst>
              <a:ext uri="{FF2B5EF4-FFF2-40B4-BE49-F238E27FC236}">
                <a16:creationId xmlns:a16="http://schemas.microsoft.com/office/drawing/2014/main" id="{54C64A4B-C5B5-4DEB-AEEE-528D3D8740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288" y="3290165"/>
            <a:ext cx="2787651" cy="3043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233001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re 16"/>
          <p:cNvSpPr>
            <a:spLocks noGrp="1"/>
          </p:cNvSpPr>
          <p:nvPr>
            <p:ph type="ctrTitle"/>
          </p:nvPr>
        </p:nvSpPr>
        <p:spPr/>
        <p:txBody>
          <a:bodyPr/>
          <a:lstStyle/>
          <a:p>
            <a:r>
              <a:rPr lang="fr-FR" dirty="0" smtClean="0">
                <a:solidFill>
                  <a:schemeClr val="accent5"/>
                </a:solidFill>
                <a:latin typeface="Cambria" panose="02040503050406030204" pitchFamily="18" charset="0"/>
                <a:ea typeface="Cambria" panose="02040503050406030204" pitchFamily="18" charset="0"/>
              </a:rPr>
              <a:t>03</a:t>
            </a:r>
            <a:endParaRPr lang="fr-FR" dirty="0">
              <a:solidFill>
                <a:schemeClr val="accent5"/>
              </a:solidFill>
              <a:latin typeface="Cambria" panose="02040503050406030204" pitchFamily="18" charset="0"/>
              <a:ea typeface="Cambria" panose="02040503050406030204" pitchFamily="18" charset="0"/>
            </a:endParaRPr>
          </a:p>
        </p:txBody>
      </p:sp>
      <p:sp>
        <p:nvSpPr>
          <p:cNvPr id="18" name="Sous-titre 17"/>
          <p:cNvSpPr>
            <a:spLocks noGrp="1"/>
          </p:cNvSpPr>
          <p:nvPr>
            <p:ph type="subTitle" idx="1"/>
          </p:nvPr>
        </p:nvSpPr>
        <p:spPr/>
        <p:txBody>
          <a:bodyPr/>
          <a:lstStyle/>
          <a:p>
            <a:r>
              <a:rPr lang="fr-FR" sz="4400" dirty="0" smtClean="0">
                <a:solidFill>
                  <a:schemeClr val="accent5"/>
                </a:solidFill>
                <a:latin typeface="Cambria" panose="02040503050406030204" pitchFamily="18" charset="0"/>
                <a:ea typeface="Cambria" panose="02040503050406030204" pitchFamily="18" charset="0"/>
              </a:rPr>
              <a:t>La police de proximité à Paris</a:t>
            </a:r>
            <a:endParaRPr lang="fr-FR" sz="4400" dirty="0">
              <a:solidFill>
                <a:schemeClr val="accent5"/>
              </a:solidFill>
              <a:latin typeface="Cambria" panose="02040503050406030204" pitchFamily="18" charset="0"/>
              <a:ea typeface="Cambria" panose="02040503050406030204" pitchFamily="18" charset="0"/>
            </a:endParaRPr>
          </a:p>
        </p:txBody>
      </p:sp>
      <p:sp>
        <p:nvSpPr>
          <p:cNvPr id="15" name="Espace réservé du numéro de diapositive 14"/>
          <p:cNvSpPr>
            <a:spLocks noGrp="1"/>
          </p:cNvSpPr>
          <p:nvPr>
            <p:ph type="sldNum" sz="quarter" idx="4294967295"/>
          </p:nvPr>
        </p:nvSpPr>
        <p:spPr>
          <a:xfrm>
            <a:off x="11761788" y="6370638"/>
            <a:ext cx="430212" cy="252412"/>
          </a:xfrm>
        </p:spPr>
        <p:txBody>
          <a:bodyPr/>
          <a:lstStyle/>
          <a:p>
            <a:fld id="{975A587B-5814-4D9B-9598-FE9CB954CB01}" type="slidenum">
              <a:rPr lang="fr-FR" smtClean="0"/>
              <a:pPr/>
              <a:t>19</a:t>
            </a:fld>
            <a:endParaRPr lang="fr-FR" dirty="0"/>
          </a:p>
        </p:txBody>
      </p:sp>
      <p:sp>
        <p:nvSpPr>
          <p:cNvPr id="16" name="Espace réservé du pied de page 15"/>
          <p:cNvSpPr>
            <a:spLocks noGrp="1"/>
          </p:cNvSpPr>
          <p:nvPr>
            <p:ph type="ftr" sz="quarter" idx="4294967295"/>
          </p:nvPr>
        </p:nvSpPr>
        <p:spPr>
          <a:xfrm>
            <a:off x="6440488" y="6370638"/>
            <a:ext cx="5751512" cy="252412"/>
          </a:xfrm>
        </p:spPr>
        <p:txBody>
          <a:bodyPr/>
          <a:lstStyle/>
          <a:p>
            <a:r>
              <a:rPr lang="fr-FR" smtClean="0"/>
              <a:t>Ecole des Métiers de la Sécurité - Septembre 2022</a:t>
            </a:r>
            <a:endParaRPr lang="fr-FR" dirty="0"/>
          </a:p>
        </p:txBody>
      </p:sp>
      <p:sp>
        <p:nvSpPr>
          <p:cNvPr id="2" name="Espace réservé du texte 1"/>
          <p:cNvSpPr>
            <a:spLocks noGrp="1"/>
          </p:cNvSpPr>
          <p:nvPr>
            <p:ph type="body" idx="13"/>
          </p:nvPr>
        </p:nvSpPr>
        <p:spPr/>
        <p:txBody>
          <a:bodyPr/>
          <a:lstStyle/>
          <a:p>
            <a:endParaRPr lang="fr-FR"/>
          </a:p>
        </p:txBody>
      </p:sp>
    </p:spTree>
    <p:extLst>
      <p:ext uri="{BB962C8B-B14F-4D97-AF65-F5344CB8AC3E}">
        <p14:creationId xmlns:p14="http://schemas.microsoft.com/office/powerpoint/2010/main" val="424525649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20</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7" name="ZoneTexte 6">
            <a:extLst>
              <a:ext uri="{FF2B5EF4-FFF2-40B4-BE49-F238E27FC236}">
                <a16:creationId xmlns:a16="http://schemas.microsoft.com/office/drawing/2014/main" id="{21469078-C0BF-4BDD-B1FF-F769840D33F5}"/>
              </a:ext>
            </a:extLst>
          </p:cNvPr>
          <p:cNvSpPr txBox="1"/>
          <p:nvPr/>
        </p:nvSpPr>
        <p:spPr>
          <a:xfrm>
            <a:off x="696000" y="1926093"/>
            <a:ext cx="10863082" cy="2728952"/>
          </a:xfrm>
          <a:prstGeom prst="rect">
            <a:avLst/>
          </a:prstGeom>
          <a:noFill/>
        </p:spPr>
        <p:txBody>
          <a:bodyPr wrap="square">
            <a:spAutoFit/>
          </a:bodyPr>
          <a:lstStyle/>
          <a:p>
            <a:pPr marL="285750" lvl="0" indent="-285750" algn="just">
              <a:lnSpc>
                <a:spcPct val="115000"/>
              </a:lnSpc>
              <a:spcAft>
                <a:spcPts val="1000"/>
              </a:spcAft>
              <a:buFont typeface="Wingdings" panose="05000000000000000000" pitchFamily="2" charset="2"/>
              <a:buChar char="q"/>
              <a:tabLst>
                <a:tab pos="457200" algn="l"/>
              </a:tabLst>
            </a:pPr>
            <a:r>
              <a:rPr lang="fr-FR" sz="2400" b="1" dirty="0">
                <a:effectLst/>
                <a:latin typeface="Cambria" panose="02040503050406030204" pitchFamily="18" charset="0"/>
                <a:ea typeface="Cambria" panose="02040503050406030204" pitchFamily="18" charset="0"/>
                <a:cs typeface="Calibri" panose="020F0502020204030204" pitchFamily="34" charset="0"/>
              </a:rPr>
              <a:t>Un maillage territorial bien </a:t>
            </a:r>
            <a:r>
              <a:rPr lang="fr-FR" sz="2400" b="1" dirty="0" smtClean="0">
                <a:effectLst/>
                <a:latin typeface="Cambria" panose="02040503050406030204" pitchFamily="18" charset="0"/>
                <a:ea typeface="Cambria" panose="02040503050406030204" pitchFamily="18" charset="0"/>
                <a:cs typeface="Calibri" panose="020F0502020204030204" pitchFamily="34" charset="0"/>
              </a:rPr>
              <a:t>identifié</a:t>
            </a:r>
            <a:r>
              <a:rPr lang="fr-FR" sz="2400" dirty="0">
                <a:latin typeface="Cambria" panose="02040503050406030204" pitchFamily="18" charset="0"/>
                <a:ea typeface="Cambria" panose="02040503050406030204" pitchFamily="18" charset="0"/>
                <a:cs typeface="Calibri" panose="020F0502020204030204" pitchFamily="34" charset="0"/>
              </a:rPr>
              <a:t>,</a:t>
            </a:r>
            <a:endParaRPr lang="fr-FR" sz="2400" dirty="0" smtClean="0">
              <a:effectLst/>
              <a:latin typeface="Cambria" panose="02040503050406030204" pitchFamily="18" charset="0"/>
              <a:ea typeface="Cambria" panose="02040503050406030204" pitchFamily="18" charset="0"/>
              <a:cs typeface="Calibri" panose="020F0502020204030204" pitchFamily="34" charset="0"/>
            </a:endParaRPr>
          </a:p>
          <a:p>
            <a:pPr marL="285750" lvl="0" indent="-285750" algn="just">
              <a:lnSpc>
                <a:spcPct val="115000"/>
              </a:lnSpc>
              <a:spcAft>
                <a:spcPts val="1000"/>
              </a:spcAft>
              <a:buFont typeface="Wingdings" panose="05000000000000000000" pitchFamily="2" charset="2"/>
              <a:buChar char="q"/>
              <a:tabLst>
                <a:tab pos="457200" algn="l"/>
              </a:tabLst>
            </a:pPr>
            <a:endParaRPr lang="fr-FR" sz="2400" dirty="0">
              <a:effectLst/>
              <a:latin typeface="Cambria" panose="02040503050406030204" pitchFamily="18" charset="0"/>
              <a:ea typeface="Cambria" panose="02040503050406030204" pitchFamily="18" charset="0"/>
              <a:cs typeface="Calibri" panose="020F0502020204030204" pitchFamily="34" charset="0"/>
            </a:endParaRPr>
          </a:p>
          <a:p>
            <a:pPr marL="285750" lvl="0" indent="-285750" algn="just">
              <a:lnSpc>
                <a:spcPct val="115000"/>
              </a:lnSpc>
              <a:spcAft>
                <a:spcPts val="1000"/>
              </a:spcAft>
              <a:buFont typeface="Wingdings" panose="05000000000000000000" pitchFamily="2" charset="2"/>
              <a:buChar char="q"/>
              <a:tabLst>
                <a:tab pos="457200" algn="l"/>
              </a:tabLst>
            </a:pPr>
            <a:r>
              <a:rPr lang="fr-FR" sz="2400" b="1" dirty="0" smtClean="0">
                <a:latin typeface="Cambria" panose="02040503050406030204" pitchFamily="18" charset="0"/>
                <a:ea typeface="Cambria" panose="02040503050406030204" pitchFamily="18" charset="0"/>
                <a:cs typeface="Calibri" panose="020F0502020204030204" pitchFamily="34" charset="0"/>
              </a:rPr>
              <a:t>Un</a:t>
            </a:r>
            <a:r>
              <a:rPr lang="fr-FR" sz="2400" b="1" dirty="0" smtClean="0">
                <a:effectLst/>
                <a:latin typeface="Cambria" panose="02040503050406030204" pitchFamily="18" charset="0"/>
                <a:ea typeface="Cambria" panose="02040503050406030204" pitchFamily="18" charset="0"/>
                <a:cs typeface="Calibri" panose="020F0502020204030204" pitchFamily="34" charset="0"/>
              </a:rPr>
              <a:t> </a:t>
            </a:r>
            <a:r>
              <a:rPr lang="fr-FR" sz="2400" b="1" dirty="0">
                <a:effectLst/>
                <a:latin typeface="Cambria" panose="02040503050406030204" pitchFamily="18" charset="0"/>
                <a:ea typeface="Cambria" panose="02040503050406030204" pitchFamily="18" charset="0"/>
                <a:cs typeface="Calibri" panose="020F0502020204030204" pitchFamily="34" charset="0"/>
              </a:rPr>
              <a:t>contact permanent avec la </a:t>
            </a:r>
            <a:r>
              <a:rPr lang="fr-FR" sz="2400" b="1" dirty="0" smtClean="0">
                <a:effectLst/>
                <a:latin typeface="Cambria" panose="02040503050406030204" pitchFamily="18" charset="0"/>
                <a:ea typeface="Cambria" panose="02040503050406030204" pitchFamily="18" charset="0"/>
                <a:cs typeface="Calibri" panose="020F0502020204030204" pitchFamily="34" charset="0"/>
              </a:rPr>
              <a:t>population,</a:t>
            </a:r>
          </a:p>
          <a:p>
            <a:pPr marL="285750" lvl="0" indent="-285750" algn="just">
              <a:lnSpc>
                <a:spcPct val="115000"/>
              </a:lnSpc>
              <a:spcAft>
                <a:spcPts val="1000"/>
              </a:spcAft>
              <a:buFont typeface="Wingdings" panose="05000000000000000000" pitchFamily="2" charset="2"/>
              <a:buChar char="q"/>
              <a:tabLst>
                <a:tab pos="457200" algn="l"/>
              </a:tabLst>
            </a:pPr>
            <a:endParaRPr lang="fr-FR" sz="2400" dirty="0">
              <a:effectLst/>
              <a:latin typeface="Cambria" panose="02040503050406030204" pitchFamily="18" charset="0"/>
              <a:ea typeface="Cambria" panose="02040503050406030204" pitchFamily="18" charset="0"/>
              <a:cs typeface="Calibri" panose="020F0502020204030204" pitchFamily="34" charset="0"/>
            </a:endParaRPr>
          </a:p>
          <a:p>
            <a:pPr marL="285750" lvl="0" indent="-285750" algn="just">
              <a:lnSpc>
                <a:spcPct val="115000"/>
              </a:lnSpc>
              <a:spcAft>
                <a:spcPts val="1000"/>
              </a:spcAft>
              <a:buFont typeface="Wingdings" panose="05000000000000000000" pitchFamily="2" charset="2"/>
              <a:buChar char="q"/>
              <a:tabLst>
                <a:tab pos="457200" algn="l"/>
              </a:tabLst>
            </a:pPr>
            <a:r>
              <a:rPr lang="fr-FR" sz="2400" b="1" dirty="0">
                <a:effectLst/>
                <a:latin typeface="Cambria" panose="02040503050406030204" pitchFamily="18" charset="0"/>
                <a:ea typeface="Cambria" panose="02040503050406030204" pitchFamily="18" charset="0"/>
                <a:cs typeface="Calibri" panose="020F0502020204030204" pitchFamily="34" charset="0"/>
              </a:rPr>
              <a:t>Le développement de la « polyvalence » de l’activité </a:t>
            </a:r>
            <a:r>
              <a:rPr lang="fr-FR" sz="2400" b="1" dirty="0" smtClean="0">
                <a:effectLst/>
                <a:latin typeface="Cambria" panose="02040503050406030204" pitchFamily="18" charset="0"/>
                <a:ea typeface="Cambria" panose="02040503050406030204" pitchFamily="18" charset="0"/>
                <a:cs typeface="Calibri" panose="020F0502020204030204" pitchFamily="34" charset="0"/>
              </a:rPr>
              <a:t>policière,</a:t>
            </a:r>
            <a:r>
              <a:rPr lang="fr-FR" sz="2400" dirty="0" smtClean="0">
                <a:effectLst/>
                <a:latin typeface="Cambria" panose="02040503050406030204" pitchFamily="18" charset="0"/>
                <a:ea typeface="Cambria" panose="02040503050406030204" pitchFamily="18" charset="0"/>
                <a:cs typeface="Calibri" panose="020F0502020204030204" pitchFamily="34" charset="0"/>
              </a:rPr>
              <a:t> </a:t>
            </a:r>
          </a:p>
        </p:txBody>
      </p:sp>
      <p:sp>
        <p:nvSpPr>
          <p:cNvPr id="6" name="Titre 4">
            <a:extLst>
              <a:ext uri="{FF2B5EF4-FFF2-40B4-BE49-F238E27FC236}">
                <a16:creationId xmlns:a16="http://schemas.microsoft.com/office/drawing/2014/main" id="{E9A61551-508B-44D6-BF9D-DAB76C03E3B1}"/>
              </a:ext>
            </a:extLst>
          </p:cNvPr>
          <p:cNvSpPr txBox="1">
            <a:spLocks/>
          </p:cNvSpPr>
          <p:nvPr/>
        </p:nvSpPr>
        <p:spPr>
          <a:xfrm>
            <a:off x="696000" y="283769"/>
            <a:ext cx="10800000" cy="571770"/>
          </a:xfrm>
          <a:prstGeom prst="rect">
            <a:avLst/>
          </a:prstGeom>
        </p:spPr>
        <p:txBody>
          <a:bodyPr vert="horz" lIns="91440" tIns="45720" rIns="91440" bIns="45720" rtlCol="0" anchor="t">
            <a:noAutofit/>
          </a:bodyPr>
          <a:lstStyle>
            <a:lvl1pPr algn="l" defTabSz="914400" rtl="0" eaLnBrk="1" latinLnBrk="0" hangingPunct="1">
              <a:lnSpc>
                <a:spcPct val="115000"/>
              </a:lnSpc>
              <a:spcBef>
                <a:spcPct val="0"/>
              </a:spcBef>
              <a:buNone/>
              <a:defRPr sz="2200" b="1" kern="1200">
                <a:solidFill>
                  <a:schemeClr val="tx1"/>
                </a:solidFill>
                <a:latin typeface="+mj-lt"/>
                <a:ea typeface="+mj-ea"/>
                <a:cs typeface="+mj-cs"/>
              </a:defRPr>
            </a:lvl1pPr>
          </a:lstStyle>
          <a:p>
            <a:r>
              <a:rPr lang="fr-FR" sz="2400" dirty="0">
                <a:solidFill>
                  <a:srgbClr val="FF0000"/>
                </a:solidFill>
                <a:latin typeface="Cambria" panose="02040503050406030204" pitchFamily="18" charset="0"/>
                <a:ea typeface="Cambria" panose="02040503050406030204" pitchFamily="18" charset="0"/>
                <a:cs typeface="Calibri" panose="020F0502020204030204" pitchFamily="34" charset="0"/>
              </a:rPr>
              <a:t>Doctrine de la police de proximité, les 5 modes d’action</a:t>
            </a:r>
          </a:p>
          <a:p>
            <a:endParaRPr lang="fr-FR"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2657591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21</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7" name="ZoneTexte 6">
            <a:extLst>
              <a:ext uri="{FF2B5EF4-FFF2-40B4-BE49-F238E27FC236}">
                <a16:creationId xmlns:a16="http://schemas.microsoft.com/office/drawing/2014/main" id="{21469078-C0BF-4BDD-B1FF-F769840D33F5}"/>
              </a:ext>
            </a:extLst>
          </p:cNvPr>
          <p:cNvSpPr txBox="1"/>
          <p:nvPr/>
        </p:nvSpPr>
        <p:spPr>
          <a:xfrm>
            <a:off x="696000" y="1926093"/>
            <a:ext cx="10863082" cy="2047740"/>
          </a:xfrm>
          <a:prstGeom prst="rect">
            <a:avLst/>
          </a:prstGeom>
          <a:noFill/>
        </p:spPr>
        <p:txBody>
          <a:bodyPr wrap="square">
            <a:spAutoFit/>
          </a:bodyPr>
          <a:lstStyle/>
          <a:p>
            <a:pPr marL="285750" lvl="0" indent="-285750" algn="just">
              <a:lnSpc>
                <a:spcPct val="115000"/>
              </a:lnSpc>
              <a:spcAft>
                <a:spcPts val="1000"/>
              </a:spcAft>
              <a:buFont typeface="Wingdings" panose="05000000000000000000" pitchFamily="2" charset="2"/>
              <a:buChar char="q"/>
              <a:tabLst>
                <a:tab pos="457200" algn="l"/>
              </a:tabLst>
            </a:pPr>
            <a:r>
              <a:rPr lang="fr-FR" sz="2400" b="1" dirty="0" smtClean="0">
                <a:effectLst/>
                <a:latin typeface="Cambria" panose="02040503050406030204" pitchFamily="18" charset="0"/>
                <a:ea typeface="Cambria" panose="02040503050406030204" pitchFamily="18" charset="0"/>
                <a:cs typeface="Calibri" panose="020F0502020204030204" pitchFamily="34" charset="0"/>
              </a:rPr>
              <a:t>Responsabilisation </a:t>
            </a:r>
            <a:r>
              <a:rPr lang="fr-FR" sz="2400" b="1" dirty="0">
                <a:effectLst/>
                <a:latin typeface="Cambria" panose="02040503050406030204" pitchFamily="18" charset="0"/>
                <a:ea typeface="Cambria" panose="02040503050406030204" pitchFamily="18" charset="0"/>
                <a:cs typeface="Calibri" panose="020F0502020204030204" pitchFamily="34" charset="0"/>
              </a:rPr>
              <a:t>du policier sur son </a:t>
            </a:r>
            <a:r>
              <a:rPr lang="fr-FR" sz="2400" b="1" dirty="0" smtClean="0">
                <a:effectLst/>
                <a:latin typeface="Cambria" panose="02040503050406030204" pitchFamily="18" charset="0"/>
                <a:ea typeface="Cambria" panose="02040503050406030204" pitchFamily="18" charset="0"/>
                <a:cs typeface="Calibri" panose="020F0502020204030204" pitchFamily="34" charset="0"/>
              </a:rPr>
              <a:t>secteur,</a:t>
            </a:r>
            <a:r>
              <a:rPr lang="fr-FR" sz="2400" dirty="0">
                <a:effectLst/>
                <a:latin typeface="Cambria" panose="02040503050406030204" pitchFamily="18" charset="0"/>
                <a:ea typeface="Cambria" panose="02040503050406030204" pitchFamily="18" charset="0"/>
                <a:cs typeface="Calibri" panose="020F0502020204030204" pitchFamily="34" charset="0"/>
              </a:rPr>
              <a:t> </a:t>
            </a:r>
            <a:endParaRPr lang="fr-FR" sz="2400" dirty="0" smtClean="0">
              <a:effectLst/>
              <a:latin typeface="Cambria" panose="02040503050406030204" pitchFamily="18" charset="0"/>
              <a:ea typeface="Cambria" panose="02040503050406030204" pitchFamily="18" charset="0"/>
              <a:cs typeface="Calibri" panose="020F0502020204030204" pitchFamily="34" charset="0"/>
            </a:endParaRPr>
          </a:p>
          <a:p>
            <a:pPr marL="285750" lvl="0" indent="-285750" algn="just">
              <a:lnSpc>
                <a:spcPct val="115000"/>
              </a:lnSpc>
              <a:spcAft>
                <a:spcPts val="1000"/>
              </a:spcAft>
              <a:buFont typeface="Wingdings" panose="05000000000000000000" pitchFamily="2" charset="2"/>
              <a:buChar char="q"/>
              <a:tabLst>
                <a:tab pos="457200" algn="l"/>
              </a:tabLst>
            </a:pPr>
            <a:endParaRPr lang="fr-FR" sz="2400" dirty="0">
              <a:effectLst/>
              <a:latin typeface="Cambria" panose="02040503050406030204" pitchFamily="18" charset="0"/>
              <a:ea typeface="Cambria" panose="02040503050406030204" pitchFamily="18" charset="0"/>
              <a:cs typeface="Calibri" panose="020F0502020204030204" pitchFamily="34" charset="0"/>
            </a:endParaRPr>
          </a:p>
          <a:p>
            <a:pPr marL="285750" lvl="0" indent="-285750" algn="just">
              <a:lnSpc>
                <a:spcPct val="115000"/>
              </a:lnSpc>
              <a:spcAft>
                <a:spcPts val="1000"/>
              </a:spcAft>
              <a:buFont typeface="Wingdings" panose="05000000000000000000" pitchFamily="2" charset="2"/>
              <a:buChar char="q"/>
              <a:tabLst>
                <a:tab pos="457200" algn="l"/>
              </a:tabLst>
            </a:pPr>
            <a:r>
              <a:rPr lang="fr-FR" sz="2400" b="1" dirty="0">
                <a:effectLst/>
                <a:latin typeface="Cambria" panose="02040503050406030204" pitchFamily="18" charset="0"/>
                <a:ea typeface="Cambria" panose="02040503050406030204" pitchFamily="18" charset="0"/>
                <a:cs typeface="Calibri" panose="020F0502020204030204" pitchFamily="34" charset="0"/>
              </a:rPr>
              <a:t>Un service rendu de qualité (« un service public au service du public » et qui sait s'adapter à ses besoins). </a:t>
            </a:r>
            <a:endParaRPr lang="fr-FR" sz="2400" dirty="0">
              <a:effectLst/>
              <a:latin typeface="Cambria" panose="02040503050406030204" pitchFamily="18" charset="0"/>
              <a:ea typeface="Cambria" panose="02040503050406030204" pitchFamily="18" charset="0"/>
              <a:cs typeface="Calibri" panose="020F0502020204030204" pitchFamily="34" charset="0"/>
            </a:endParaRPr>
          </a:p>
        </p:txBody>
      </p:sp>
      <p:sp>
        <p:nvSpPr>
          <p:cNvPr id="6" name="Titre 4">
            <a:extLst>
              <a:ext uri="{FF2B5EF4-FFF2-40B4-BE49-F238E27FC236}">
                <a16:creationId xmlns:a16="http://schemas.microsoft.com/office/drawing/2014/main" id="{E9A61551-508B-44D6-BF9D-DAB76C03E3B1}"/>
              </a:ext>
            </a:extLst>
          </p:cNvPr>
          <p:cNvSpPr txBox="1">
            <a:spLocks/>
          </p:cNvSpPr>
          <p:nvPr/>
        </p:nvSpPr>
        <p:spPr>
          <a:xfrm>
            <a:off x="696000" y="283769"/>
            <a:ext cx="10800000" cy="571770"/>
          </a:xfrm>
          <a:prstGeom prst="rect">
            <a:avLst/>
          </a:prstGeom>
        </p:spPr>
        <p:txBody>
          <a:bodyPr vert="horz" lIns="91440" tIns="45720" rIns="91440" bIns="45720" rtlCol="0" anchor="t">
            <a:noAutofit/>
          </a:bodyPr>
          <a:lstStyle>
            <a:lvl1pPr algn="l" defTabSz="914400" rtl="0" eaLnBrk="1" latinLnBrk="0" hangingPunct="1">
              <a:lnSpc>
                <a:spcPct val="115000"/>
              </a:lnSpc>
              <a:spcBef>
                <a:spcPct val="0"/>
              </a:spcBef>
              <a:buNone/>
              <a:defRPr sz="2200" b="1" kern="1200">
                <a:solidFill>
                  <a:schemeClr val="tx1"/>
                </a:solidFill>
                <a:latin typeface="+mj-lt"/>
                <a:ea typeface="+mj-ea"/>
                <a:cs typeface="+mj-cs"/>
              </a:defRPr>
            </a:lvl1pPr>
          </a:lstStyle>
          <a:p>
            <a:r>
              <a:rPr lang="fr-FR" sz="2400" dirty="0">
                <a:solidFill>
                  <a:srgbClr val="FF0000"/>
                </a:solidFill>
                <a:latin typeface="Cambria" panose="02040503050406030204" pitchFamily="18" charset="0"/>
                <a:ea typeface="Cambria" panose="02040503050406030204" pitchFamily="18" charset="0"/>
                <a:cs typeface="Calibri" panose="020F0502020204030204" pitchFamily="34" charset="0"/>
              </a:rPr>
              <a:t>Doctrine de la police de proximité, les 5 modes d’action</a:t>
            </a:r>
          </a:p>
          <a:p>
            <a:endParaRPr lang="fr-FR"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312086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14DB927-DE7D-4E19-BF9C-011DC8DF75CB}"/>
              </a:ext>
            </a:extLst>
          </p:cNvPr>
          <p:cNvSpPr>
            <a:spLocks noGrp="1"/>
          </p:cNvSpPr>
          <p:nvPr>
            <p:ph type="title"/>
          </p:nvPr>
        </p:nvSpPr>
        <p:spPr>
          <a:xfrm>
            <a:off x="540000" y="360000"/>
            <a:ext cx="10800000" cy="648000"/>
          </a:xfrm>
        </p:spPr>
        <p:txBody>
          <a:bodyPr>
            <a:noAutofit/>
          </a:bodyPr>
          <a:lstStyle/>
          <a:p>
            <a:r>
              <a:rPr lang="fr-FR" sz="2800" dirty="0" smtClean="0">
                <a:solidFill>
                  <a:srgbClr val="FF0000"/>
                </a:solidFill>
                <a:cs typeface="Calibri" panose="020F0502020204030204" pitchFamily="34" charset="0"/>
              </a:rPr>
              <a:t> </a:t>
            </a:r>
            <a:r>
              <a:rPr lang="fr-FR" sz="2400" dirty="0" smtClean="0">
                <a:solidFill>
                  <a:srgbClr val="FF0000"/>
                </a:solidFill>
                <a:latin typeface="Cambria" panose="02040503050406030204" pitchFamily="18" charset="0"/>
                <a:ea typeface="Cambria" panose="02040503050406030204" pitchFamily="18" charset="0"/>
                <a:cs typeface="Calibri" panose="020F0502020204030204" pitchFamily="34" charset="0"/>
              </a:rPr>
              <a:t>Évolution au sein de la Ville de Paris avant 2012</a:t>
            </a:r>
            <a:endParaRPr lang="fr-FR" sz="2400" dirty="0">
              <a:solidFill>
                <a:srgbClr val="FF0000"/>
              </a:solidFill>
              <a:latin typeface="Cambria" panose="02040503050406030204" pitchFamily="18" charset="0"/>
              <a:ea typeface="Cambria" panose="02040503050406030204" pitchFamily="18" charset="0"/>
              <a:cs typeface="Calibri" panose="020F0502020204030204" pitchFamily="34" charset="0"/>
            </a:endParaRPr>
          </a:p>
        </p:txBody>
      </p:sp>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22</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16" name="ZoneTexte 15">
            <a:extLst>
              <a:ext uri="{FF2B5EF4-FFF2-40B4-BE49-F238E27FC236}">
                <a16:creationId xmlns:a16="http://schemas.microsoft.com/office/drawing/2014/main" id="{BED329AB-DF9E-455D-A630-0876C8C1DBB2}"/>
              </a:ext>
            </a:extLst>
          </p:cNvPr>
          <p:cNvSpPr txBox="1"/>
          <p:nvPr/>
        </p:nvSpPr>
        <p:spPr>
          <a:xfrm>
            <a:off x="776852" y="1931396"/>
            <a:ext cx="8406905" cy="3637919"/>
          </a:xfrm>
          <a:prstGeom prst="rect">
            <a:avLst/>
          </a:prstGeom>
          <a:noFill/>
        </p:spPr>
        <p:txBody>
          <a:bodyPr wrap="square">
            <a:spAutoFit/>
          </a:bodyPr>
          <a:lstStyle/>
          <a:p>
            <a:pPr marL="457200" indent="-457200" algn="just">
              <a:lnSpc>
                <a:spcPct val="120000"/>
              </a:lnSpc>
              <a:buFont typeface="Wingdings" panose="05000000000000000000" pitchFamily="2" charset="2"/>
              <a:buChar char="q"/>
            </a:pPr>
            <a:r>
              <a:rPr lang="fr-FR" sz="2400" b="1" dirty="0">
                <a:effectLst/>
                <a:latin typeface="Cambria" panose="02040503050406030204" pitchFamily="18" charset="0"/>
                <a:ea typeface="Cambria" panose="02040503050406030204" pitchFamily="18" charset="0"/>
                <a:cs typeface="Calibri" panose="020F0502020204030204" pitchFamily="34" charset="0"/>
              </a:rPr>
              <a:t>1975</a:t>
            </a:r>
            <a:r>
              <a:rPr lang="fr-FR" sz="2400" dirty="0">
                <a:effectLst/>
                <a:latin typeface="Cambria" panose="02040503050406030204" pitchFamily="18" charset="0"/>
                <a:ea typeface="Cambria" panose="02040503050406030204" pitchFamily="18" charset="0"/>
                <a:cs typeface="Calibri" panose="020F0502020204030204" pitchFamily="34" charset="0"/>
              </a:rPr>
              <a:t> </a:t>
            </a:r>
            <a:r>
              <a:rPr lang="fr-FR" sz="2000" dirty="0">
                <a:effectLst/>
                <a:latin typeface="Cambria" panose="02040503050406030204" pitchFamily="18" charset="0"/>
                <a:ea typeface="Cambria" panose="02040503050406030204" pitchFamily="18" charset="0"/>
                <a:cs typeface="Calibri" panose="020F0502020204030204" pitchFamily="34" charset="0"/>
              </a:rPr>
              <a:t>La loi du 31 </a:t>
            </a:r>
            <a:r>
              <a:rPr lang="fr-FR" sz="2000" dirty="0" smtClean="0">
                <a:effectLst/>
                <a:latin typeface="Cambria" panose="02040503050406030204" pitchFamily="18" charset="0"/>
                <a:ea typeface="Cambria" panose="02040503050406030204" pitchFamily="18" charset="0"/>
                <a:cs typeface="Calibri" panose="020F0502020204030204" pitchFamily="34" charset="0"/>
              </a:rPr>
              <a:t>décembre </a:t>
            </a:r>
            <a:r>
              <a:rPr lang="fr-FR" sz="2000" dirty="0">
                <a:effectLst/>
                <a:latin typeface="Cambria" panose="02040503050406030204" pitchFamily="18" charset="0"/>
                <a:ea typeface="Cambria" panose="02040503050406030204" pitchFamily="18" charset="0"/>
                <a:cs typeface="Calibri" panose="020F0502020204030204" pitchFamily="34" charset="0"/>
              </a:rPr>
              <a:t>crée à nouveau le poste de maire disparu en 1871, et dote Paris d’un double exécutif : le maire et le préfet de police. </a:t>
            </a:r>
            <a:endParaRPr lang="fr-FR" sz="2000" dirty="0" smtClean="0">
              <a:effectLst/>
              <a:latin typeface="Cambria" panose="02040503050406030204" pitchFamily="18" charset="0"/>
              <a:ea typeface="Cambria" panose="02040503050406030204" pitchFamily="18" charset="0"/>
              <a:cs typeface="Calibri" panose="020F0502020204030204" pitchFamily="34" charset="0"/>
            </a:endParaRPr>
          </a:p>
          <a:p>
            <a:pPr marL="457200" indent="-457200" algn="just">
              <a:lnSpc>
                <a:spcPct val="120000"/>
              </a:lnSpc>
              <a:buFont typeface="Wingdings" panose="05000000000000000000" pitchFamily="2" charset="2"/>
              <a:buChar char="q"/>
            </a:pP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marL="457200" indent="-457200" algn="just">
              <a:lnSpc>
                <a:spcPct val="120000"/>
              </a:lnSpc>
              <a:buFont typeface="Wingdings" panose="05000000000000000000" pitchFamily="2" charset="2"/>
              <a:buChar char="q"/>
            </a:pPr>
            <a:r>
              <a:rPr lang="fr-FR" sz="2400" b="1" dirty="0">
                <a:effectLst/>
                <a:latin typeface="Cambria" panose="02040503050406030204" pitchFamily="18" charset="0"/>
                <a:ea typeface="Cambria" panose="02040503050406030204" pitchFamily="18" charset="0"/>
                <a:cs typeface="Calibri" panose="020F0502020204030204" pitchFamily="34" charset="0"/>
              </a:rPr>
              <a:t>1980</a:t>
            </a:r>
            <a:r>
              <a:rPr lang="fr-FR" sz="2400" dirty="0">
                <a:effectLst/>
                <a:latin typeface="Cambria" panose="02040503050406030204" pitchFamily="18" charset="0"/>
                <a:ea typeface="Cambria" panose="02040503050406030204" pitchFamily="18" charset="0"/>
                <a:cs typeface="Calibri" panose="020F0502020204030204" pitchFamily="34" charset="0"/>
              </a:rPr>
              <a:t> </a:t>
            </a:r>
            <a:r>
              <a:rPr lang="fr-FR" sz="2000" dirty="0">
                <a:effectLst/>
                <a:latin typeface="Cambria" panose="02040503050406030204" pitchFamily="18" charset="0"/>
                <a:ea typeface="Cambria" panose="02040503050406030204" pitchFamily="18" charset="0"/>
                <a:cs typeface="Calibri" panose="020F0502020204030204" pitchFamily="34" charset="0"/>
              </a:rPr>
              <a:t>Création du corps des Inspecteurs de </a:t>
            </a:r>
            <a:r>
              <a:rPr lang="fr-FR" sz="2000" dirty="0" smtClean="0">
                <a:effectLst/>
                <a:latin typeface="Cambria" panose="02040503050406030204" pitchFamily="18" charset="0"/>
                <a:ea typeface="Cambria" panose="02040503050406030204" pitchFamily="18" charset="0"/>
                <a:cs typeface="Calibri" panose="020F0502020204030204" pitchFamily="34" charset="0"/>
              </a:rPr>
              <a:t>sécurité de la Ville de Paris (</a:t>
            </a:r>
            <a:r>
              <a:rPr lang="fr-FR" sz="2000" dirty="0" smtClean="0">
                <a:solidFill>
                  <a:srgbClr val="FF0000"/>
                </a:solidFill>
                <a:effectLst/>
                <a:latin typeface="Cambria" panose="02040503050406030204" pitchFamily="18" charset="0"/>
                <a:ea typeface="Cambria" panose="02040503050406030204" pitchFamily="18" charset="0"/>
                <a:cs typeface="Calibri" panose="020F0502020204030204" pitchFamily="34" charset="0"/>
              </a:rPr>
              <a:t>I.S.V.P.</a:t>
            </a:r>
            <a:r>
              <a:rPr lang="fr-FR" sz="2000" dirty="0" smtClean="0">
                <a:effectLst/>
                <a:latin typeface="Cambria" panose="02040503050406030204" pitchFamily="18" charset="0"/>
                <a:ea typeface="Cambria" panose="02040503050406030204" pitchFamily="18" charset="0"/>
                <a:cs typeface="Calibri" panose="020F0502020204030204" pitchFamily="34" charset="0"/>
              </a:rPr>
              <a:t>) </a:t>
            </a:r>
            <a:r>
              <a:rPr lang="fr-FR" sz="2000" dirty="0">
                <a:effectLst/>
                <a:latin typeface="Cambria" panose="02040503050406030204" pitchFamily="18" charset="0"/>
                <a:ea typeface="Cambria" panose="02040503050406030204" pitchFamily="18" charset="0"/>
                <a:cs typeface="Calibri" panose="020F0502020204030204" pitchFamily="34" charset="0"/>
              </a:rPr>
              <a:t>au sein de la Direction des Parcs, Jardins et Espaces </a:t>
            </a:r>
            <a:r>
              <a:rPr lang="fr-FR" sz="2000" dirty="0" smtClean="0">
                <a:effectLst/>
                <a:latin typeface="Cambria" panose="02040503050406030204" pitchFamily="18" charset="0"/>
                <a:ea typeface="Cambria" panose="02040503050406030204" pitchFamily="18" charset="0"/>
                <a:cs typeface="Calibri" panose="020F0502020204030204" pitchFamily="34" charset="0"/>
              </a:rPr>
              <a:t>verts.</a:t>
            </a:r>
          </a:p>
          <a:p>
            <a:pPr marL="457200" indent="-457200" algn="just">
              <a:lnSpc>
                <a:spcPct val="120000"/>
              </a:lnSpc>
              <a:buFont typeface="Wingdings" panose="05000000000000000000" pitchFamily="2" charset="2"/>
              <a:buChar char="q"/>
            </a:pPr>
            <a:endParaRPr lang="fr-FR" sz="2000" dirty="0">
              <a:latin typeface="Cambria" panose="02040503050406030204" pitchFamily="18" charset="0"/>
              <a:ea typeface="Cambria" panose="02040503050406030204" pitchFamily="18" charset="0"/>
              <a:cs typeface="Calibri" panose="020F0502020204030204" pitchFamily="34" charset="0"/>
            </a:endParaRPr>
          </a:p>
          <a:p>
            <a:pPr marL="457200" indent="-457200" algn="just">
              <a:lnSpc>
                <a:spcPct val="120000"/>
              </a:lnSpc>
              <a:buFont typeface="Wingdings" panose="05000000000000000000" pitchFamily="2" charset="2"/>
              <a:buChar char="q"/>
            </a:pPr>
            <a:r>
              <a:rPr lang="fr-FR" sz="2400" b="1" dirty="0" smtClean="0">
                <a:latin typeface="Cambria" panose="02040503050406030204" pitchFamily="18" charset="0"/>
                <a:ea typeface="Cambria" panose="02040503050406030204" pitchFamily="18" charset="0"/>
                <a:cs typeface="Calibri" panose="020F0502020204030204" pitchFamily="34" charset="0"/>
              </a:rPr>
              <a:t>1999 </a:t>
            </a:r>
            <a:r>
              <a:rPr lang="fr-FR" sz="2400" dirty="0" smtClean="0">
                <a:latin typeface="Cambria" panose="02040503050406030204" pitchFamily="18" charset="0"/>
                <a:ea typeface="Cambria" panose="02040503050406030204" pitchFamily="18" charset="0"/>
                <a:cs typeface="Calibri" panose="020F0502020204030204" pitchFamily="34" charset="0"/>
              </a:rPr>
              <a:t>: </a:t>
            </a:r>
            <a:r>
              <a:rPr lang="fr-FR" sz="2000" dirty="0" smtClean="0">
                <a:latin typeface="Cambria" panose="02040503050406030204" pitchFamily="18" charset="0"/>
                <a:ea typeface="Cambria" panose="02040503050406030204" pitchFamily="18" charset="0"/>
                <a:cs typeface="Calibri" panose="020F0502020204030204" pitchFamily="34" charset="0"/>
              </a:rPr>
              <a:t>article L </a:t>
            </a:r>
            <a:r>
              <a:rPr lang="fr-FR" sz="2000" dirty="0">
                <a:latin typeface="Cambria" panose="02040503050406030204" pitchFamily="18" charset="0"/>
                <a:ea typeface="Cambria" panose="02040503050406030204" pitchFamily="18" charset="0"/>
                <a:cs typeface="Calibri" panose="020F0502020204030204" pitchFamily="34" charset="0"/>
              </a:rPr>
              <a:t>2512-16 du </a:t>
            </a:r>
            <a:r>
              <a:rPr lang="fr-FR" sz="2000" dirty="0" smtClean="0">
                <a:latin typeface="Cambria" panose="02040503050406030204" pitchFamily="18" charset="0"/>
                <a:ea typeface="Cambria" panose="02040503050406030204" pitchFamily="18" charset="0"/>
                <a:cs typeface="Calibri" panose="020F0502020204030204" pitchFamily="34" charset="0"/>
              </a:rPr>
              <a:t>C.G.C.T. </a:t>
            </a:r>
            <a:r>
              <a:rPr lang="fr-FR" sz="2000" dirty="0">
                <a:latin typeface="Cambria" panose="02040503050406030204" pitchFamily="18" charset="0"/>
                <a:ea typeface="Cambria" panose="02040503050406030204" pitchFamily="18" charset="0"/>
                <a:cs typeface="Calibri" panose="020F0502020204030204" pitchFamily="34" charset="0"/>
              </a:rPr>
              <a:t>prévoyait la verbalisation dans les </a:t>
            </a:r>
            <a:r>
              <a:rPr lang="fr-FR" sz="2000" dirty="0" smtClean="0">
                <a:latin typeface="Cambria" panose="02040503050406030204" pitchFamily="18" charset="0"/>
                <a:ea typeface="Cambria" panose="02040503050406030204" pitchFamily="18" charset="0"/>
                <a:cs typeface="Calibri" panose="020F0502020204030204" pitchFamily="34" charset="0"/>
              </a:rPr>
              <a:t>jardins.</a:t>
            </a:r>
            <a:endParaRPr lang="fr-FR" sz="2000" dirty="0">
              <a:latin typeface="Cambria" panose="02040503050406030204" pitchFamily="18" charset="0"/>
              <a:ea typeface="Cambria" panose="02040503050406030204" pitchFamily="18" charset="0"/>
              <a:cs typeface="Calibri" panose="020F0502020204030204" pitchFamily="34" charset="0"/>
            </a:endParaRPr>
          </a:p>
        </p:txBody>
      </p:sp>
      <p:pic>
        <p:nvPicPr>
          <p:cNvPr id="18" name="Image 17">
            <a:extLst>
              <a:ext uri="{FF2B5EF4-FFF2-40B4-BE49-F238E27FC236}">
                <a16:creationId xmlns:a16="http://schemas.microsoft.com/office/drawing/2014/main" id="{9E938166-DB21-40EA-B46D-20BBC79B54B6}"/>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9643728" y="2421860"/>
            <a:ext cx="2307265" cy="2437220"/>
          </a:xfrm>
          <a:prstGeom prst="rect">
            <a:avLst/>
          </a:prstGeom>
        </p:spPr>
      </p:pic>
    </p:spTree>
    <p:extLst>
      <p:ext uri="{BB962C8B-B14F-4D97-AF65-F5344CB8AC3E}">
        <p14:creationId xmlns:p14="http://schemas.microsoft.com/office/powerpoint/2010/main" val="127514692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14DB927-DE7D-4E19-BF9C-011DC8DF75CB}"/>
              </a:ext>
            </a:extLst>
          </p:cNvPr>
          <p:cNvSpPr>
            <a:spLocks noGrp="1"/>
          </p:cNvSpPr>
          <p:nvPr>
            <p:ph type="title"/>
          </p:nvPr>
        </p:nvSpPr>
        <p:spPr>
          <a:xfrm>
            <a:off x="540000" y="360000"/>
            <a:ext cx="10800000" cy="648000"/>
          </a:xfrm>
        </p:spPr>
        <p:txBody>
          <a:bodyPr>
            <a:noAutofit/>
          </a:bodyPr>
          <a:lstStyle/>
          <a:p>
            <a:r>
              <a:rPr lang="fr-FR" sz="2800" dirty="0" smtClean="0">
                <a:solidFill>
                  <a:srgbClr val="FF0000"/>
                </a:solidFill>
                <a:cs typeface="Calibri" panose="020F0502020204030204" pitchFamily="34" charset="0"/>
              </a:rPr>
              <a:t> </a:t>
            </a:r>
            <a:r>
              <a:rPr lang="fr-FR" sz="2400" dirty="0" smtClean="0">
                <a:solidFill>
                  <a:srgbClr val="FF0000"/>
                </a:solidFill>
                <a:latin typeface="Cambria" panose="02040503050406030204" pitchFamily="18" charset="0"/>
                <a:ea typeface="Cambria" panose="02040503050406030204" pitchFamily="18" charset="0"/>
                <a:cs typeface="Calibri" panose="020F0502020204030204" pitchFamily="34" charset="0"/>
              </a:rPr>
              <a:t>Évolution au sein de la Ville de Paris avant 2012</a:t>
            </a:r>
            <a:endParaRPr lang="fr-FR" sz="2400" dirty="0">
              <a:solidFill>
                <a:srgbClr val="FF0000"/>
              </a:solidFill>
              <a:latin typeface="Cambria" panose="02040503050406030204" pitchFamily="18" charset="0"/>
              <a:ea typeface="Cambria" panose="02040503050406030204" pitchFamily="18" charset="0"/>
              <a:cs typeface="Calibri" panose="020F0502020204030204" pitchFamily="34" charset="0"/>
            </a:endParaRPr>
          </a:p>
        </p:txBody>
      </p:sp>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23</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16" name="ZoneTexte 15">
            <a:extLst>
              <a:ext uri="{FF2B5EF4-FFF2-40B4-BE49-F238E27FC236}">
                <a16:creationId xmlns:a16="http://schemas.microsoft.com/office/drawing/2014/main" id="{BED329AB-DF9E-455D-A630-0876C8C1DBB2}"/>
              </a:ext>
            </a:extLst>
          </p:cNvPr>
          <p:cNvSpPr txBox="1"/>
          <p:nvPr/>
        </p:nvSpPr>
        <p:spPr>
          <a:xfrm>
            <a:off x="638629" y="1422399"/>
            <a:ext cx="10276114" cy="2899255"/>
          </a:xfrm>
          <a:prstGeom prst="rect">
            <a:avLst/>
          </a:prstGeom>
          <a:noFill/>
        </p:spPr>
        <p:txBody>
          <a:bodyPr wrap="square">
            <a:spAutoFit/>
          </a:bodyPr>
          <a:lstStyle/>
          <a:p>
            <a:pPr marL="457200" indent="-457200" algn="just">
              <a:lnSpc>
                <a:spcPct val="120000"/>
              </a:lnSpc>
              <a:buFont typeface="Wingdings" panose="05000000000000000000" pitchFamily="2" charset="2"/>
              <a:buChar char="q"/>
            </a:pPr>
            <a:r>
              <a:rPr lang="fr-FR" sz="2400" b="1" dirty="0" smtClean="0">
                <a:latin typeface="Cambria" panose="02040503050406030204" pitchFamily="18" charset="0"/>
                <a:ea typeface="Cambria" panose="02040503050406030204" pitchFamily="18" charset="0"/>
                <a:cs typeface="Calibri" panose="020F0502020204030204" pitchFamily="34" charset="0"/>
              </a:rPr>
              <a:t>2003</a:t>
            </a:r>
            <a:r>
              <a:rPr lang="fr-FR" sz="2400" dirty="0" smtClean="0">
                <a:latin typeface="Cambria" panose="02040503050406030204" pitchFamily="18" charset="0"/>
                <a:ea typeface="Cambria" panose="02040503050406030204" pitchFamily="18" charset="0"/>
                <a:cs typeface="Calibri" panose="020F0502020204030204" pitchFamily="34" charset="0"/>
              </a:rPr>
              <a:t> </a:t>
            </a:r>
            <a:r>
              <a:rPr lang="fr-FR" sz="2400" dirty="0">
                <a:latin typeface="Cambria" panose="02040503050406030204" pitchFamily="18" charset="0"/>
                <a:ea typeface="Cambria" panose="02040503050406030204" pitchFamily="18" charset="0"/>
                <a:cs typeface="Calibri" panose="020F0502020204030204" pitchFamily="34" charset="0"/>
              </a:rPr>
              <a:t>: </a:t>
            </a:r>
            <a:r>
              <a:rPr lang="fr-FR" sz="2400" b="1" dirty="0">
                <a:latin typeface="Cambria" panose="02040503050406030204" pitchFamily="18" charset="0"/>
                <a:ea typeface="Cambria" panose="02040503050406030204" pitchFamily="18" charset="0"/>
                <a:cs typeface="Calibri" panose="020F0502020204030204" pitchFamily="34" charset="0"/>
              </a:rPr>
              <a:t>article </a:t>
            </a:r>
            <a:r>
              <a:rPr lang="fr-FR" sz="2400" b="1" dirty="0" smtClean="0">
                <a:latin typeface="Cambria" panose="02040503050406030204" pitchFamily="18" charset="0"/>
                <a:ea typeface="Cambria" panose="02040503050406030204" pitchFamily="18" charset="0"/>
                <a:cs typeface="Calibri" panose="020F0502020204030204" pitchFamily="34" charset="0"/>
              </a:rPr>
              <a:t>108 </a:t>
            </a:r>
            <a:r>
              <a:rPr lang="fr-FR" sz="2000" dirty="0" smtClean="0">
                <a:latin typeface="Cambria" panose="02040503050406030204" pitchFamily="18" charset="0"/>
                <a:ea typeface="Cambria" panose="02040503050406030204" pitchFamily="18" charset="0"/>
                <a:cs typeface="Calibri" panose="020F0502020204030204" pitchFamily="34" charset="0"/>
              </a:rPr>
              <a:t>de </a:t>
            </a:r>
            <a:r>
              <a:rPr lang="fr-FR" sz="2000" dirty="0">
                <a:latin typeface="Cambria" panose="02040503050406030204" pitchFamily="18" charset="0"/>
                <a:ea typeface="Cambria" panose="02040503050406030204" pitchFamily="18" charset="0"/>
                <a:cs typeface="Calibri" panose="020F0502020204030204" pitchFamily="34" charset="0"/>
              </a:rPr>
              <a:t>la  loi sur la sécurité </a:t>
            </a:r>
            <a:r>
              <a:rPr lang="fr-FR" sz="2000" dirty="0" smtClean="0">
                <a:latin typeface="Cambria" panose="02040503050406030204" pitchFamily="18" charset="0"/>
                <a:ea typeface="Cambria" panose="02040503050406030204" pitchFamily="18" charset="0"/>
                <a:cs typeface="Calibri" panose="020F0502020204030204" pitchFamily="34" charset="0"/>
              </a:rPr>
              <a:t>intérieure du 18 mars 2003 </a:t>
            </a:r>
            <a:r>
              <a:rPr lang="fr-FR" sz="2000" dirty="0">
                <a:latin typeface="Cambria" panose="02040503050406030204" pitchFamily="18" charset="0"/>
                <a:ea typeface="Cambria" panose="02040503050406030204" pitchFamily="18" charset="0"/>
                <a:cs typeface="Calibri" panose="020F0502020204030204" pitchFamily="34" charset="0"/>
              </a:rPr>
              <a:t>qui </a:t>
            </a:r>
            <a:r>
              <a:rPr lang="fr-FR" sz="2000" dirty="0" smtClean="0">
                <a:latin typeface="Cambria" panose="02040503050406030204" pitchFamily="18" charset="0"/>
                <a:ea typeface="Cambria" panose="02040503050406030204" pitchFamily="18" charset="0"/>
                <a:cs typeface="Calibri" panose="020F0502020204030204" pitchFamily="34" charset="0"/>
              </a:rPr>
              <a:t>prévoit que </a:t>
            </a:r>
            <a:r>
              <a:rPr lang="fr-FR" sz="2000" dirty="0">
                <a:latin typeface="Cambria" panose="02040503050406030204" pitchFamily="18" charset="0"/>
                <a:ea typeface="Cambria" panose="02040503050406030204" pitchFamily="18" charset="0"/>
                <a:cs typeface="Calibri" panose="020F0502020204030204" pitchFamily="34" charset="0"/>
              </a:rPr>
              <a:t>les agents chargés d’un service de  </a:t>
            </a:r>
            <a:r>
              <a:rPr lang="fr-FR" sz="2000" dirty="0" smtClean="0">
                <a:latin typeface="Cambria" panose="02040503050406030204" pitchFamily="18" charset="0"/>
                <a:ea typeface="Cambria" panose="02040503050406030204" pitchFamily="18" charset="0"/>
                <a:cs typeface="Calibri" panose="020F0502020204030204" pitchFamily="34" charset="0"/>
              </a:rPr>
              <a:t>police peuvent </a:t>
            </a:r>
            <a:r>
              <a:rPr lang="fr-FR" sz="2000" dirty="0">
                <a:latin typeface="Cambria" panose="02040503050406030204" pitchFamily="18" charset="0"/>
                <a:ea typeface="Cambria" panose="02040503050406030204" pitchFamily="18" charset="0"/>
                <a:cs typeface="Calibri" panose="020F0502020204030204" pitchFamily="34" charset="0"/>
              </a:rPr>
              <a:t>verbaliser les contraventions aux arrêtés </a:t>
            </a:r>
            <a:r>
              <a:rPr lang="fr-FR" sz="2000" dirty="0" smtClean="0">
                <a:latin typeface="Cambria" panose="02040503050406030204" pitchFamily="18" charset="0"/>
                <a:ea typeface="Cambria" panose="02040503050406030204" pitchFamily="18" charset="0"/>
                <a:cs typeface="Calibri" panose="020F0502020204030204" pitchFamily="34" charset="0"/>
              </a:rPr>
              <a:t>du Maire =&gt; </a:t>
            </a:r>
            <a:r>
              <a:rPr lang="fr-FR" sz="2000" u="sng" dirty="0" smtClean="0">
                <a:latin typeface="Cambria" panose="02040503050406030204" pitchFamily="18" charset="0"/>
                <a:ea typeface="Cambria" panose="02040503050406030204" pitchFamily="18" charset="0"/>
                <a:cs typeface="Calibri" panose="020F0502020204030204" pitchFamily="34" charset="0"/>
              </a:rPr>
              <a:t>Article L.2512-16 du C.G.C.T.</a:t>
            </a:r>
          </a:p>
          <a:p>
            <a:pPr marL="457200" indent="-457200" algn="just">
              <a:lnSpc>
                <a:spcPct val="120000"/>
              </a:lnSpc>
              <a:buFont typeface="Wingdings" panose="05000000000000000000" pitchFamily="2" charset="2"/>
              <a:buChar char="q"/>
            </a:pPr>
            <a:endParaRPr lang="fr-FR" sz="2000" dirty="0">
              <a:latin typeface="Cambria" panose="02040503050406030204" pitchFamily="18" charset="0"/>
              <a:ea typeface="Cambria" panose="02040503050406030204" pitchFamily="18" charset="0"/>
              <a:cs typeface="Calibri" panose="020F0502020204030204" pitchFamily="34" charset="0"/>
            </a:endParaRPr>
          </a:p>
          <a:p>
            <a:pPr marL="457200" indent="-457200" algn="just">
              <a:lnSpc>
                <a:spcPct val="120000"/>
              </a:lnSpc>
              <a:buFont typeface="Wingdings" panose="05000000000000000000" pitchFamily="2" charset="2"/>
              <a:buChar char="q"/>
            </a:pPr>
            <a:r>
              <a:rPr lang="fr-FR" sz="2400" b="1" dirty="0">
                <a:latin typeface="Cambria" panose="02040503050406030204" pitchFamily="18" charset="0"/>
                <a:ea typeface="Cambria" panose="02040503050406030204" pitchFamily="18" charset="0"/>
                <a:cs typeface="Calibri" panose="020F0502020204030204" pitchFamily="34" charset="0"/>
              </a:rPr>
              <a:t>2006</a:t>
            </a:r>
            <a:r>
              <a:rPr lang="fr-FR" sz="2400" dirty="0">
                <a:latin typeface="Cambria" panose="02040503050406030204" pitchFamily="18" charset="0"/>
                <a:ea typeface="Cambria" panose="02040503050406030204" pitchFamily="18" charset="0"/>
                <a:cs typeface="Calibri" panose="020F0502020204030204" pitchFamily="34" charset="0"/>
              </a:rPr>
              <a:t> : </a:t>
            </a:r>
            <a:r>
              <a:rPr lang="fr-FR" sz="2000" i="1" dirty="0">
                <a:solidFill>
                  <a:srgbClr val="FF0000"/>
                </a:solidFill>
                <a:latin typeface="Cambria" panose="02040503050406030204" pitchFamily="18" charset="0"/>
                <a:ea typeface="Cambria" panose="02040503050406030204" pitchFamily="18" charset="0"/>
                <a:cs typeface="Calibri" panose="020F0502020204030204" pitchFamily="34" charset="0"/>
              </a:rPr>
              <a:t>extension à certaines </a:t>
            </a:r>
            <a:r>
              <a:rPr lang="fr-FR" sz="2000" i="1" dirty="0" smtClean="0">
                <a:solidFill>
                  <a:srgbClr val="FF0000"/>
                </a:solidFill>
                <a:latin typeface="Cambria" panose="02040503050406030204" pitchFamily="18" charset="0"/>
                <a:ea typeface="Cambria" panose="02040503050406030204" pitchFamily="18" charset="0"/>
                <a:cs typeface="Calibri" panose="020F0502020204030204" pitchFamily="34" charset="0"/>
              </a:rPr>
              <a:t>contraventions</a:t>
            </a:r>
          </a:p>
          <a:p>
            <a:pPr marL="457200" indent="-457200" algn="just">
              <a:lnSpc>
                <a:spcPct val="120000"/>
              </a:lnSpc>
              <a:buFont typeface="Wingdings" panose="05000000000000000000" pitchFamily="2" charset="2"/>
              <a:buChar char="q"/>
            </a:pPr>
            <a:endParaRPr lang="fr-FR" sz="2000" i="1"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457200" indent="-457200" algn="just">
              <a:lnSpc>
                <a:spcPct val="120000"/>
              </a:lnSpc>
              <a:buFont typeface="Wingdings" panose="05000000000000000000" pitchFamily="2" charset="2"/>
              <a:buChar char="q"/>
            </a:pPr>
            <a:r>
              <a:rPr lang="fr-FR" sz="2400" b="1" dirty="0">
                <a:solidFill>
                  <a:schemeClr val="tx2">
                    <a:lumMod val="75000"/>
                  </a:schemeClr>
                </a:solidFill>
                <a:latin typeface="Cambria" panose="02040503050406030204" pitchFamily="18" charset="0"/>
                <a:ea typeface="Cambria" panose="02040503050406030204" pitchFamily="18" charset="0"/>
                <a:cs typeface="Calibri" panose="020F0502020204030204" pitchFamily="34" charset="0"/>
              </a:rPr>
              <a:t>2007</a:t>
            </a:r>
            <a:r>
              <a:rPr lang="fr-FR" sz="2400" dirty="0">
                <a:solidFill>
                  <a:schemeClr val="tx2">
                    <a:lumMod val="75000"/>
                  </a:schemeClr>
                </a:solidFill>
                <a:latin typeface="Cambria" panose="02040503050406030204" pitchFamily="18" charset="0"/>
                <a:ea typeface="Cambria" panose="02040503050406030204" pitchFamily="18" charset="0"/>
                <a:cs typeface="Calibri" panose="020F0502020204030204" pitchFamily="34" charset="0"/>
              </a:rPr>
              <a:t> : </a:t>
            </a:r>
            <a:r>
              <a:rPr lang="fr-FR" sz="2000" i="1" dirty="0">
                <a:solidFill>
                  <a:srgbClr val="FF0000"/>
                </a:solidFill>
                <a:latin typeface="Cambria" panose="02040503050406030204" pitchFamily="18" charset="0"/>
                <a:ea typeface="Cambria" panose="02040503050406030204" pitchFamily="18" charset="0"/>
                <a:cs typeface="Calibri" panose="020F0502020204030204" pitchFamily="34" charset="0"/>
              </a:rPr>
              <a:t>extension aux permis de stationnement (ce ne sont pas les voitures</a:t>
            </a:r>
            <a:r>
              <a:rPr lang="fr-FR" sz="2000" i="1" dirty="0" smtClean="0">
                <a:solidFill>
                  <a:srgbClr val="FF0000"/>
                </a:solidFill>
                <a:latin typeface="Cambria" panose="02040503050406030204" pitchFamily="18" charset="0"/>
                <a:ea typeface="Cambria" panose="02040503050406030204" pitchFamily="18" charset="0"/>
                <a:cs typeface="Calibri" panose="020F0502020204030204" pitchFamily="34" charset="0"/>
              </a:rPr>
              <a:t>)</a:t>
            </a:r>
            <a:endParaRPr lang="fr-FR" sz="2000" dirty="0">
              <a:solidFill>
                <a:srgbClr val="000000"/>
              </a:solidFill>
              <a:effectLst/>
              <a:latin typeface="Cambria" panose="02040503050406030204" pitchFamily="18" charset="0"/>
              <a:ea typeface="Cambria" panose="02040503050406030204" pitchFamily="18" charset="0"/>
              <a:cs typeface="MinionPro-Regular"/>
            </a:endParaRPr>
          </a:p>
        </p:txBody>
      </p:sp>
      <p:pic>
        <p:nvPicPr>
          <p:cNvPr id="18" name="Image 17">
            <a:extLst>
              <a:ext uri="{FF2B5EF4-FFF2-40B4-BE49-F238E27FC236}">
                <a16:creationId xmlns:a16="http://schemas.microsoft.com/office/drawing/2014/main" id="{9E938166-DB21-40EA-B46D-20BBC79B54B6}"/>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4761277" y="4399514"/>
            <a:ext cx="2030818" cy="1395229"/>
          </a:xfrm>
          <a:prstGeom prst="rect">
            <a:avLst/>
          </a:prstGeom>
        </p:spPr>
      </p:pic>
    </p:spTree>
    <p:extLst>
      <p:ext uri="{BB962C8B-B14F-4D97-AF65-F5344CB8AC3E}">
        <p14:creationId xmlns:p14="http://schemas.microsoft.com/office/powerpoint/2010/main" val="104213057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14DB927-DE7D-4E19-BF9C-011DC8DF75CB}"/>
              </a:ext>
            </a:extLst>
          </p:cNvPr>
          <p:cNvSpPr>
            <a:spLocks noGrp="1"/>
          </p:cNvSpPr>
          <p:nvPr>
            <p:ph type="title"/>
          </p:nvPr>
        </p:nvSpPr>
        <p:spPr>
          <a:xfrm>
            <a:off x="540000" y="360000"/>
            <a:ext cx="10800000" cy="648000"/>
          </a:xfrm>
        </p:spPr>
        <p:txBody>
          <a:bodyPr>
            <a:noAutofit/>
          </a:bodyPr>
          <a:lstStyle/>
          <a:p>
            <a:r>
              <a:rPr lang="fr-FR" sz="2400" dirty="0" smtClean="0">
                <a:solidFill>
                  <a:srgbClr val="FF0000"/>
                </a:solidFill>
                <a:latin typeface="Cambria" panose="02040503050406030204" pitchFamily="18" charset="0"/>
                <a:ea typeface="Cambria" panose="02040503050406030204" pitchFamily="18" charset="0"/>
                <a:cs typeface="Calibri" panose="020F0502020204030204" pitchFamily="34" charset="0"/>
              </a:rPr>
              <a:t>Évolution </a:t>
            </a:r>
            <a:r>
              <a:rPr lang="fr-FR" sz="2400" dirty="0">
                <a:solidFill>
                  <a:srgbClr val="FF0000"/>
                </a:solidFill>
                <a:latin typeface="Cambria" panose="02040503050406030204" pitchFamily="18" charset="0"/>
                <a:ea typeface="Cambria" panose="02040503050406030204" pitchFamily="18" charset="0"/>
                <a:cs typeface="Calibri" panose="020F0502020204030204" pitchFamily="34" charset="0"/>
              </a:rPr>
              <a:t>au sein de la Ville de Paris </a:t>
            </a:r>
            <a:r>
              <a:rPr lang="fr-FR" sz="2400" dirty="0" smtClean="0">
                <a:solidFill>
                  <a:srgbClr val="FF0000"/>
                </a:solidFill>
                <a:latin typeface="Cambria" panose="02040503050406030204" pitchFamily="18" charset="0"/>
                <a:ea typeface="Cambria" panose="02040503050406030204" pitchFamily="18" charset="0"/>
                <a:cs typeface="Calibri" panose="020F0502020204030204" pitchFamily="34" charset="0"/>
              </a:rPr>
              <a:t>après </a:t>
            </a:r>
            <a:r>
              <a:rPr lang="fr-FR" sz="2400" dirty="0">
                <a:solidFill>
                  <a:srgbClr val="FF0000"/>
                </a:solidFill>
                <a:latin typeface="Cambria" panose="02040503050406030204" pitchFamily="18" charset="0"/>
                <a:ea typeface="Cambria" panose="02040503050406030204" pitchFamily="18" charset="0"/>
                <a:cs typeface="Calibri" panose="020F0502020204030204" pitchFamily="34" charset="0"/>
              </a:rPr>
              <a:t>2012</a:t>
            </a:r>
          </a:p>
        </p:txBody>
      </p:sp>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24</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7" name="ZoneTexte 6">
            <a:extLst>
              <a:ext uri="{FF2B5EF4-FFF2-40B4-BE49-F238E27FC236}">
                <a16:creationId xmlns:a16="http://schemas.microsoft.com/office/drawing/2014/main" id="{05DFCE03-3279-40F5-99B4-EC6931BFC244}"/>
              </a:ext>
            </a:extLst>
          </p:cNvPr>
          <p:cNvSpPr txBox="1"/>
          <p:nvPr/>
        </p:nvSpPr>
        <p:spPr>
          <a:xfrm>
            <a:off x="852000" y="1297802"/>
            <a:ext cx="8440856" cy="5447645"/>
          </a:xfrm>
          <a:prstGeom prst="rect">
            <a:avLst/>
          </a:prstGeom>
          <a:noFill/>
        </p:spPr>
        <p:txBody>
          <a:bodyPr wrap="square">
            <a:spAutoFit/>
          </a:bodyPr>
          <a:lstStyle/>
          <a:p>
            <a:pPr algn="just">
              <a:lnSpc>
                <a:spcPct val="115000"/>
              </a:lnSpc>
              <a:spcAft>
                <a:spcPts val="1000"/>
              </a:spcAft>
            </a:pPr>
            <a:r>
              <a:rPr lang="fr-FR" sz="2400" b="1" i="1" u="sng" dirty="0">
                <a:effectLst/>
                <a:latin typeface="Cambria" panose="02040503050406030204" pitchFamily="18" charset="0"/>
                <a:ea typeface="Cambria" panose="02040503050406030204" pitchFamily="18" charset="0"/>
                <a:cs typeface="Calibri" panose="020F0502020204030204" pitchFamily="34" charset="0"/>
              </a:rPr>
              <a:t>Une nouvelle approche territoriale </a:t>
            </a:r>
            <a:r>
              <a:rPr lang="fr-FR" sz="2400" b="1" i="1" u="sng" dirty="0" smtClean="0">
                <a:effectLst/>
                <a:latin typeface="Cambria" panose="02040503050406030204" pitchFamily="18" charset="0"/>
                <a:ea typeface="Cambria" panose="02040503050406030204" pitchFamily="18" charset="0"/>
                <a:cs typeface="Calibri" panose="020F0502020204030204" pitchFamily="34" charset="0"/>
              </a:rPr>
              <a:t>: </a:t>
            </a:r>
            <a:endParaRPr lang="fr-FR" sz="2400" dirty="0">
              <a:effectLst/>
              <a:latin typeface="Cambria" panose="02040503050406030204" pitchFamily="18" charset="0"/>
              <a:ea typeface="Cambria" panose="02040503050406030204" pitchFamily="18" charset="0"/>
              <a:cs typeface="Calibri" panose="020F0502020204030204" pitchFamily="34" charset="0"/>
            </a:endParaRPr>
          </a:p>
          <a:p>
            <a:pPr marL="457200" lvl="0" indent="-457200" algn="just">
              <a:lnSpc>
                <a:spcPct val="115000"/>
              </a:lnSpc>
              <a:spcAft>
                <a:spcPts val="1000"/>
              </a:spcAft>
              <a:buFont typeface="Wingdings" panose="05000000000000000000" pitchFamily="2" charset="2"/>
              <a:buChar char="q"/>
            </a:pPr>
            <a:r>
              <a:rPr lang="fr-FR" sz="2000" b="1" dirty="0">
                <a:effectLst/>
                <a:latin typeface="Cambria" panose="02040503050406030204" pitchFamily="18" charset="0"/>
                <a:ea typeface="Cambria" panose="02040503050406030204" pitchFamily="18" charset="0"/>
                <a:cs typeface="Calibri" panose="020F0502020204030204" pitchFamily="34" charset="0"/>
              </a:rPr>
              <a:t>Création </a:t>
            </a:r>
            <a:r>
              <a:rPr lang="fr-FR" sz="2000" b="1" dirty="0" smtClean="0">
                <a:effectLst/>
                <a:latin typeface="Cambria" panose="02040503050406030204" pitchFamily="18" charset="0"/>
                <a:ea typeface="Cambria" panose="02040503050406030204" pitchFamily="18" charset="0"/>
                <a:cs typeface="Calibri" panose="020F0502020204030204" pitchFamily="34" charset="0"/>
              </a:rPr>
              <a:t>de </a:t>
            </a:r>
            <a:r>
              <a:rPr lang="fr-FR" sz="2000" b="1" dirty="0">
                <a:effectLst/>
                <a:latin typeface="Cambria" panose="02040503050406030204" pitchFamily="18" charset="0"/>
                <a:ea typeface="Cambria" panose="02040503050406030204" pitchFamily="18" charset="0"/>
                <a:cs typeface="Calibri" panose="020F0502020204030204" pitchFamily="34" charset="0"/>
              </a:rPr>
              <a:t>6 </a:t>
            </a:r>
            <a:r>
              <a:rPr lang="fr-FR" sz="2000" b="1" dirty="0">
                <a:latin typeface="Cambria" panose="02040503050406030204" pitchFamily="18" charset="0"/>
                <a:ea typeface="Cambria" panose="02040503050406030204" pitchFamily="18" charset="0"/>
                <a:cs typeface="Calibri" panose="020F0502020204030204" pitchFamily="34" charset="0"/>
              </a:rPr>
              <a:t>c</a:t>
            </a:r>
            <a:r>
              <a:rPr lang="fr-FR" sz="2000" b="1" dirty="0" smtClean="0">
                <a:effectLst/>
                <a:latin typeface="Cambria" panose="02040503050406030204" pitchFamily="18" charset="0"/>
                <a:ea typeface="Cambria" panose="02040503050406030204" pitchFamily="18" charset="0"/>
                <a:cs typeface="Calibri" panose="020F0502020204030204" pitchFamily="34" charset="0"/>
              </a:rPr>
              <a:t>irconscriptions DPP en 2012, étendues à 10 en 2016</a:t>
            </a:r>
          </a:p>
          <a:p>
            <a:pPr marL="457200" indent="-457200" algn="just">
              <a:lnSpc>
                <a:spcPct val="120000"/>
              </a:lnSpc>
              <a:buFont typeface="Wingdings" panose="05000000000000000000" pitchFamily="2" charset="2"/>
              <a:buChar char="q"/>
            </a:pPr>
            <a:r>
              <a:rPr lang="fr-FR" sz="2000" b="1" dirty="0" smtClean="0">
                <a:latin typeface="Cambria" panose="02040503050406030204" pitchFamily="18" charset="0"/>
                <a:ea typeface="Cambria" panose="02040503050406030204" pitchFamily="18" charset="0"/>
                <a:cs typeface="Calibri" panose="020F0502020204030204" pitchFamily="34" charset="0"/>
              </a:rPr>
              <a:t>Création </a:t>
            </a:r>
            <a:r>
              <a:rPr lang="fr-FR" sz="2000" b="1" dirty="0">
                <a:latin typeface="Cambria" panose="02040503050406030204" pitchFamily="18" charset="0"/>
                <a:ea typeface="Cambria" panose="02040503050406030204" pitchFamily="18" charset="0"/>
                <a:cs typeface="Calibri" panose="020F0502020204030204" pitchFamily="34" charset="0"/>
              </a:rPr>
              <a:t>du code de sécurité intérieure </a:t>
            </a:r>
            <a:r>
              <a:rPr lang="fr-FR" sz="2000" dirty="0">
                <a:latin typeface="Cambria" panose="02040503050406030204" pitchFamily="18" charset="0"/>
                <a:ea typeface="Cambria" panose="02040503050406030204" pitchFamily="18" charset="0"/>
                <a:cs typeface="Calibri" panose="020F0502020204030204" pitchFamily="34" charset="0"/>
              </a:rPr>
              <a:t>qui réécrit l’article </a:t>
            </a:r>
            <a:r>
              <a:rPr lang="fr-FR" sz="2000" dirty="0" smtClean="0">
                <a:latin typeface="Cambria" panose="02040503050406030204" pitchFamily="18" charset="0"/>
                <a:ea typeface="Cambria" panose="02040503050406030204" pitchFamily="18" charset="0"/>
                <a:cs typeface="Calibri" panose="020F0502020204030204" pitchFamily="34" charset="0"/>
              </a:rPr>
              <a:t>L.2512-16 du C.G.C.T. </a:t>
            </a:r>
            <a:r>
              <a:rPr lang="fr-FR" sz="2000" dirty="0">
                <a:latin typeface="Cambria" panose="02040503050406030204" pitchFamily="18" charset="0"/>
                <a:ea typeface="Cambria" panose="02040503050406030204" pitchFamily="18" charset="0"/>
                <a:cs typeface="Calibri" panose="020F0502020204030204" pitchFamily="34" charset="0"/>
              </a:rPr>
              <a:t>et renvoie à </a:t>
            </a:r>
          </a:p>
          <a:p>
            <a:pPr marL="742950" lvl="1" indent="-285750" algn="just">
              <a:buFont typeface="Symbol" panose="05050102010706020507" pitchFamily="18" charset="2"/>
              <a:buChar char="Þ"/>
            </a:pPr>
            <a:r>
              <a:rPr lang="fr-FR" sz="2000" dirty="0">
                <a:latin typeface="Cambria" panose="02040503050406030204" pitchFamily="18" charset="0"/>
                <a:ea typeface="Cambria" panose="02040503050406030204" pitchFamily="18" charset="0"/>
                <a:cs typeface="Calibri" panose="020F0502020204030204" pitchFamily="34" charset="0"/>
              </a:rPr>
              <a:t> l’article </a:t>
            </a:r>
            <a:r>
              <a:rPr lang="fr-FR" sz="2000" b="1" dirty="0" smtClean="0">
                <a:solidFill>
                  <a:srgbClr val="FF0000"/>
                </a:solidFill>
                <a:latin typeface="Cambria" panose="02040503050406030204" pitchFamily="18" charset="0"/>
                <a:ea typeface="Cambria" panose="02040503050406030204" pitchFamily="18" charset="0"/>
                <a:cs typeface="Calibri" panose="020F0502020204030204" pitchFamily="34" charset="0"/>
              </a:rPr>
              <a:t>L.531-1 </a:t>
            </a:r>
            <a:r>
              <a:rPr lang="fr-FR" sz="2000" b="1" dirty="0">
                <a:solidFill>
                  <a:srgbClr val="FF0000"/>
                </a:solidFill>
                <a:latin typeface="Cambria" panose="02040503050406030204" pitchFamily="18" charset="0"/>
                <a:ea typeface="Cambria" panose="02040503050406030204" pitchFamily="18" charset="0"/>
                <a:cs typeface="Calibri" panose="020F0502020204030204" pitchFamily="34" charset="0"/>
              </a:rPr>
              <a:t>du </a:t>
            </a:r>
            <a:r>
              <a:rPr lang="fr-FR" sz="2000" b="1" dirty="0" smtClean="0">
                <a:solidFill>
                  <a:srgbClr val="FF0000"/>
                </a:solidFill>
                <a:latin typeface="Cambria" panose="02040503050406030204" pitchFamily="18" charset="0"/>
                <a:ea typeface="Cambria" panose="02040503050406030204" pitchFamily="18" charset="0"/>
                <a:cs typeface="Calibri" panose="020F0502020204030204" pitchFamily="34" charset="0"/>
              </a:rPr>
              <a:t>C.S.I. </a:t>
            </a:r>
            <a:r>
              <a:rPr lang="fr-FR" sz="2000" dirty="0">
                <a:latin typeface="Cambria" panose="02040503050406030204" pitchFamily="18" charset="0"/>
                <a:ea typeface="Cambria" panose="02040503050406030204" pitchFamily="18" charset="0"/>
                <a:cs typeface="Calibri" panose="020F0502020204030204" pitchFamily="34" charset="0"/>
              </a:rPr>
              <a:t>permet</a:t>
            </a:r>
            <a:r>
              <a:rPr lang="fr-FR" sz="2000" b="1" dirty="0">
                <a:latin typeface="Cambria" panose="02040503050406030204" pitchFamily="18" charset="0"/>
                <a:ea typeface="Cambria" panose="02040503050406030204" pitchFamily="18" charset="0"/>
                <a:cs typeface="Calibri" panose="020F0502020204030204" pitchFamily="34" charset="0"/>
              </a:rPr>
              <a:t> la verbalisation des</a:t>
            </a:r>
            <a:r>
              <a:rPr lang="fr-FR" sz="2000" dirty="0">
                <a:latin typeface="Cambria" panose="02040503050406030204" pitchFamily="18" charset="0"/>
                <a:ea typeface="Cambria" panose="02040503050406030204" pitchFamily="18" charset="0"/>
                <a:cs typeface="Calibri" panose="020F0502020204030204" pitchFamily="34" charset="0"/>
              </a:rPr>
              <a:t> contraventions </a:t>
            </a:r>
            <a:endParaRPr lang="fr-FR" sz="2000" b="1" dirty="0">
              <a:latin typeface="Cambria" panose="02040503050406030204" pitchFamily="18" charset="0"/>
              <a:ea typeface="Cambria" panose="02040503050406030204" pitchFamily="18" charset="0"/>
              <a:cs typeface="Calibri" panose="020F0502020204030204" pitchFamily="34" charset="0"/>
            </a:endParaRPr>
          </a:p>
          <a:p>
            <a:pPr algn="just"/>
            <a:r>
              <a:rPr lang="fr-FR" sz="2000" dirty="0">
                <a:latin typeface="Cambria" panose="02040503050406030204" pitchFamily="18" charset="0"/>
                <a:ea typeface="Cambria" panose="02040503050406030204" pitchFamily="18" charset="0"/>
                <a:cs typeface="Calibri" panose="020F0502020204030204" pitchFamily="34" charset="0"/>
              </a:rPr>
              <a:t>	- aux </a:t>
            </a:r>
            <a:r>
              <a:rPr lang="fr-FR" sz="2000" b="1" dirty="0">
                <a:latin typeface="Cambria" panose="02040503050406030204" pitchFamily="18" charset="0"/>
                <a:ea typeface="Cambria" panose="02040503050406030204" pitchFamily="18" charset="0"/>
                <a:cs typeface="Calibri" panose="020F0502020204030204" pitchFamily="34" charset="0"/>
              </a:rPr>
              <a:t>arrêtés de police du maire </a:t>
            </a:r>
            <a:r>
              <a:rPr lang="fr-FR" sz="2000" dirty="0">
                <a:latin typeface="Cambria" panose="02040503050406030204" pitchFamily="18" charset="0"/>
                <a:ea typeface="Cambria" panose="02040503050406030204" pitchFamily="18" charset="0"/>
                <a:cs typeface="Calibri" panose="020F0502020204030204" pitchFamily="34" charset="0"/>
              </a:rPr>
              <a:t>de Paris pris en application de 	l’article </a:t>
            </a:r>
            <a:r>
              <a:rPr lang="fr-FR" sz="2000" dirty="0" smtClean="0">
                <a:latin typeface="Cambria" panose="02040503050406030204" pitchFamily="18" charset="0"/>
                <a:ea typeface="Cambria" panose="02040503050406030204" pitchFamily="18" charset="0"/>
                <a:cs typeface="Calibri" panose="020F0502020204030204" pitchFamily="34" charset="0"/>
              </a:rPr>
              <a:t>L.2512-13 du C.G.C.T. </a:t>
            </a:r>
            <a:endParaRPr lang="fr-FR" sz="2000" dirty="0">
              <a:latin typeface="Cambria" panose="02040503050406030204" pitchFamily="18" charset="0"/>
              <a:ea typeface="Cambria" panose="02040503050406030204" pitchFamily="18" charset="0"/>
              <a:cs typeface="Calibri" panose="020F0502020204030204" pitchFamily="34" charset="0"/>
            </a:endParaRPr>
          </a:p>
          <a:p>
            <a:pPr algn="just"/>
            <a:r>
              <a:rPr lang="fr-FR" sz="2000" dirty="0">
                <a:latin typeface="Cambria" panose="02040503050406030204" pitchFamily="18" charset="0"/>
                <a:ea typeface="Cambria" panose="02040503050406030204" pitchFamily="18" charset="0"/>
                <a:cs typeface="Calibri" panose="020F0502020204030204" pitchFamily="34" charset="0"/>
              </a:rPr>
              <a:t>	- Celles relatives </a:t>
            </a:r>
            <a:r>
              <a:rPr lang="fr-FR" sz="2000" b="1" dirty="0">
                <a:latin typeface="Cambria" panose="02040503050406030204" pitchFamily="18" charset="0"/>
                <a:ea typeface="Cambria" panose="02040503050406030204" pitchFamily="18" charset="0"/>
                <a:cs typeface="Calibri" panose="020F0502020204030204" pitchFamily="34" charset="0"/>
              </a:rPr>
              <a:t>aux permis de stationnement </a:t>
            </a:r>
            <a:r>
              <a:rPr lang="fr-FR" sz="2000" dirty="0">
                <a:latin typeface="Cambria" panose="02040503050406030204" pitchFamily="18" charset="0"/>
                <a:ea typeface="Cambria" panose="02040503050406030204" pitchFamily="18" charset="0"/>
                <a:cs typeface="Calibri" panose="020F0502020204030204" pitchFamily="34" charset="0"/>
              </a:rPr>
              <a:t>sur la voie </a:t>
            </a:r>
            <a:r>
              <a:rPr lang="fr-FR" sz="2000" dirty="0" smtClean="0">
                <a:latin typeface="Cambria" panose="02040503050406030204" pitchFamily="18" charset="0"/>
                <a:ea typeface="Cambria" panose="02040503050406030204" pitchFamily="18" charset="0"/>
                <a:cs typeface="Calibri" panose="020F0502020204030204" pitchFamily="34" charset="0"/>
              </a:rPr>
              <a:t>	publique</a:t>
            </a:r>
            <a:endParaRPr lang="fr-FR" sz="2000" dirty="0">
              <a:latin typeface="Cambria" panose="02040503050406030204" pitchFamily="18" charset="0"/>
              <a:ea typeface="Cambria" panose="02040503050406030204" pitchFamily="18" charset="0"/>
              <a:cs typeface="Calibri" panose="020F0502020204030204" pitchFamily="34" charset="0"/>
            </a:endParaRPr>
          </a:p>
          <a:p>
            <a:pPr algn="just"/>
            <a:r>
              <a:rPr lang="fr-FR" sz="2000" dirty="0">
                <a:latin typeface="Cambria" panose="02040503050406030204" pitchFamily="18" charset="0"/>
                <a:ea typeface="Cambria" panose="02040503050406030204" pitchFamily="18" charset="0"/>
                <a:cs typeface="Calibri" panose="020F0502020204030204" pitchFamily="34" charset="0"/>
              </a:rPr>
              <a:t>	- Celles du </a:t>
            </a:r>
            <a:r>
              <a:rPr lang="fr-FR" sz="2000" b="1" dirty="0">
                <a:latin typeface="Cambria" panose="02040503050406030204" pitchFamily="18" charset="0"/>
                <a:ea typeface="Cambria" panose="02040503050406030204" pitchFamily="18" charset="0"/>
                <a:cs typeface="Calibri" panose="020F0502020204030204" pitchFamily="34" charset="0"/>
              </a:rPr>
              <a:t>livre VI du code pénal </a:t>
            </a:r>
            <a:r>
              <a:rPr lang="fr-FR" sz="2000" dirty="0">
                <a:latin typeface="Cambria" panose="02040503050406030204" pitchFamily="18" charset="0"/>
                <a:ea typeface="Cambria" panose="02040503050406030204" pitchFamily="18" charset="0"/>
                <a:cs typeface="Calibri" panose="020F0502020204030204" pitchFamily="34" charset="0"/>
              </a:rPr>
              <a:t>prévues à l’article R-15-33-29-3 	du </a:t>
            </a:r>
            <a:r>
              <a:rPr lang="fr-FR" sz="2000" dirty="0" smtClean="0">
                <a:latin typeface="Cambria" panose="02040503050406030204" pitchFamily="18" charset="0"/>
                <a:ea typeface="Cambria" panose="02040503050406030204" pitchFamily="18" charset="0"/>
                <a:cs typeface="Calibri" panose="020F0502020204030204" pitchFamily="34" charset="0"/>
              </a:rPr>
              <a:t>C.P.P.</a:t>
            </a:r>
            <a:r>
              <a:rPr lang="fr-FR" sz="2000" dirty="0">
                <a:cs typeface="Calibri" panose="020F0502020204030204" pitchFamily="34" charset="0"/>
              </a:rPr>
              <a:t>	</a:t>
            </a:r>
            <a:endParaRPr lang="fr-FR" sz="2000" b="1" dirty="0">
              <a:cs typeface="Calibri" panose="020F0502020204030204" pitchFamily="34" charset="0"/>
            </a:endParaRPr>
          </a:p>
          <a:p>
            <a:pPr marL="342900" lvl="0" indent="-342900">
              <a:lnSpc>
                <a:spcPct val="115000"/>
              </a:lnSpc>
              <a:spcAft>
                <a:spcPts val="1000"/>
              </a:spcAft>
              <a:buFont typeface="Wingdings" panose="05000000000000000000" pitchFamily="2" charset="2"/>
              <a:buChar char=""/>
            </a:pPr>
            <a:endParaRPr lang="fr-FR" sz="2800" dirty="0">
              <a:effectLst/>
              <a:ea typeface="Calibri" panose="020F0502020204030204" pitchFamily="34" charset="0"/>
              <a:cs typeface="Times New Roman" panose="02020603050405020304" pitchFamily="18" charset="0"/>
            </a:endParaRPr>
          </a:p>
          <a:p>
            <a:pPr>
              <a:lnSpc>
                <a:spcPct val="115000"/>
              </a:lnSpc>
              <a:spcAft>
                <a:spcPts val="1000"/>
              </a:spcAft>
            </a:pPr>
            <a:r>
              <a:rPr lang="fr-FR" sz="2800" dirty="0">
                <a:effectLst/>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11140756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14DB927-DE7D-4E19-BF9C-011DC8DF75CB}"/>
              </a:ext>
            </a:extLst>
          </p:cNvPr>
          <p:cNvSpPr>
            <a:spLocks noGrp="1"/>
          </p:cNvSpPr>
          <p:nvPr>
            <p:ph type="title"/>
          </p:nvPr>
        </p:nvSpPr>
        <p:spPr>
          <a:xfrm>
            <a:off x="655424" y="112542"/>
            <a:ext cx="9059516" cy="906442"/>
          </a:xfrm>
        </p:spPr>
        <p:txBody>
          <a:bodyPr>
            <a:noAutofit/>
          </a:bodyPr>
          <a:lstStyle/>
          <a:p>
            <a:pPr algn="ctr"/>
            <a:r>
              <a:rPr lang="fr-FR" sz="2800" dirty="0">
                <a:ea typeface="Calibri" panose="020F0502020204030204" pitchFamily="34" charset="0"/>
                <a:cs typeface="Times New Roman" panose="02020603050405020304" pitchFamily="18" charset="0"/>
              </a:rPr>
              <a:t/>
            </a:r>
            <a:br>
              <a:rPr lang="fr-FR" sz="2800" dirty="0">
                <a:ea typeface="Calibri" panose="020F0502020204030204" pitchFamily="34" charset="0"/>
                <a:cs typeface="Times New Roman" panose="02020603050405020304" pitchFamily="18" charset="0"/>
              </a:rPr>
            </a:br>
            <a:r>
              <a:rPr lang="fr-FR" sz="2800" dirty="0">
                <a:ea typeface="Calibri" panose="020F0502020204030204" pitchFamily="34" charset="0"/>
                <a:cs typeface="Times New Roman" panose="02020603050405020304" pitchFamily="18" charset="0"/>
              </a:rPr>
              <a:t/>
            </a:r>
            <a:br>
              <a:rPr lang="fr-FR" sz="2800" dirty="0">
                <a:ea typeface="Calibri" panose="020F0502020204030204" pitchFamily="34" charset="0"/>
                <a:cs typeface="Times New Roman" panose="02020603050405020304" pitchFamily="18" charset="0"/>
              </a:rPr>
            </a:br>
            <a:endParaRPr lang="fr-FR" sz="2800" dirty="0"/>
          </a:p>
        </p:txBody>
      </p:sp>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25</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7" name="ZoneTexte 6">
            <a:extLst>
              <a:ext uri="{FF2B5EF4-FFF2-40B4-BE49-F238E27FC236}">
                <a16:creationId xmlns:a16="http://schemas.microsoft.com/office/drawing/2014/main" id="{2A00FF4B-F7A2-4A21-89E3-0ED01579D0A7}"/>
              </a:ext>
            </a:extLst>
          </p:cNvPr>
          <p:cNvSpPr txBox="1"/>
          <p:nvPr/>
        </p:nvSpPr>
        <p:spPr>
          <a:xfrm>
            <a:off x="577517" y="1275230"/>
            <a:ext cx="7779020" cy="2839752"/>
          </a:xfrm>
          <a:prstGeom prst="rect">
            <a:avLst/>
          </a:prstGeom>
          <a:noFill/>
        </p:spPr>
        <p:txBody>
          <a:bodyPr wrap="square">
            <a:spAutoFit/>
          </a:bodyPr>
          <a:lstStyle/>
          <a:p>
            <a:pPr marL="285750" indent="-285750" algn="just">
              <a:lnSpc>
                <a:spcPct val="115000"/>
              </a:lnSpc>
              <a:spcAft>
                <a:spcPts val="1000"/>
              </a:spcAft>
              <a:buFont typeface="Wingdings" panose="05000000000000000000" pitchFamily="2" charset="2"/>
              <a:buChar char="q"/>
            </a:pPr>
            <a:r>
              <a:rPr lang="fr-FR" sz="2400" b="1" dirty="0">
                <a:effectLst/>
                <a:latin typeface="Cambria" panose="02040503050406030204" pitchFamily="18" charset="0"/>
                <a:ea typeface="Cambria" panose="02040503050406030204" pitchFamily="18" charset="0"/>
                <a:cs typeface="Calibri" panose="020F0502020204030204" pitchFamily="34" charset="0"/>
              </a:rPr>
              <a:t>La direction de la sécurité de proximité de l'agglomération parisienne (</a:t>
            </a:r>
            <a:r>
              <a:rPr lang="fr-FR" sz="2400" b="1" dirty="0" smtClean="0">
                <a:effectLst/>
                <a:latin typeface="Cambria" panose="02040503050406030204" pitchFamily="18" charset="0"/>
                <a:ea typeface="Cambria" panose="02040503050406030204" pitchFamily="18" charset="0"/>
                <a:cs typeface="Calibri" panose="020F0502020204030204" pitchFamily="34" charset="0"/>
              </a:rPr>
              <a:t>D.S.P.A.P.)</a:t>
            </a:r>
            <a:r>
              <a:rPr lang="fr-FR" sz="2400" dirty="0">
                <a:effectLst/>
                <a:latin typeface="Cambria" panose="02040503050406030204" pitchFamily="18" charset="0"/>
                <a:ea typeface="Cambria" panose="02040503050406030204" pitchFamily="18" charset="0"/>
                <a:cs typeface="Calibri" panose="020F0502020204030204" pitchFamily="34" charset="0"/>
              </a:rPr>
              <a:t> : </a:t>
            </a:r>
            <a:endParaRPr lang="fr-FR" sz="2400" dirty="0" smtClean="0">
              <a:effectLst/>
              <a:latin typeface="Cambria" panose="02040503050406030204" pitchFamily="18" charset="0"/>
              <a:ea typeface="Cambria" panose="02040503050406030204" pitchFamily="18" charset="0"/>
              <a:cs typeface="Calibri" panose="020F0502020204030204" pitchFamily="34" charset="0"/>
            </a:endParaRPr>
          </a:p>
          <a:p>
            <a:pPr algn="just">
              <a:lnSpc>
                <a:spcPct val="115000"/>
              </a:lnSpc>
              <a:spcAft>
                <a:spcPts val="1000"/>
              </a:spcAft>
            </a:pPr>
            <a:r>
              <a:rPr lang="fr-FR" sz="2000" dirty="0" smtClean="0">
                <a:effectLst/>
                <a:latin typeface="Cambria" panose="02040503050406030204" pitchFamily="18" charset="0"/>
                <a:ea typeface="Cambria" panose="02040503050406030204" pitchFamily="18" charset="0"/>
                <a:cs typeface="Calibri" panose="020F0502020204030204" pitchFamily="34" charset="0"/>
              </a:rPr>
              <a:t>Direction </a:t>
            </a:r>
            <a:r>
              <a:rPr lang="fr-FR" sz="2000" dirty="0">
                <a:effectLst/>
                <a:latin typeface="Cambria" panose="02040503050406030204" pitchFamily="18" charset="0"/>
                <a:ea typeface="Cambria" panose="02040503050406030204" pitchFamily="18" charset="0"/>
                <a:cs typeface="Calibri" panose="020F0502020204030204" pitchFamily="34" charset="0"/>
              </a:rPr>
              <a:t>centrale de la préfecture de police de Paris depuis 2009. Ses policiers sont déchargés des tâches d’ordre public et de circulation. Elle regroupe l’ensemble des missions de proximité (polyvalence et de complémentarité), </a:t>
            </a:r>
            <a:r>
              <a:rPr lang="fr-FR" sz="2000" dirty="0" smtClean="0">
                <a:effectLst/>
                <a:latin typeface="Cambria" panose="02040503050406030204" pitchFamily="18" charset="0"/>
                <a:ea typeface="Cambria" panose="02040503050406030204" pitchFamily="18" charset="0"/>
                <a:cs typeface="Calibri" panose="020F0502020204030204" pitchFamily="34" charset="0"/>
              </a:rPr>
              <a:t>en particulier </a:t>
            </a:r>
            <a:r>
              <a:rPr lang="fr-FR" sz="2000" dirty="0">
                <a:effectLst/>
                <a:latin typeface="Cambria" panose="02040503050406030204" pitchFamily="18" charset="0"/>
                <a:ea typeface="Cambria" panose="02040503050406030204" pitchFamily="18" charset="0"/>
                <a:cs typeface="Calibri" panose="020F0502020204030204" pitchFamily="34" charset="0"/>
              </a:rPr>
              <a:t>une mission d'accueil 7 jours/7, 24h/24 pour répondre aux différentes attentes du </a:t>
            </a:r>
            <a:r>
              <a:rPr lang="fr-FR" sz="2000" dirty="0" smtClean="0">
                <a:effectLst/>
                <a:latin typeface="Cambria" panose="02040503050406030204" pitchFamily="18" charset="0"/>
                <a:ea typeface="Cambria" panose="02040503050406030204" pitchFamily="18" charset="0"/>
                <a:cs typeface="Calibri" panose="020F0502020204030204" pitchFamily="34" charset="0"/>
              </a:rPr>
              <a:t>public </a:t>
            </a:r>
            <a:endParaRPr lang="fr-FR" sz="2000" dirty="0">
              <a:effectLst/>
              <a:latin typeface="Cambria" panose="02040503050406030204" pitchFamily="18" charset="0"/>
              <a:ea typeface="Cambria" panose="02040503050406030204" pitchFamily="18" charset="0"/>
              <a:cs typeface="Times New Roman" panose="02020603050405020304" pitchFamily="18" charset="0"/>
            </a:endParaRPr>
          </a:p>
        </p:txBody>
      </p:sp>
      <p:pic>
        <p:nvPicPr>
          <p:cNvPr id="3" name="Image 2">
            <a:extLst>
              <a:ext uri="{FF2B5EF4-FFF2-40B4-BE49-F238E27FC236}">
                <a16:creationId xmlns:a16="http://schemas.microsoft.com/office/drawing/2014/main" id="{0CADE381-086E-408D-B7A9-4FA4CA28A91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1348" y="4488658"/>
            <a:ext cx="2395411" cy="1495847"/>
          </a:xfrm>
          <a:prstGeom prst="rect">
            <a:avLst/>
          </a:prstGeom>
        </p:spPr>
      </p:pic>
      <p:pic>
        <p:nvPicPr>
          <p:cNvPr id="9" name="Picture 6" descr="Paris : la préfecture de police met en place son plan de protection des  touristes">
            <a:extLst>
              <a:ext uri="{FF2B5EF4-FFF2-40B4-BE49-F238E27FC236}">
                <a16:creationId xmlns:a16="http://schemas.microsoft.com/office/drawing/2014/main" id="{C82F062D-B0D1-4AF3-80CA-74B45BC876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76679" y="1452809"/>
            <a:ext cx="2473694" cy="1385269"/>
          </a:xfrm>
          <a:prstGeom prst="rect">
            <a:avLst/>
          </a:prstGeom>
          <a:noFill/>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2A00FF4B-F7A2-4A21-89E3-0ED01579D0A7}"/>
              </a:ext>
            </a:extLst>
          </p:cNvPr>
          <p:cNvSpPr txBox="1"/>
          <p:nvPr/>
        </p:nvSpPr>
        <p:spPr>
          <a:xfrm>
            <a:off x="6400800" y="4553318"/>
            <a:ext cx="5249573" cy="1791260"/>
          </a:xfrm>
          <a:prstGeom prst="rect">
            <a:avLst/>
          </a:prstGeom>
          <a:noFill/>
        </p:spPr>
        <p:txBody>
          <a:bodyPr wrap="square">
            <a:spAutoFit/>
          </a:bodyPr>
          <a:lstStyle/>
          <a:p>
            <a:pPr marL="285750" indent="-285750" algn="just">
              <a:lnSpc>
                <a:spcPct val="115000"/>
              </a:lnSpc>
              <a:spcAft>
                <a:spcPts val="1000"/>
              </a:spcAft>
              <a:buFont typeface="Wingdings" panose="05000000000000000000" pitchFamily="2" charset="2"/>
              <a:buChar char="q"/>
            </a:pPr>
            <a:r>
              <a:rPr lang="fr-FR" sz="2400" dirty="0" smtClean="0">
                <a:effectLst/>
                <a:latin typeface="Cambria" panose="02040503050406030204" pitchFamily="18" charset="0"/>
                <a:ea typeface="Cambria" panose="02040503050406030204" pitchFamily="18" charset="0"/>
                <a:cs typeface="Calibri" panose="020F0502020204030204" pitchFamily="34" charset="0"/>
              </a:rPr>
              <a:t> Les commissariats centraux d'arrondissement, qui sont au centre du dispositif de cette police de proximité</a:t>
            </a:r>
            <a:endParaRPr lang="fr-FR" sz="2400" dirty="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11" name="Titre 4">
            <a:extLst>
              <a:ext uri="{FF2B5EF4-FFF2-40B4-BE49-F238E27FC236}">
                <a16:creationId xmlns:a16="http://schemas.microsoft.com/office/drawing/2014/main" id="{E9A61551-508B-44D6-BF9D-DAB76C03E3B1}"/>
              </a:ext>
            </a:extLst>
          </p:cNvPr>
          <p:cNvSpPr txBox="1">
            <a:spLocks/>
          </p:cNvSpPr>
          <p:nvPr/>
        </p:nvSpPr>
        <p:spPr>
          <a:xfrm>
            <a:off x="696000" y="283769"/>
            <a:ext cx="10800000" cy="571770"/>
          </a:xfrm>
          <a:prstGeom prst="rect">
            <a:avLst/>
          </a:prstGeom>
        </p:spPr>
        <p:txBody>
          <a:bodyPr vert="horz" lIns="91440" tIns="45720" rIns="91440" bIns="45720" rtlCol="0" anchor="t">
            <a:noAutofit/>
          </a:bodyPr>
          <a:lstStyle>
            <a:lvl1pPr algn="l" defTabSz="914400" rtl="0" eaLnBrk="1" latinLnBrk="0" hangingPunct="1">
              <a:lnSpc>
                <a:spcPct val="115000"/>
              </a:lnSpc>
              <a:spcBef>
                <a:spcPct val="0"/>
              </a:spcBef>
              <a:buNone/>
              <a:defRPr sz="2200" b="1" kern="1200">
                <a:solidFill>
                  <a:schemeClr val="tx1"/>
                </a:solidFill>
                <a:latin typeface="+mj-lt"/>
                <a:ea typeface="+mj-ea"/>
                <a:cs typeface="+mj-cs"/>
              </a:defRPr>
            </a:lvl1pPr>
          </a:lstStyle>
          <a:p>
            <a:r>
              <a:rPr lang="fr-FR" sz="2800" dirty="0" smtClean="0">
                <a:solidFill>
                  <a:srgbClr val="FF0000"/>
                </a:solidFill>
                <a:latin typeface="Cambria" panose="02040503050406030204" pitchFamily="18" charset="0"/>
                <a:ea typeface="Cambria" panose="02040503050406030204" pitchFamily="18" charset="0"/>
                <a:cs typeface="Calibri" panose="020F0502020204030204" pitchFamily="34" charset="0"/>
              </a:rPr>
              <a:t>La </a:t>
            </a:r>
            <a:r>
              <a:rPr lang="fr-FR" sz="2800" dirty="0">
                <a:solidFill>
                  <a:srgbClr val="FF0000"/>
                </a:solidFill>
                <a:latin typeface="Cambria" panose="02040503050406030204" pitchFamily="18" charset="0"/>
                <a:ea typeface="Cambria" panose="02040503050406030204" pitchFamily="18" charset="0"/>
                <a:cs typeface="Calibri" panose="020F0502020204030204" pitchFamily="34" charset="0"/>
              </a:rPr>
              <a:t>police de </a:t>
            </a:r>
            <a:r>
              <a:rPr lang="fr-FR" sz="2800" dirty="0" smtClean="0">
                <a:solidFill>
                  <a:srgbClr val="FF0000"/>
                </a:solidFill>
                <a:latin typeface="Cambria" panose="02040503050406030204" pitchFamily="18" charset="0"/>
                <a:ea typeface="Cambria" panose="02040503050406030204" pitchFamily="18" charset="0"/>
                <a:cs typeface="Calibri" panose="020F0502020204030204" pitchFamily="34" charset="0"/>
              </a:rPr>
              <a:t>proximité à Paris</a:t>
            </a:r>
            <a:endParaRPr lang="fr-FR" sz="28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endParaRPr lang="fr-FR"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441629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26</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7" name="ZoneTexte 6">
            <a:extLst>
              <a:ext uri="{FF2B5EF4-FFF2-40B4-BE49-F238E27FC236}">
                <a16:creationId xmlns:a16="http://schemas.microsoft.com/office/drawing/2014/main" id="{7D940FD3-A095-4B94-B5D2-439CB74F77AB}"/>
              </a:ext>
            </a:extLst>
          </p:cNvPr>
          <p:cNvSpPr txBox="1"/>
          <p:nvPr/>
        </p:nvSpPr>
        <p:spPr>
          <a:xfrm>
            <a:off x="540000" y="1008000"/>
            <a:ext cx="11112000" cy="2433487"/>
          </a:xfrm>
          <a:prstGeom prst="rect">
            <a:avLst/>
          </a:prstGeom>
          <a:noFill/>
        </p:spPr>
        <p:txBody>
          <a:bodyPr wrap="square">
            <a:spAutoFit/>
          </a:bodyPr>
          <a:lstStyle/>
          <a:p>
            <a:endParaRPr lang="fr-FR" dirty="0">
              <a:solidFill>
                <a:srgbClr val="F79646"/>
              </a:solidFill>
              <a:latin typeface="Calibri" panose="020F0502020204030204" pitchFamily="34" charset="0"/>
            </a:endParaRPr>
          </a:p>
          <a:p>
            <a:pPr algn="just">
              <a:lnSpc>
                <a:spcPct val="115000"/>
              </a:lnSpc>
              <a:spcAft>
                <a:spcPts val="1000"/>
              </a:spcAft>
            </a:pPr>
            <a:endParaRPr lang="fr-FR" sz="1800" b="1" dirty="0">
              <a:solidFill>
                <a:srgbClr val="F79646"/>
              </a:solidFill>
              <a:effectLst/>
              <a:latin typeface="Calibri" panose="020F0502020204030204" pitchFamily="34" charset="0"/>
              <a:ea typeface="Times New Roman" panose="02020603050405020304" pitchFamily="18" charset="0"/>
              <a:cs typeface="Calibri" panose="020F0502020204030204" pitchFamily="34" charset="0"/>
            </a:endParaRPr>
          </a:p>
          <a:p>
            <a:pPr algn="just">
              <a:lnSpc>
                <a:spcPct val="115000"/>
              </a:lnSpc>
              <a:spcAft>
                <a:spcPts val="1000"/>
              </a:spcAft>
            </a:pPr>
            <a:endParaRPr lang="fr-FR" b="1" dirty="0">
              <a:solidFill>
                <a:srgbClr val="F79646"/>
              </a:solidFill>
              <a:latin typeface="Calibri" panose="020F0502020204030204" pitchFamily="34" charset="0"/>
              <a:ea typeface="Times New Roman" panose="02020603050405020304" pitchFamily="18" charset="0"/>
              <a:cs typeface="Calibri" panose="020F0502020204030204" pitchFamily="34" charset="0"/>
            </a:endParaRPr>
          </a:p>
          <a:p>
            <a:pPr algn="just">
              <a:lnSpc>
                <a:spcPct val="115000"/>
              </a:lnSpc>
              <a:spcAft>
                <a:spcPts val="1000"/>
              </a:spcAft>
            </a:pPr>
            <a:endParaRPr lang="fr-FR" sz="1800" b="1" dirty="0">
              <a:solidFill>
                <a:srgbClr val="F79646"/>
              </a:solidFill>
              <a:effectLst/>
              <a:latin typeface="Calibri" panose="020F0502020204030204" pitchFamily="34" charset="0"/>
              <a:ea typeface="Times New Roman" panose="02020603050405020304" pitchFamily="18" charset="0"/>
              <a:cs typeface="Calibri" panose="020F0502020204030204" pitchFamily="34" charset="0"/>
            </a:endParaRPr>
          </a:p>
          <a:p>
            <a:pPr algn="just">
              <a:lnSpc>
                <a:spcPct val="115000"/>
              </a:lnSpc>
              <a:spcAft>
                <a:spcPts val="1000"/>
              </a:spcAft>
            </a:pPr>
            <a:r>
              <a:rPr lang="fr-FR" sz="1800" b="1" dirty="0">
                <a:effectLst/>
                <a:latin typeface="Calibri" panose="020F0502020204030204" pitchFamily="34" charset="0"/>
                <a:ea typeface="Times New Roman" panose="02020603050405020304" pitchFamily="18" charset="0"/>
                <a:cs typeface="Calibri" panose="020F0502020204030204" pitchFamily="34" charset="0"/>
              </a:rPr>
              <a:t> </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
        <p:nvSpPr>
          <p:cNvPr id="8" name="ZoneTexte 7">
            <a:extLst>
              <a:ext uri="{FF2B5EF4-FFF2-40B4-BE49-F238E27FC236}">
                <a16:creationId xmlns:a16="http://schemas.microsoft.com/office/drawing/2014/main" id="{0415B31A-E14E-40F5-AD1B-E89A7EED4F5D}"/>
              </a:ext>
            </a:extLst>
          </p:cNvPr>
          <p:cNvSpPr txBox="1"/>
          <p:nvPr/>
        </p:nvSpPr>
        <p:spPr>
          <a:xfrm>
            <a:off x="540000" y="1535541"/>
            <a:ext cx="7253666" cy="4684359"/>
          </a:xfrm>
          <a:prstGeom prst="rect">
            <a:avLst/>
          </a:prstGeom>
          <a:noFill/>
        </p:spPr>
        <p:txBody>
          <a:bodyPr wrap="square">
            <a:spAutoFit/>
          </a:bodyPr>
          <a:lstStyle/>
          <a:p>
            <a:pPr marL="285750" indent="-285750" algn="just">
              <a:lnSpc>
                <a:spcPct val="115000"/>
              </a:lnSpc>
              <a:spcAft>
                <a:spcPts val="1000"/>
              </a:spcAft>
              <a:buFont typeface="Wingdings" panose="05000000000000000000" pitchFamily="2" charset="2"/>
              <a:buChar char="q"/>
            </a:pPr>
            <a:r>
              <a:rPr lang="fr-FR" sz="2400" dirty="0">
                <a:latin typeface="Cambria" panose="02040503050406030204" pitchFamily="18" charset="0"/>
                <a:ea typeface="Cambria" panose="02040503050406030204" pitchFamily="18" charset="0"/>
                <a:cs typeface="Calibri" panose="020F0502020204030204" pitchFamily="34" charset="0"/>
              </a:rPr>
              <a:t>L</a:t>
            </a:r>
            <a:r>
              <a:rPr lang="fr-FR" sz="2400" dirty="0">
                <a:effectLst/>
                <a:latin typeface="Cambria" panose="02040503050406030204" pitchFamily="18" charset="0"/>
                <a:ea typeface="Cambria" panose="02040503050406030204" pitchFamily="18" charset="0"/>
                <a:cs typeface="Calibri" panose="020F0502020204030204" pitchFamily="34" charset="0"/>
              </a:rPr>
              <a:t>es brigades de policiers à </a:t>
            </a:r>
            <a:r>
              <a:rPr lang="fr-FR" sz="2400" dirty="0" smtClean="0">
                <a:effectLst/>
                <a:latin typeface="Cambria" panose="02040503050406030204" pitchFamily="18" charset="0"/>
                <a:ea typeface="Cambria" panose="02040503050406030204" pitchFamily="18" charset="0"/>
                <a:cs typeface="Calibri" panose="020F0502020204030204" pitchFamily="34" charset="0"/>
              </a:rPr>
              <a:t>V.T.T. </a:t>
            </a:r>
            <a:r>
              <a:rPr lang="fr-FR" sz="2400" dirty="0">
                <a:effectLst/>
                <a:latin typeface="Cambria" panose="02040503050406030204" pitchFamily="18" charset="0"/>
                <a:ea typeface="Cambria" panose="02040503050406030204" pitchFamily="18" charset="0"/>
                <a:cs typeface="Calibri" panose="020F0502020204030204" pitchFamily="34" charset="0"/>
              </a:rPr>
              <a:t>ou à rollers ont ainsi été </a:t>
            </a:r>
            <a:r>
              <a:rPr lang="fr-FR" sz="2400" dirty="0" smtClean="0">
                <a:effectLst/>
                <a:latin typeface="Cambria" panose="02040503050406030204" pitchFamily="18" charset="0"/>
                <a:ea typeface="Cambria" panose="02040503050406030204" pitchFamily="18" charset="0"/>
                <a:cs typeface="Calibri" panose="020F0502020204030204" pitchFamily="34" charset="0"/>
              </a:rPr>
              <a:t>multipliées.</a:t>
            </a:r>
          </a:p>
          <a:p>
            <a:pPr marL="285750" indent="-285750" algn="just">
              <a:lnSpc>
                <a:spcPct val="115000"/>
              </a:lnSpc>
              <a:spcAft>
                <a:spcPts val="1000"/>
              </a:spcAft>
              <a:buFont typeface="Wingdings" panose="05000000000000000000" pitchFamily="2" charset="2"/>
              <a:buChar char="q"/>
            </a:pPr>
            <a:endParaRPr lang="fr-FR"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lnSpc>
                <a:spcPct val="115000"/>
              </a:lnSpc>
              <a:spcAft>
                <a:spcPts val="1000"/>
              </a:spcAft>
              <a:buFont typeface="Wingdings" panose="05000000000000000000" pitchFamily="2" charset="2"/>
              <a:buChar char="q"/>
            </a:pPr>
            <a:endParaRPr lang="fr-FR" sz="2400" dirty="0" smtClean="0">
              <a:effectLst/>
              <a:latin typeface="Cambria" panose="02040503050406030204" pitchFamily="18" charset="0"/>
              <a:ea typeface="Cambria" panose="02040503050406030204" pitchFamily="18" charset="0"/>
              <a:cs typeface="Calibri" panose="020F0502020204030204" pitchFamily="34" charset="0"/>
            </a:endParaRPr>
          </a:p>
          <a:p>
            <a:pPr marL="285750" indent="-285750" algn="just">
              <a:lnSpc>
                <a:spcPct val="115000"/>
              </a:lnSpc>
              <a:spcAft>
                <a:spcPts val="1000"/>
              </a:spcAft>
              <a:buFont typeface="Wingdings" panose="05000000000000000000" pitchFamily="2" charset="2"/>
              <a:buChar char="q"/>
            </a:pPr>
            <a:endParaRPr lang="fr-FR" sz="2400" dirty="0">
              <a:effectLst/>
              <a:latin typeface="Cambria" panose="02040503050406030204" pitchFamily="18" charset="0"/>
              <a:ea typeface="Cambria" panose="02040503050406030204" pitchFamily="18" charset="0"/>
              <a:cs typeface="Calibri" panose="020F0502020204030204" pitchFamily="34" charset="0"/>
            </a:endParaRPr>
          </a:p>
          <a:p>
            <a:pPr marL="285750" indent="-285750" algn="just">
              <a:lnSpc>
                <a:spcPct val="115000"/>
              </a:lnSpc>
              <a:spcAft>
                <a:spcPts val="1000"/>
              </a:spcAft>
              <a:buFont typeface="Wingdings" panose="05000000000000000000" pitchFamily="2" charset="2"/>
              <a:buChar char="q"/>
            </a:pPr>
            <a:r>
              <a:rPr lang="fr-FR" sz="2400" dirty="0">
                <a:latin typeface="Cambria" panose="02040503050406030204" pitchFamily="18" charset="0"/>
                <a:ea typeface="Cambria" panose="02040503050406030204" pitchFamily="18" charset="0"/>
                <a:cs typeface="Calibri" panose="020F0502020204030204" pitchFamily="34" charset="0"/>
              </a:rPr>
              <a:t>Les brigades spécialisées, telles la </a:t>
            </a:r>
            <a:r>
              <a:rPr lang="fr-FR" sz="2400" dirty="0" smtClean="0">
                <a:latin typeface="Cambria" panose="02040503050406030204" pitchFamily="18" charset="0"/>
                <a:ea typeface="Cambria" panose="02040503050406030204" pitchFamily="18" charset="0"/>
                <a:cs typeface="Calibri" panose="020F0502020204030204" pitchFamily="34" charset="0"/>
              </a:rPr>
              <a:t>B.S.T., brigade spécialisée </a:t>
            </a:r>
            <a:r>
              <a:rPr lang="fr-FR" sz="2400" dirty="0">
                <a:latin typeface="Cambria" panose="02040503050406030204" pitchFamily="18" charset="0"/>
                <a:ea typeface="Cambria" panose="02040503050406030204" pitchFamily="18" charset="0"/>
                <a:cs typeface="Calibri" panose="020F0502020204030204" pitchFamily="34" charset="0"/>
              </a:rPr>
              <a:t>de terrain de </a:t>
            </a:r>
            <a:r>
              <a:rPr lang="fr-FR" sz="2400" dirty="0" smtClean="0">
                <a:latin typeface="Cambria" panose="02040503050406030204" pitchFamily="18" charset="0"/>
                <a:ea typeface="Cambria" panose="02040503050406030204" pitchFamily="18" charset="0"/>
                <a:cs typeface="Calibri" panose="020F0502020204030204" pitchFamily="34" charset="0"/>
              </a:rPr>
              <a:t>Belleville.</a:t>
            </a:r>
            <a:endParaRPr lang="fr-FR" sz="2400" dirty="0">
              <a:latin typeface="Cambria" panose="02040503050406030204" pitchFamily="18" charset="0"/>
              <a:ea typeface="Cambria" panose="02040503050406030204" pitchFamily="18" charset="0"/>
              <a:cs typeface="Calibri" panose="020F0502020204030204" pitchFamily="34" charset="0"/>
            </a:endParaRPr>
          </a:p>
          <a:p>
            <a:pPr marL="457200">
              <a:lnSpc>
                <a:spcPct val="115000"/>
              </a:lnSpc>
              <a:spcAft>
                <a:spcPts val="1000"/>
              </a:spcAft>
            </a:pPr>
            <a:r>
              <a:rPr lang="fr-FR" sz="2400" b="1" dirty="0">
                <a:solidFill>
                  <a:srgbClr val="F79646"/>
                </a:solidFill>
                <a:ea typeface="Times New Roman" panose="02020603050405020304" pitchFamily="18" charset="0"/>
                <a:cs typeface="Calibri" panose="020F0502020204030204" pitchFamily="34" charset="0"/>
              </a:rPr>
              <a:t> </a:t>
            </a:r>
            <a:endParaRPr lang="fr-FR" sz="2400" dirty="0">
              <a:ea typeface="Calibri" panose="020F0502020204030204" pitchFamily="34" charset="0"/>
              <a:cs typeface="Times New Roman" panose="02020603050405020304" pitchFamily="18" charset="0"/>
            </a:endParaRPr>
          </a:p>
          <a:p>
            <a:pPr algn="just">
              <a:lnSpc>
                <a:spcPct val="115000"/>
              </a:lnSpc>
              <a:spcAft>
                <a:spcPts val="1000"/>
              </a:spcAft>
            </a:pPr>
            <a:endParaRPr lang="fr-FR" sz="2400" dirty="0">
              <a:effectLst/>
              <a:ea typeface="Times New Roman" panose="02020603050405020304" pitchFamily="18" charset="0"/>
            </a:endParaRPr>
          </a:p>
        </p:txBody>
      </p:sp>
      <p:pic>
        <p:nvPicPr>
          <p:cNvPr id="9" name="Picture 2" descr="Des policiers de terrain à Belleville">
            <a:extLst>
              <a:ext uri="{FF2B5EF4-FFF2-40B4-BE49-F238E27FC236}">
                <a16:creationId xmlns:a16="http://schemas.microsoft.com/office/drawing/2014/main" id="{CAD6B268-3959-4978-86AF-584E5F8234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03071" y="3877721"/>
            <a:ext cx="2733675" cy="1676400"/>
          </a:xfrm>
          <a:prstGeom prst="rect">
            <a:avLst/>
          </a:prstGeom>
          <a:noFill/>
          <a:extLst>
            <a:ext uri="{909E8E84-426E-40DD-AFC4-6F175D3DCCD1}">
              <a14:hiddenFill xmlns:a14="http://schemas.microsoft.com/office/drawing/2010/main">
                <a:solidFill>
                  <a:srgbClr val="FFFFFF"/>
                </a:solidFill>
              </a14:hiddenFill>
            </a:ext>
          </a:extLst>
        </p:spPr>
      </p:pic>
      <p:sp>
        <p:nvSpPr>
          <p:cNvPr id="12" name="Titre 4">
            <a:extLst>
              <a:ext uri="{FF2B5EF4-FFF2-40B4-BE49-F238E27FC236}">
                <a16:creationId xmlns:a16="http://schemas.microsoft.com/office/drawing/2014/main" id="{E9A61551-508B-44D6-BF9D-DAB76C03E3B1}"/>
              </a:ext>
            </a:extLst>
          </p:cNvPr>
          <p:cNvSpPr txBox="1">
            <a:spLocks noGrp="1"/>
          </p:cNvSpPr>
          <p:nvPr>
            <p:ph type="title"/>
          </p:nvPr>
        </p:nvSpPr>
        <p:spPr>
          <a:prstGeom prst="rect">
            <a:avLst/>
          </a:prstGeom>
        </p:spPr>
        <p:txBody>
          <a:bodyPr vert="horz" lIns="91440" tIns="45720" rIns="91440" bIns="45720" rtlCol="0" anchor="t">
            <a:noAutofit/>
          </a:bodyPr>
          <a:lstStyle>
            <a:lvl1pPr algn="l" defTabSz="914400" rtl="0" eaLnBrk="1" latinLnBrk="0" hangingPunct="1">
              <a:lnSpc>
                <a:spcPct val="115000"/>
              </a:lnSpc>
              <a:spcBef>
                <a:spcPct val="0"/>
              </a:spcBef>
              <a:buNone/>
              <a:defRPr sz="2200" b="1" kern="1200">
                <a:solidFill>
                  <a:schemeClr val="tx1"/>
                </a:solidFill>
                <a:latin typeface="+mj-lt"/>
                <a:ea typeface="+mj-ea"/>
                <a:cs typeface="+mj-cs"/>
              </a:defRPr>
            </a:lvl1pPr>
          </a:lstStyle>
          <a:p>
            <a:r>
              <a:rPr lang="fr-FR" sz="2800" dirty="0" smtClean="0">
                <a:solidFill>
                  <a:srgbClr val="FF0000"/>
                </a:solidFill>
                <a:latin typeface="Cambria" panose="02040503050406030204" pitchFamily="18" charset="0"/>
                <a:ea typeface="Cambria" panose="02040503050406030204" pitchFamily="18" charset="0"/>
                <a:cs typeface="Calibri" panose="020F0502020204030204" pitchFamily="34" charset="0"/>
              </a:rPr>
              <a:t>La </a:t>
            </a:r>
            <a:r>
              <a:rPr lang="fr-FR" sz="2800" dirty="0">
                <a:solidFill>
                  <a:srgbClr val="FF0000"/>
                </a:solidFill>
                <a:latin typeface="Cambria" panose="02040503050406030204" pitchFamily="18" charset="0"/>
                <a:ea typeface="Cambria" panose="02040503050406030204" pitchFamily="18" charset="0"/>
                <a:cs typeface="Calibri" panose="020F0502020204030204" pitchFamily="34" charset="0"/>
              </a:rPr>
              <a:t>police de </a:t>
            </a:r>
            <a:r>
              <a:rPr lang="fr-FR" sz="2800" dirty="0" smtClean="0">
                <a:solidFill>
                  <a:srgbClr val="FF0000"/>
                </a:solidFill>
                <a:latin typeface="Cambria" panose="02040503050406030204" pitchFamily="18" charset="0"/>
                <a:ea typeface="Cambria" panose="02040503050406030204" pitchFamily="18" charset="0"/>
                <a:cs typeface="Calibri" panose="020F0502020204030204" pitchFamily="34" charset="0"/>
              </a:rPr>
              <a:t>proximité à Paris</a:t>
            </a:r>
            <a:endParaRPr lang="fr-FR" sz="28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endParaRPr lang="fr-FR" sz="28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05672" y="1497874"/>
            <a:ext cx="3028950" cy="1514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5449629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Ville-Vie-Vacances, Acte II">
            <a:extLst>
              <a:ext uri="{FF2B5EF4-FFF2-40B4-BE49-F238E27FC236}">
                <a16:creationId xmlns:a16="http://schemas.microsoft.com/office/drawing/2014/main" id="{C3E8E84D-3870-4177-A8AB-4E6F1B40A6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4181" y="4647778"/>
            <a:ext cx="2628900" cy="1733550"/>
          </a:xfrm>
          <a:prstGeom prst="rect">
            <a:avLst/>
          </a:prstGeom>
          <a:noFill/>
          <a:extLst>
            <a:ext uri="{909E8E84-426E-40DD-AFC4-6F175D3DCCD1}">
              <a14:hiddenFill xmlns:a14="http://schemas.microsoft.com/office/drawing/2010/main">
                <a:solidFill>
                  <a:srgbClr val="FFFFFF"/>
                </a:solidFill>
              </a14:hiddenFill>
            </a:ext>
          </a:extLst>
        </p:spPr>
      </p:pic>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27</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7" name="ZoneTexte 6">
            <a:extLst>
              <a:ext uri="{FF2B5EF4-FFF2-40B4-BE49-F238E27FC236}">
                <a16:creationId xmlns:a16="http://schemas.microsoft.com/office/drawing/2014/main" id="{7804FB0B-51ED-4C3A-89BE-7E7C4CDABD1D}"/>
              </a:ext>
            </a:extLst>
          </p:cNvPr>
          <p:cNvSpPr txBox="1"/>
          <p:nvPr/>
        </p:nvSpPr>
        <p:spPr>
          <a:xfrm>
            <a:off x="388284" y="1088556"/>
            <a:ext cx="11459913" cy="5819542"/>
          </a:xfrm>
          <a:prstGeom prst="rect">
            <a:avLst/>
          </a:prstGeom>
          <a:noFill/>
        </p:spPr>
        <p:txBody>
          <a:bodyPr wrap="square">
            <a:spAutoFit/>
          </a:bodyPr>
          <a:lstStyle/>
          <a:p>
            <a:pPr algn="just">
              <a:lnSpc>
                <a:spcPct val="115000"/>
              </a:lnSpc>
              <a:spcAft>
                <a:spcPts val="1000"/>
              </a:spcAft>
            </a:pPr>
            <a:r>
              <a:rPr lang="fr-FR" sz="2000" b="1" dirty="0" smtClean="0">
                <a:latin typeface="Cambria" panose="02040503050406030204" pitchFamily="18" charset="0"/>
                <a:ea typeface="Cambria" panose="02040503050406030204" pitchFamily="18" charset="0"/>
                <a:cs typeface="Calibri" panose="020F0502020204030204" pitchFamily="34" charset="0"/>
              </a:rPr>
              <a:t>Des </a:t>
            </a:r>
            <a:r>
              <a:rPr lang="fr-FR" sz="2000" b="1" dirty="0">
                <a:latin typeface="Cambria" panose="02040503050406030204" pitchFamily="18" charset="0"/>
                <a:ea typeface="Cambria" panose="02040503050406030204" pitchFamily="18" charset="0"/>
                <a:cs typeface="Calibri" panose="020F0502020204030204" pitchFamily="34" charset="0"/>
              </a:rPr>
              <a:t>Missions de Prévention et de Communication (</a:t>
            </a:r>
            <a:r>
              <a:rPr lang="fr-FR" sz="2000" b="1" dirty="0" smtClean="0">
                <a:latin typeface="Cambria" panose="02040503050406030204" pitchFamily="18" charset="0"/>
                <a:ea typeface="Cambria" panose="02040503050406030204" pitchFamily="18" charset="0"/>
                <a:cs typeface="Calibri" panose="020F0502020204030204" pitchFamily="34" charset="0"/>
              </a:rPr>
              <a:t>M.P.C.) </a:t>
            </a:r>
            <a:r>
              <a:rPr lang="fr-FR" sz="2000" b="1" dirty="0">
                <a:latin typeface="Cambria" panose="02040503050406030204" pitchFamily="18" charset="0"/>
                <a:ea typeface="Cambria" panose="02040503050406030204" pitchFamily="18" charset="0"/>
                <a:cs typeface="Calibri" panose="020F0502020204030204" pitchFamily="34" charset="0"/>
              </a:rPr>
              <a:t>détachées dans chaque commissariat d’arrondissement. </a:t>
            </a:r>
            <a:endParaRPr lang="fr-FR" sz="2000" dirty="0">
              <a:latin typeface="Cambria" panose="02040503050406030204" pitchFamily="18" charset="0"/>
              <a:ea typeface="Cambria" panose="02040503050406030204" pitchFamily="18" charset="0"/>
              <a:cs typeface="Calibri" panose="020F0502020204030204" pitchFamily="34" charset="0"/>
            </a:endParaRPr>
          </a:p>
          <a:p>
            <a:pPr marL="342900" indent="-342900">
              <a:lnSpc>
                <a:spcPct val="115000"/>
              </a:lnSpc>
              <a:spcAft>
                <a:spcPts val="1000"/>
              </a:spcAft>
              <a:buFont typeface="Wingdings" panose="05000000000000000000" pitchFamily="2" charset="2"/>
              <a:buChar char="q"/>
            </a:pPr>
            <a:r>
              <a:rPr lang="fr-FR" sz="2000" b="1" dirty="0">
                <a:effectLst/>
                <a:latin typeface="Cambria" panose="02040503050406030204" pitchFamily="18" charset="0"/>
                <a:ea typeface="Cambria" panose="02040503050406030204" pitchFamily="18" charset="0"/>
                <a:cs typeface="Calibri" panose="020F0502020204030204" pitchFamily="34" charset="0"/>
              </a:rPr>
              <a:t>La prévention générale avec l’établissement de </a:t>
            </a:r>
            <a:r>
              <a:rPr lang="fr-FR" sz="2000" dirty="0">
                <a:latin typeface="Cambria" panose="02040503050406030204" pitchFamily="18" charset="0"/>
                <a:ea typeface="Cambria" panose="02040503050406030204" pitchFamily="18" charset="0"/>
                <a:cs typeface="Calibri" panose="020F0502020204030204" pitchFamily="34" charset="0"/>
              </a:rPr>
              <a:t>partenariats privilégiés ou les opération «  tranquillité vacances » </a:t>
            </a:r>
            <a:r>
              <a:rPr lang="fr-FR" sz="2000" dirty="0">
                <a:effectLst/>
                <a:latin typeface="Cambria" panose="02040503050406030204" pitchFamily="18" charset="0"/>
                <a:ea typeface="Cambria" panose="02040503050406030204" pitchFamily="18" charset="0"/>
                <a:cs typeface="Calibri" panose="020F0502020204030204" pitchFamily="34" charset="0"/>
              </a:rPr>
              <a:t>(lutte contre les cambriolages).</a:t>
            </a:r>
          </a:p>
          <a:p>
            <a:pPr marL="342900" indent="-342900">
              <a:lnSpc>
                <a:spcPct val="115000"/>
              </a:lnSpc>
              <a:spcAft>
                <a:spcPts val="1000"/>
              </a:spcAft>
              <a:buFont typeface="Wingdings" panose="05000000000000000000" pitchFamily="2" charset="2"/>
              <a:buChar char="q"/>
            </a:pPr>
            <a:r>
              <a:rPr lang="fr-FR" sz="2000" b="1" dirty="0">
                <a:effectLst/>
                <a:latin typeface="Cambria" panose="02040503050406030204" pitchFamily="18" charset="0"/>
                <a:ea typeface="Cambria" panose="02040503050406030204" pitchFamily="18" charset="0"/>
                <a:cs typeface="Calibri" panose="020F0502020204030204" pitchFamily="34" charset="0"/>
              </a:rPr>
              <a:t>La prévention jeunesse</a:t>
            </a: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lvl="0">
              <a:lnSpc>
                <a:spcPct val="115000"/>
              </a:lnSpc>
              <a:spcAft>
                <a:spcPts val="1000"/>
              </a:spcAft>
              <a:buSzPts val="1000"/>
              <a:tabLst>
                <a:tab pos="457200" algn="l"/>
              </a:tabLst>
            </a:pPr>
            <a:r>
              <a:rPr lang="fr-FR" sz="2000" dirty="0">
                <a:effectLst/>
                <a:latin typeface="Cambria" panose="02040503050406030204" pitchFamily="18" charset="0"/>
                <a:ea typeface="Cambria" panose="02040503050406030204" pitchFamily="18" charset="0"/>
                <a:cs typeface="Calibri" panose="020F0502020204030204" pitchFamily="34" charset="0"/>
              </a:rPr>
              <a:t>-Actions de prévention et de communication au sein des établissements scolaires sur le racket, la sécurité routière les dangers de la drogue ou le cyber harcèlement. </a:t>
            </a:r>
          </a:p>
          <a:p>
            <a:pPr lvl="0">
              <a:lnSpc>
                <a:spcPct val="115000"/>
              </a:lnSpc>
              <a:spcAft>
                <a:spcPts val="1000"/>
              </a:spcAft>
              <a:buSzPts val="1000"/>
              <a:tabLst>
                <a:tab pos="457200" algn="l"/>
              </a:tabLst>
            </a:pPr>
            <a:r>
              <a:rPr lang="fr-FR" sz="2000" dirty="0">
                <a:latin typeface="Cambria" panose="02040503050406030204" pitchFamily="18" charset="0"/>
                <a:ea typeface="Cambria" panose="02040503050406030204" pitchFamily="18" charset="0"/>
                <a:cs typeface="Calibri" panose="020F0502020204030204" pitchFamily="34" charset="0"/>
              </a:rPr>
              <a:t>	En 2000, plus de 2 204 interventions auprès de 54 534 élèves, </a:t>
            </a:r>
          </a:p>
          <a:p>
            <a:pPr lvl="0">
              <a:lnSpc>
                <a:spcPct val="115000"/>
              </a:lnSpc>
              <a:spcAft>
                <a:spcPts val="1000"/>
              </a:spcAft>
              <a:buSzPts val="1000"/>
              <a:tabLst>
                <a:tab pos="457200" algn="l"/>
              </a:tabLst>
            </a:pPr>
            <a:r>
              <a:rPr lang="fr-FR" sz="2000" dirty="0">
                <a:latin typeface="Cambria" panose="02040503050406030204" pitchFamily="18" charset="0"/>
                <a:ea typeface="Cambria" panose="02040503050406030204" pitchFamily="18" charset="0"/>
                <a:cs typeface="Calibri" panose="020F0502020204030204" pitchFamily="34" charset="0"/>
              </a:rPr>
              <a:t>	dans 300 établissements parisiens». </a:t>
            </a: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lvl="0">
              <a:lnSpc>
                <a:spcPct val="115000"/>
              </a:lnSpc>
              <a:spcAft>
                <a:spcPts val="1000"/>
              </a:spcAft>
              <a:buSzPts val="1000"/>
              <a:tabLst>
                <a:tab pos="457200" algn="l"/>
              </a:tabLst>
            </a:pPr>
            <a:r>
              <a:rPr lang="fr-FR" sz="2000" dirty="0">
                <a:latin typeface="Cambria" panose="02040503050406030204" pitchFamily="18" charset="0"/>
                <a:ea typeface="Cambria" panose="02040503050406030204" pitchFamily="18" charset="0"/>
                <a:cs typeface="Calibri" panose="020F0502020204030204" pitchFamily="34" charset="0"/>
              </a:rPr>
              <a:t>- </a:t>
            </a:r>
            <a:r>
              <a:rPr lang="fr-FR" sz="2000" dirty="0">
                <a:effectLst/>
                <a:latin typeface="Cambria" panose="02040503050406030204" pitchFamily="18" charset="0"/>
                <a:ea typeface="Cambria" panose="02040503050406030204" pitchFamily="18" charset="0"/>
                <a:cs typeface="Calibri" panose="020F0502020204030204" pitchFamily="34" charset="0"/>
              </a:rPr>
              <a:t>Opération Ville Vie Vacances.</a:t>
            </a:r>
          </a:p>
          <a:p>
            <a:pPr>
              <a:lnSpc>
                <a:spcPct val="115000"/>
              </a:lnSpc>
              <a:spcAft>
                <a:spcPts val="1000"/>
              </a:spcAft>
              <a:buSzPts val="1000"/>
              <a:tabLst>
                <a:tab pos="457200" algn="l"/>
              </a:tabLst>
            </a:pPr>
            <a:endParaRPr lang="fr-FR" sz="2000" dirty="0">
              <a:effectLst/>
              <a:ea typeface="Calibri" panose="020F0502020204030204" pitchFamily="34" charset="0"/>
              <a:cs typeface="Times New Roman" panose="02020603050405020304" pitchFamily="18" charset="0"/>
            </a:endParaRPr>
          </a:p>
          <a:p>
            <a:pPr marL="342900" indent="-342900">
              <a:lnSpc>
                <a:spcPct val="115000"/>
              </a:lnSpc>
              <a:spcAft>
                <a:spcPts val="1000"/>
              </a:spcAft>
              <a:buFont typeface="Wingdings" panose="05000000000000000000" pitchFamily="2" charset="2"/>
              <a:buChar char="q"/>
            </a:pPr>
            <a:endParaRPr lang="fr-FR" sz="2000" dirty="0">
              <a:solidFill>
                <a:srgbClr val="F79646"/>
              </a:solidFill>
              <a:effectLst/>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Wingdings" panose="05000000000000000000" pitchFamily="2" charset="2"/>
              <a:buChar char="q"/>
              <a:tabLst>
                <a:tab pos="457200" algn="l"/>
              </a:tabLst>
            </a:pPr>
            <a:endParaRPr lang="fr-FR" sz="2000" dirty="0">
              <a:solidFill>
                <a:srgbClr val="F79646"/>
              </a:solidFill>
              <a:effectLst/>
              <a:ea typeface="Calibri" panose="020F0502020204030204" pitchFamily="34" charset="0"/>
              <a:cs typeface="Times New Roman" panose="02020603050405020304" pitchFamily="18" charset="0"/>
            </a:endParaRPr>
          </a:p>
        </p:txBody>
      </p:sp>
      <p:sp>
        <p:nvSpPr>
          <p:cNvPr id="8" name="Titre 4">
            <a:extLst>
              <a:ext uri="{FF2B5EF4-FFF2-40B4-BE49-F238E27FC236}">
                <a16:creationId xmlns:a16="http://schemas.microsoft.com/office/drawing/2014/main" id="{E9A61551-508B-44D6-BF9D-DAB76C03E3B1}"/>
              </a:ext>
            </a:extLst>
          </p:cNvPr>
          <p:cNvSpPr txBox="1">
            <a:spLocks/>
          </p:cNvSpPr>
          <p:nvPr/>
        </p:nvSpPr>
        <p:spPr>
          <a:xfrm>
            <a:off x="696000" y="283769"/>
            <a:ext cx="10800000" cy="571770"/>
          </a:xfrm>
          <a:prstGeom prst="rect">
            <a:avLst/>
          </a:prstGeom>
        </p:spPr>
        <p:txBody>
          <a:bodyPr vert="horz" lIns="91440" tIns="45720" rIns="91440" bIns="45720" rtlCol="0" anchor="t">
            <a:noAutofit/>
          </a:bodyPr>
          <a:lstStyle>
            <a:lvl1pPr algn="l" defTabSz="914400" rtl="0" eaLnBrk="1" latinLnBrk="0" hangingPunct="1">
              <a:lnSpc>
                <a:spcPct val="115000"/>
              </a:lnSpc>
              <a:spcBef>
                <a:spcPct val="0"/>
              </a:spcBef>
              <a:buNone/>
              <a:defRPr sz="2200" b="1" kern="1200">
                <a:solidFill>
                  <a:schemeClr val="tx1"/>
                </a:solidFill>
                <a:latin typeface="+mj-lt"/>
                <a:ea typeface="+mj-ea"/>
                <a:cs typeface="+mj-cs"/>
              </a:defRPr>
            </a:lvl1pPr>
          </a:lstStyle>
          <a:p>
            <a:r>
              <a:rPr lang="fr-FR" sz="2800" dirty="0" smtClean="0">
                <a:solidFill>
                  <a:srgbClr val="FF0000"/>
                </a:solidFill>
                <a:latin typeface="Cambria" panose="02040503050406030204" pitchFamily="18" charset="0"/>
                <a:ea typeface="Cambria" panose="02040503050406030204" pitchFamily="18" charset="0"/>
                <a:cs typeface="Calibri" panose="020F0502020204030204" pitchFamily="34" charset="0"/>
              </a:rPr>
              <a:t>La </a:t>
            </a:r>
            <a:r>
              <a:rPr lang="fr-FR" sz="2800" dirty="0">
                <a:solidFill>
                  <a:srgbClr val="FF0000"/>
                </a:solidFill>
                <a:latin typeface="Cambria" panose="02040503050406030204" pitchFamily="18" charset="0"/>
                <a:ea typeface="Cambria" panose="02040503050406030204" pitchFamily="18" charset="0"/>
                <a:cs typeface="Calibri" panose="020F0502020204030204" pitchFamily="34" charset="0"/>
              </a:rPr>
              <a:t>police de </a:t>
            </a:r>
            <a:r>
              <a:rPr lang="fr-FR" sz="2800" dirty="0" smtClean="0">
                <a:solidFill>
                  <a:srgbClr val="FF0000"/>
                </a:solidFill>
                <a:latin typeface="Cambria" panose="02040503050406030204" pitchFamily="18" charset="0"/>
                <a:ea typeface="Cambria" panose="02040503050406030204" pitchFamily="18" charset="0"/>
                <a:cs typeface="Calibri" panose="020F0502020204030204" pitchFamily="34" charset="0"/>
              </a:rPr>
              <a:t>proximité à Paris</a:t>
            </a:r>
            <a:endParaRPr lang="fr-FR" sz="28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endParaRPr lang="fr-FR"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90697576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28</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7" name="ZoneTexte 6">
            <a:extLst>
              <a:ext uri="{FF2B5EF4-FFF2-40B4-BE49-F238E27FC236}">
                <a16:creationId xmlns:a16="http://schemas.microsoft.com/office/drawing/2014/main" id="{E64AB61A-F249-4C81-8EEF-4B26C2F0078D}"/>
              </a:ext>
            </a:extLst>
          </p:cNvPr>
          <p:cNvSpPr txBox="1"/>
          <p:nvPr/>
        </p:nvSpPr>
        <p:spPr>
          <a:xfrm>
            <a:off x="203200" y="1321015"/>
            <a:ext cx="11785600" cy="4442242"/>
          </a:xfrm>
          <a:prstGeom prst="rect">
            <a:avLst/>
          </a:prstGeom>
          <a:noFill/>
        </p:spPr>
        <p:txBody>
          <a:bodyPr wrap="square">
            <a:spAutoFit/>
          </a:bodyPr>
          <a:lstStyle/>
          <a:p>
            <a:pPr marL="457200" indent="-457200">
              <a:lnSpc>
                <a:spcPct val="115000"/>
              </a:lnSpc>
              <a:spcAft>
                <a:spcPts val="1000"/>
              </a:spcAft>
              <a:buFont typeface="Wingdings" panose="05000000000000000000" pitchFamily="2" charset="2"/>
              <a:buChar char="q"/>
            </a:pPr>
            <a:r>
              <a:rPr lang="fr-FR" sz="2000" dirty="0">
                <a:effectLst/>
                <a:latin typeface="Cambria" panose="02040503050406030204" pitchFamily="18" charset="0"/>
                <a:ea typeface="Cambria" panose="02040503050406030204" pitchFamily="18" charset="0"/>
                <a:cs typeface="Calibri" panose="020F0502020204030204" pitchFamily="34" charset="0"/>
              </a:rPr>
              <a:t>À partir des années 1980-1990, les maires vont inventer leurs propres politiques de prévention-tranquillité publique</a:t>
            </a:r>
            <a:r>
              <a:rPr lang="fr-FR" sz="2000" dirty="0" smtClean="0">
                <a:effectLst/>
                <a:latin typeface="Cambria" panose="02040503050406030204" pitchFamily="18" charset="0"/>
                <a:ea typeface="Cambria" panose="02040503050406030204" pitchFamily="18" charset="0"/>
                <a:cs typeface="Calibri" panose="020F0502020204030204" pitchFamily="34" charset="0"/>
              </a:rPr>
              <a:t>.</a:t>
            </a:r>
          </a:p>
          <a:p>
            <a:pPr marL="457200" indent="-457200">
              <a:lnSpc>
                <a:spcPct val="115000"/>
              </a:lnSpc>
              <a:spcAft>
                <a:spcPts val="1000"/>
              </a:spcAft>
              <a:buFont typeface="Wingdings" panose="05000000000000000000" pitchFamily="2" charset="2"/>
              <a:buChar char="q"/>
            </a:pP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marL="457200" indent="-457200">
              <a:buFont typeface="Wingdings" panose="05000000000000000000" pitchFamily="2" charset="2"/>
              <a:buChar char="q"/>
            </a:pPr>
            <a:r>
              <a:rPr lang="fr-FR" sz="2000" dirty="0">
                <a:effectLst/>
                <a:latin typeface="Cambria" panose="02040503050406030204" pitchFamily="18" charset="0"/>
                <a:ea typeface="Cambria" panose="02040503050406030204" pitchFamily="18" charset="0"/>
                <a:cs typeface="Calibri" panose="020F0502020204030204" pitchFamily="34" charset="0"/>
              </a:rPr>
              <a:t>La législation (1987, 1995, etc.) reconnait aux agents municipaux, des compétences en matière de prévention et de surveillance du bon ordre, de la tranquillité, de la sécurité et de la salubrité </a:t>
            </a:r>
            <a:r>
              <a:rPr lang="fr-FR" sz="2000" dirty="0" smtClean="0">
                <a:effectLst/>
                <a:latin typeface="Cambria" panose="02040503050406030204" pitchFamily="18" charset="0"/>
                <a:ea typeface="Cambria" panose="02040503050406030204" pitchFamily="18" charset="0"/>
                <a:cs typeface="Calibri" panose="020F0502020204030204" pitchFamily="34" charset="0"/>
              </a:rPr>
              <a:t>publiques.</a:t>
            </a:r>
          </a:p>
          <a:p>
            <a:pPr marL="457200" indent="-457200">
              <a:buFont typeface="Wingdings" panose="05000000000000000000" pitchFamily="2" charset="2"/>
              <a:buChar char="q"/>
            </a:pP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marL="457200" indent="-457200">
              <a:lnSpc>
                <a:spcPct val="115000"/>
              </a:lnSpc>
              <a:spcAft>
                <a:spcPts val="1000"/>
              </a:spcAft>
              <a:buFont typeface="Wingdings" panose="05000000000000000000" pitchFamily="2" charset="2"/>
              <a:buChar char="q"/>
            </a:pPr>
            <a:r>
              <a:rPr lang="fr-FR" sz="2000" dirty="0">
                <a:effectLst/>
                <a:latin typeface="Cambria" panose="02040503050406030204" pitchFamily="18" charset="0"/>
                <a:ea typeface="Cambria" panose="02040503050406030204" pitchFamily="18" charset="0"/>
                <a:cs typeface="Calibri" panose="020F0502020204030204" pitchFamily="34" charset="0"/>
              </a:rPr>
              <a:t>Enquête réalisée en 2015 par la </a:t>
            </a:r>
            <a:r>
              <a:rPr lang="fr-FR" sz="2000" dirty="0" smtClean="0">
                <a:effectLst/>
                <a:latin typeface="Cambria" panose="02040503050406030204" pitchFamily="18" charset="0"/>
                <a:ea typeface="Cambria" panose="02040503050406030204" pitchFamily="18" charset="0"/>
                <a:cs typeface="Calibri" panose="020F0502020204030204" pitchFamily="34" charset="0"/>
              </a:rPr>
              <a:t>Fédération des villes de France, </a:t>
            </a:r>
            <a:r>
              <a:rPr lang="fr-FR" sz="2000" dirty="0">
                <a:effectLst/>
                <a:latin typeface="Cambria" panose="02040503050406030204" pitchFamily="18" charset="0"/>
                <a:ea typeface="Cambria" panose="02040503050406030204" pitchFamily="18" charset="0"/>
                <a:cs typeface="Calibri" panose="020F0502020204030204" pitchFamily="34" charset="0"/>
              </a:rPr>
              <a:t>les municipalités estiment à la quasi-unanimité (95 %) que leur rôle premier de leur police est d’assurer une « police de proximité </a:t>
            </a:r>
            <a:r>
              <a:rPr lang="fr-FR" sz="2000" dirty="0" smtClean="0">
                <a:effectLst/>
                <a:latin typeface="Cambria" panose="02040503050406030204" pitchFamily="18" charset="0"/>
                <a:ea typeface="Cambria" panose="02040503050406030204" pitchFamily="18" charset="0"/>
                <a:cs typeface="Calibri" panose="020F0502020204030204" pitchFamily="34" charset="0"/>
              </a:rPr>
              <a:t>».</a:t>
            </a:r>
          </a:p>
          <a:p>
            <a:pPr marL="457200" indent="-457200">
              <a:lnSpc>
                <a:spcPct val="115000"/>
              </a:lnSpc>
              <a:spcAft>
                <a:spcPts val="1000"/>
              </a:spcAft>
              <a:buFont typeface="Wingdings" panose="05000000000000000000" pitchFamily="2" charset="2"/>
              <a:buChar char="q"/>
            </a:pP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marL="457200" indent="-457200">
              <a:lnSpc>
                <a:spcPct val="115000"/>
              </a:lnSpc>
              <a:spcAft>
                <a:spcPts val="1000"/>
              </a:spcAft>
              <a:buFont typeface="Wingdings" panose="05000000000000000000" pitchFamily="2" charset="2"/>
              <a:buChar char="q"/>
            </a:pPr>
            <a:r>
              <a:rPr lang="fr-FR" sz="2000" dirty="0">
                <a:latin typeface="Cambria" panose="02040503050406030204" pitchFamily="18" charset="0"/>
                <a:ea typeface="Cambria" panose="02040503050406030204" pitchFamily="18" charset="0"/>
                <a:cs typeface="Calibri" panose="020F0502020204030204" pitchFamily="34" charset="0"/>
              </a:rPr>
              <a:t> A la </a:t>
            </a:r>
            <a:r>
              <a:rPr lang="fr-FR" sz="2000" dirty="0" smtClean="0">
                <a:latin typeface="Cambria" panose="02040503050406030204" pitchFamily="18" charset="0"/>
                <a:ea typeface="Cambria" panose="02040503050406030204" pitchFamily="18" charset="0"/>
                <a:cs typeface="Calibri" panose="020F0502020204030204" pitchFamily="34" charset="0"/>
              </a:rPr>
              <a:t>D.P.M.P., </a:t>
            </a:r>
            <a:r>
              <a:rPr lang="fr-FR" sz="2000" dirty="0">
                <a:latin typeface="Cambria" panose="02040503050406030204" pitchFamily="18" charset="0"/>
                <a:ea typeface="Cambria" panose="02040503050406030204" pitchFamily="18" charset="0"/>
                <a:cs typeface="Calibri" panose="020F0502020204030204" pitchFamily="34" charset="0"/>
              </a:rPr>
              <a:t>l’organisation s’appuie sur un réseau </a:t>
            </a:r>
            <a:r>
              <a:rPr lang="fr-FR" sz="2000" dirty="0" smtClean="0">
                <a:latin typeface="Cambria" panose="02040503050406030204" pitchFamily="18" charset="0"/>
                <a:ea typeface="Cambria" panose="02040503050406030204" pitchFamily="18" charset="0"/>
                <a:cs typeface="Calibri" panose="020F0502020204030204" pitchFamily="34" charset="0"/>
              </a:rPr>
              <a:t>territorial.</a:t>
            </a:r>
            <a:endParaRPr lang="fr-FR" sz="2000" dirty="0">
              <a:effectLst/>
              <a:latin typeface="Cambria" panose="02040503050406030204" pitchFamily="18" charset="0"/>
              <a:ea typeface="Cambria" panose="02040503050406030204" pitchFamily="18" charset="0"/>
              <a:cs typeface="Times New Roman" panose="02020603050405020304" pitchFamily="18" charset="0"/>
            </a:endParaRPr>
          </a:p>
          <a:p>
            <a:pPr marL="457200" indent="-457200">
              <a:buFont typeface="Wingdings" panose="05000000000000000000" pitchFamily="2" charset="2"/>
              <a:buChar char="q"/>
            </a:pPr>
            <a:endParaRPr lang="fr-FR" sz="2000" dirty="0"/>
          </a:p>
        </p:txBody>
      </p:sp>
      <p:sp>
        <p:nvSpPr>
          <p:cNvPr id="8" name="Titre 4">
            <a:extLst>
              <a:ext uri="{FF2B5EF4-FFF2-40B4-BE49-F238E27FC236}">
                <a16:creationId xmlns:a16="http://schemas.microsoft.com/office/drawing/2014/main" id="{E9A61551-508B-44D6-BF9D-DAB76C03E3B1}"/>
              </a:ext>
            </a:extLst>
          </p:cNvPr>
          <p:cNvSpPr txBox="1">
            <a:spLocks noGrp="1"/>
          </p:cNvSpPr>
          <p:nvPr>
            <p:ph type="title"/>
          </p:nvPr>
        </p:nvSpPr>
        <p:spPr>
          <a:xfrm>
            <a:off x="590324" y="428000"/>
            <a:ext cx="10800000" cy="468000"/>
          </a:xfrm>
          <a:prstGeom prst="rect">
            <a:avLst/>
          </a:prstGeom>
        </p:spPr>
        <p:txBody>
          <a:bodyPr vert="horz" lIns="91440" tIns="45720" rIns="91440" bIns="45720" rtlCol="0" anchor="t">
            <a:noAutofit/>
          </a:bodyPr>
          <a:lstStyle>
            <a:lvl1pPr algn="l" defTabSz="914400" rtl="0" eaLnBrk="1" latinLnBrk="0" hangingPunct="1">
              <a:lnSpc>
                <a:spcPct val="115000"/>
              </a:lnSpc>
              <a:spcBef>
                <a:spcPct val="0"/>
              </a:spcBef>
              <a:buNone/>
              <a:defRPr sz="2200" b="1" kern="1200">
                <a:solidFill>
                  <a:schemeClr val="tx1"/>
                </a:solidFill>
                <a:latin typeface="+mj-lt"/>
                <a:ea typeface="+mj-ea"/>
                <a:cs typeface="+mj-cs"/>
              </a:defRPr>
            </a:lvl1pPr>
          </a:lstStyle>
          <a:p>
            <a:r>
              <a:rPr lang="fr-FR" sz="2800" dirty="0" smtClean="0">
                <a:solidFill>
                  <a:srgbClr val="FF0000"/>
                </a:solidFill>
                <a:latin typeface="Cambria" panose="02040503050406030204" pitchFamily="18" charset="0"/>
                <a:ea typeface="Cambria" panose="02040503050406030204" pitchFamily="18" charset="0"/>
                <a:cs typeface="Calibri" panose="020F0502020204030204" pitchFamily="34" charset="0"/>
              </a:rPr>
              <a:t>La </a:t>
            </a:r>
            <a:r>
              <a:rPr lang="fr-FR" sz="2800" dirty="0">
                <a:solidFill>
                  <a:srgbClr val="FF0000"/>
                </a:solidFill>
                <a:latin typeface="Cambria" panose="02040503050406030204" pitchFamily="18" charset="0"/>
                <a:ea typeface="Cambria" panose="02040503050406030204" pitchFamily="18" charset="0"/>
                <a:cs typeface="Calibri" panose="020F0502020204030204" pitchFamily="34" charset="0"/>
              </a:rPr>
              <a:t>police de </a:t>
            </a:r>
            <a:r>
              <a:rPr lang="fr-FR" sz="2800" dirty="0" smtClean="0">
                <a:solidFill>
                  <a:srgbClr val="FF0000"/>
                </a:solidFill>
                <a:latin typeface="Cambria" panose="02040503050406030204" pitchFamily="18" charset="0"/>
                <a:ea typeface="Cambria" panose="02040503050406030204" pitchFamily="18" charset="0"/>
                <a:cs typeface="Calibri" panose="020F0502020204030204" pitchFamily="34" charset="0"/>
              </a:rPr>
              <a:t>proximité à Paris</a:t>
            </a:r>
            <a:endParaRPr lang="fr-FR" sz="28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endParaRPr lang="fr-FR" sz="2800" dirty="0"/>
          </a:p>
        </p:txBody>
      </p:sp>
    </p:spTree>
    <p:extLst>
      <p:ext uri="{BB962C8B-B14F-4D97-AF65-F5344CB8AC3E}">
        <p14:creationId xmlns:p14="http://schemas.microsoft.com/office/powerpoint/2010/main" val="151646641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29</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9" name="ZoneTexte 8">
            <a:extLst>
              <a:ext uri="{FF2B5EF4-FFF2-40B4-BE49-F238E27FC236}">
                <a16:creationId xmlns:a16="http://schemas.microsoft.com/office/drawing/2014/main" id="{ED0019C4-43C2-41A4-9225-2AAB45BB6E23}"/>
              </a:ext>
            </a:extLst>
          </p:cNvPr>
          <p:cNvSpPr txBox="1"/>
          <p:nvPr/>
        </p:nvSpPr>
        <p:spPr>
          <a:xfrm>
            <a:off x="495683" y="1419324"/>
            <a:ext cx="10585202" cy="5011628"/>
          </a:xfrm>
          <a:prstGeom prst="rect">
            <a:avLst/>
          </a:prstGeom>
          <a:noFill/>
        </p:spPr>
        <p:txBody>
          <a:bodyPr wrap="square">
            <a:spAutoFit/>
          </a:bodyPr>
          <a:lstStyle/>
          <a:p>
            <a:pPr>
              <a:lnSpc>
                <a:spcPct val="115000"/>
              </a:lnSpc>
              <a:spcAft>
                <a:spcPts val="1000"/>
              </a:spcAft>
            </a:pPr>
            <a:r>
              <a:rPr lang="fr-FR" sz="2000" dirty="0">
                <a:effectLst/>
                <a:latin typeface="Cambria" panose="02040503050406030204" pitchFamily="18" charset="0"/>
                <a:ea typeface="Cambria" panose="02040503050406030204" pitchFamily="18" charset="0"/>
                <a:cs typeface="Calibri" panose="020F0502020204030204" pitchFamily="34" charset="0"/>
              </a:rPr>
              <a:t>Les </a:t>
            </a:r>
            <a:r>
              <a:rPr lang="fr-FR" sz="2000" dirty="0" smtClean="0">
                <a:latin typeface="Cambria" panose="02040503050406030204" pitchFamily="18" charset="0"/>
                <a:ea typeface="Cambria" panose="02040503050406030204" pitchFamily="18" charset="0"/>
                <a:cs typeface="Calibri" panose="020F0502020204030204" pitchFamily="34" charset="0"/>
              </a:rPr>
              <a:t>«cellules </a:t>
            </a:r>
            <a:r>
              <a:rPr lang="fr-FR" sz="2000" dirty="0">
                <a:latin typeface="Cambria" panose="02040503050406030204" pitchFamily="18" charset="0"/>
                <a:ea typeface="Cambria" panose="02040503050406030204" pitchFamily="18" charset="0"/>
                <a:cs typeface="Calibri" panose="020F0502020204030204" pitchFamily="34" charset="0"/>
              </a:rPr>
              <a:t>d’échanges d’informations nominatives Mineurs en difficulté» (</a:t>
            </a:r>
            <a:r>
              <a:rPr lang="fr-FR" sz="2000" b="1" dirty="0" smtClean="0">
                <a:latin typeface="Cambria" panose="02040503050406030204" pitchFamily="18" charset="0"/>
                <a:ea typeface="Cambria" panose="02040503050406030204" pitchFamily="18" charset="0"/>
                <a:cs typeface="Calibri" panose="020F0502020204030204" pitchFamily="34" charset="0"/>
              </a:rPr>
              <a:t>CENOMED</a:t>
            </a:r>
            <a:r>
              <a:rPr lang="fr-FR" sz="2000" dirty="0" smtClean="0">
                <a:latin typeface="Cambria" panose="02040503050406030204" pitchFamily="18" charset="0"/>
                <a:ea typeface="Cambria" panose="02040503050406030204" pitchFamily="18" charset="0"/>
                <a:cs typeface="Calibri" panose="020F0502020204030204" pitchFamily="34" charset="0"/>
              </a:rPr>
              <a:t>) </a:t>
            </a:r>
            <a:r>
              <a:rPr lang="fr-FR" sz="2000" dirty="0">
                <a:latin typeface="Cambria" panose="02040503050406030204" pitchFamily="18" charset="0"/>
                <a:ea typeface="Cambria" panose="02040503050406030204" pitchFamily="18" charset="0"/>
                <a:cs typeface="Calibri" panose="020F0502020204030204" pitchFamily="34" charset="0"/>
              </a:rPr>
              <a:t>dispositif </a:t>
            </a:r>
            <a:r>
              <a:rPr lang="fr-FR" sz="2000" dirty="0">
                <a:effectLst/>
                <a:latin typeface="Cambria" panose="02040503050406030204" pitchFamily="18" charset="0"/>
                <a:ea typeface="Cambria" panose="02040503050406030204" pitchFamily="18" charset="0"/>
                <a:cs typeface="Calibri" panose="020F0502020204030204" pitchFamily="34" charset="0"/>
              </a:rPr>
              <a:t>de prévention de la </a:t>
            </a:r>
            <a:r>
              <a:rPr lang="fr-FR" sz="2000" dirty="0" smtClean="0">
                <a:effectLst/>
                <a:latin typeface="Cambria" panose="02040503050406030204" pitchFamily="18" charset="0"/>
                <a:ea typeface="Cambria" panose="02040503050406030204" pitchFamily="18" charset="0"/>
                <a:cs typeface="Calibri" panose="020F0502020204030204" pitchFamily="34" charset="0"/>
              </a:rPr>
              <a:t>délinquance.</a:t>
            </a:r>
          </a:p>
          <a:p>
            <a:pPr>
              <a:lnSpc>
                <a:spcPct val="115000"/>
              </a:lnSpc>
              <a:spcAft>
                <a:spcPts val="1000"/>
              </a:spcAft>
            </a:pPr>
            <a:endParaRPr lang="fr-FR" sz="2000" dirty="0">
              <a:latin typeface="Cambria" panose="02040503050406030204" pitchFamily="18" charset="0"/>
              <a:ea typeface="Cambria" panose="02040503050406030204" pitchFamily="18" charset="0"/>
              <a:cs typeface="Calibri" panose="020F0502020204030204" pitchFamily="34" charset="0"/>
            </a:endParaRPr>
          </a:p>
          <a:p>
            <a:pPr marL="457200" indent="-457200">
              <a:lnSpc>
                <a:spcPct val="115000"/>
              </a:lnSpc>
              <a:spcAft>
                <a:spcPts val="1000"/>
              </a:spcAft>
              <a:buFont typeface="Wingdings" panose="05000000000000000000" pitchFamily="2" charset="2"/>
              <a:buChar char="q"/>
            </a:pPr>
            <a:r>
              <a:rPr lang="fr-FR" sz="2000" b="1" dirty="0">
                <a:effectLst/>
                <a:latin typeface="Cambria" panose="02040503050406030204" pitchFamily="18" charset="0"/>
                <a:ea typeface="Cambria" panose="02040503050406030204" pitchFamily="18" charset="0"/>
                <a:cs typeface="Calibri" panose="020F0502020204030204" pitchFamily="34" charset="0"/>
              </a:rPr>
              <a:t>identifier</a:t>
            </a:r>
            <a:r>
              <a:rPr lang="fr-FR" sz="2000" dirty="0">
                <a:effectLst/>
                <a:latin typeface="Cambria" panose="02040503050406030204" pitchFamily="18" charset="0"/>
                <a:ea typeface="Cambria" panose="02040503050406030204" pitchFamily="18" charset="0"/>
                <a:cs typeface="Calibri" panose="020F0502020204030204" pitchFamily="34" charset="0"/>
              </a:rPr>
              <a:t> le plus en amont possible des </a:t>
            </a:r>
            <a:r>
              <a:rPr lang="fr-FR" sz="2000" dirty="0" smtClean="0">
                <a:effectLst/>
                <a:latin typeface="Cambria" panose="02040503050406030204" pitchFamily="18" charset="0"/>
                <a:ea typeface="Cambria" panose="02040503050406030204" pitchFamily="18" charset="0"/>
                <a:cs typeface="Calibri" panose="020F0502020204030204" pitchFamily="34" charset="0"/>
              </a:rPr>
              <a:t>mineurs </a:t>
            </a:r>
            <a:r>
              <a:rPr lang="fr-FR" sz="2000" dirty="0">
                <a:latin typeface="Cambria" panose="02040503050406030204" pitchFamily="18" charset="0"/>
                <a:ea typeface="Cambria" panose="02040503050406030204" pitchFamily="18" charset="0"/>
                <a:cs typeface="Calibri" panose="020F0502020204030204" pitchFamily="34" charset="0"/>
              </a:rPr>
              <a:t>en difficultés </a:t>
            </a: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a:lnSpc>
                <a:spcPct val="115000"/>
              </a:lnSpc>
              <a:spcAft>
                <a:spcPts val="1000"/>
              </a:spcAft>
            </a:pPr>
            <a:r>
              <a:rPr lang="fr-FR" sz="2000" dirty="0">
                <a:latin typeface="Cambria" panose="02040503050406030204" pitchFamily="18" charset="0"/>
                <a:ea typeface="Cambria" panose="02040503050406030204" pitchFamily="18" charset="0"/>
                <a:cs typeface="Calibri" panose="020F0502020204030204" pitchFamily="34" charset="0"/>
              </a:rPr>
              <a:t>	</a:t>
            </a:r>
            <a:r>
              <a:rPr lang="fr-FR" sz="2000" dirty="0">
                <a:effectLst/>
                <a:latin typeface="Cambria" panose="02040503050406030204" pitchFamily="18" charset="0"/>
                <a:ea typeface="Cambria" panose="02040503050406030204" pitchFamily="18" charset="0"/>
                <a:cs typeface="Calibri" panose="020F0502020204030204" pitchFamily="34" charset="0"/>
              </a:rPr>
              <a:t>signalés pour des faits commis relevant de l’infra-délinquance (auteurs) ou </a:t>
            </a:r>
          </a:p>
          <a:p>
            <a:pPr>
              <a:lnSpc>
                <a:spcPct val="115000"/>
              </a:lnSpc>
              <a:spcAft>
                <a:spcPts val="1000"/>
              </a:spcAft>
            </a:pPr>
            <a:r>
              <a:rPr lang="fr-FR" sz="2000" dirty="0">
                <a:latin typeface="Cambria" panose="02040503050406030204" pitchFamily="18" charset="0"/>
                <a:ea typeface="Cambria" panose="02040503050406030204" pitchFamily="18" charset="0"/>
                <a:cs typeface="Calibri" panose="020F0502020204030204" pitchFamily="34" charset="0"/>
              </a:rPr>
              <a:t>	</a:t>
            </a:r>
            <a:r>
              <a:rPr lang="fr-FR" sz="2000" dirty="0">
                <a:effectLst/>
                <a:latin typeface="Cambria" panose="02040503050406030204" pitchFamily="18" charset="0"/>
                <a:ea typeface="Cambria" panose="02040503050406030204" pitchFamily="18" charset="0"/>
                <a:cs typeface="Calibri" panose="020F0502020204030204" pitchFamily="34" charset="0"/>
              </a:rPr>
              <a:t>exposés à un risque de mise en danger en lien avec ces faits (victimes) </a:t>
            </a:r>
          </a:p>
          <a:p>
            <a:pPr marL="457200" indent="-457200">
              <a:lnSpc>
                <a:spcPct val="115000"/>
              </a:lnSpc>
              <a:spcAft>
                <a:spcPts val="1000"/>
              </a:spcAft>
              <a:buFont typeface="Wingdings" panose="05000000000000000000" pitchFamily="2" charset="2"/>
              <a:buChar char="q"/>
            </a:pPr>
            <a:r>
              <a:rPr lang="fr-FR" sz="2000" dirty="0">
                <a:latin typeface="Cambria" panose="02040503050406030204" pitchFamily="18" charset="0"/>
                <a:ea typeface="Cambria" panose="02040503050406030204" pitchFamily="18" charset="0"/>
                <a:cs typeface="Calibri" panose="020F0502020204030204" pitchFamily="34" charset="0"/>
              </a:rPr>
              <a:t> Les </a:t>
            </a:r>
            <a:r>
              <a:rPr lang="fr-FR" sz="2000" b="1" dirty="0">
                <a:latin typeface="Cambria" panose="02040503050406030204" pitchFamily="18" charset="0"/>
                <a:ea typeface="Cambria" panose="02040503050406030204" pitchFamily="18" charset="0"/>
                <a:cs typeface="Calibri" panose="020F0502020204030204" pitchFamily="34" charset="0"/>
              </a:rPr>
              <a:t>orienter</a:t>
            </a:r>
            <a:r>
              <a:rPr lang="fr-FR" sz="2000" dirty="0">
                <a:latin typeface="Cambria" panose="02040503050406030204" pitchFamily="18" charset="0"/>
                <a:ea typeface="Cambria" panose="02040503050406030204" pitchFamily="18" charset="0"/>
                <a:cs typeface="Calibri" panose="020F0502020204030204" pitchFamily="34" charset="0"/>
              </a:rPr>
              <a:t> </a:t>
            </a:r>
            <a:r>
              <a:rPr lang="fr-FR" sz="2000" dirty="0">
                <a:effectLst/>
                <a:latin typeface="Cambria" panose="02040503050406030204" pitchFamily="18" charset="0"/>
                <a:ea typeface="Cambria" panose="02040503050406030204" pitchFamily="18" charset="0"/>
                <a:cs typeface="Calibri" panose="020F0502020204030204" pitchFamily="34" charset="0"/>
              </a:rPr>
              <a:t>vers une prise en charge socio-éducative </a:t>
            </a:r>
            <a:r>
              <a:rPr lang="fr-FR" sz="2000" dirty="0" smtClean="0">
                <a:effectLst/>
                <a:latin typeface="Cambria" panose="02040503050406030204" pitchFamily="18" charset="0"/>
                <a:ea typeface="Cambria" panose="02040503050406030204" pitchFamily="18" charset="0"/>
                <a:cs typeface="Calibri" panose="020F0502020204030204" pitchFamily="34" charset="0"/>
              </a:rPr>
              <a:t>adaptée</a:t>
            </a:r>
          </a:p>
          <a:p>
            <a:pPr marL="457200" indent="-457200">
              <a:lnSpc>
                <a:spcPct val="115000"/>
              </a:lnSpc>
              <a:spcAft>
                <a:spcPts val="1000"/>
              </a:spcAft>
              <a:buFont typeface="Wingdings" panose="05000000000000000000" pitchFamily="2" charset="2"/>
              <a:buChar char="q"/>
            </a:pP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a:lnSpc>
                <a:spcPct val="115000"/>
              </a:lnSpc>
              <a:spcAft>
                <a:spcPts val="1000"/>
              </a:spcAft>
            </a:pPr>
            <a:r>
              <a:rPr lang="fr-FR" sz="2000" dirty="0" smtClean="0">
                <a:latin typeface="Cambria" panose="02040503050406030204" pitchFamily="18" charset="0"/>
                <a:ea typeface="Cambria" panose="02040503050406030204" pitchFamily="18" charset="0"/>
                <a:cs typeface="Calibri" panose="020F0502020204030204" pitchFamily="34" charset="0"/>
              </a:rPr>
              <a:t>=&gt; </a:t>
            </a:r>
            <a:r>
              <a:rPr lang="fr-FR" sz="2000" dirty="0">
                <a:effectLst/>
                <a:latin typeface="Cambria" panose="02040503050406030204" pitchFamily="18" charset="0"/>
                <a:ea typeface="Cambria" panose="02040503050406030204" pitchFamily="18" charset="0"/>
                <a:cs typeface="Calibri" panose="020F0502020204030204" pitchFamily="34" charset="0"/>
              </a:rPr>
              <a:t>Une centaine de situations et </a:t>
            </a:r>
            <a:r>
              <a:rPr lang="fr-FR" sz="2000" dirty="0" smtClean="0">
                <a:effectLst/>
                <a:latin typeface="Cambria" panose="02040503050406030204" pitchFamily="18" charset="0"/>
                <a:ea typeface="Cambria" panose="02040503050406030204" pitchFamily="18" charset="0"/>
                <a:cs typeface="Calibri" panose="020F0502020204030204" pitchFamily="34" charset="0"/>
              </a:rPr>
              <a:t>d’orientation de </a:t>
            </a:r>
            <a:r>
              <a:rPr lang="fr-FR" sz="2000" dirty="0">
                <a:effectLst/>
                <a:latin typeface="Cambria" panose="02040503050406030204" pitchFamily="18" charset="0"/>
                <a:ea typeface="Cambria" panose="02040503050406030204" pitchFamily="18" charset="0"/>
                <a:cs typeface="Calibri" panose="020F0502020204030204" pitchFamily="34" charset="0"/>
              </a:rPr>
              <a:t>mineurs vers des accompagnements socio-éducatifs et préventifs adaptés.</a:t>
            </a:r>
            <a:endParaRPr lang="fr-FR" sz="2000" dirty="0">
              <a:effectLst/>
              <a:latin typeface="Cambria" panose="02040503050406030204" pitchFamily="18" charset="0"/>
              <a:ea typeface="Cambria" panose="02040503050406030204" pitchFamily="18" charset="0"/>
              <a:cs typeface="Times New Roman" panose="02020603050405020304" pitchFamily="18" charset="0"/>
            </a:endParaRPr>
          </a:p>
          <a:p>
            <a:pPr algn="just">
              <a:lnSpc>
                <a:spcPct val="115000"/>
              </a:lnSpc>
              <a:spcAft>
                <a:spcPts val="1000"/>
              </a:spcAft>
            </a:pPr>
            <a:endParaRPr lang="fr-FR" sz="2000" dirty="0">
              <a:effectLst/>
              <a:ea typeface="Calibri" panose="020F0502020204030204" pitchFamily="34" charset="0"/>
              <a:cs typeface="Times New Roman" panose="02020603050405020304" pitchFamily="18" charset="0"/>
            </a:endParaRPr>
          </a:p>
        </p:txBody>
      </p:sp>
      <p:sp>
        <p:nvSpPr>
          <p:cNvPr id="7" name="Titre 4">
            <a:extLst>
              <a:ext uri="{FF2B5EF4-FFF2-40B4-BE49-F238E27FC236}">
                <a16:creationId xmlns:a16="http://schemas.microsoft.com/office/drawing/2014/main" id="{E9A61551-508B-44D6-BF9D-DAB76C03E3B1}"/>
              </a:ext>
            </a:extLst>
          </p:cNvPr>
          <p:cNvSpPr txBox="1">
            <a:spLocks/>
          </p:cNvSpPr>
          <p:nvPr/>
        </p:nvSpPr>
        <p:spPr>
          <a:xfrm>
            <a:off x="696000" y="283769"/>
            <a:ext cx="10800000" cy="571770"/>
          </a:xfrm>
          <a:prstGeom prst="rect">
            <a:avLst/>
          </a:prstGeom>
        </p:spPr>
        <p:txBody>
          <a:bodyPr vert="horz" lIns="91440" tIns="45720" rIns="91440" bIns="45720" rtlCol="0" anchor="t">
            <a:noAutofit/>
          </a:bodyPr>
          <a:lstStyle>
            <a:lvl1pPr algn="l" defTabSz="914400" rtl="0" eaLnBrk="1" latinLnBrk="0" hangingPunct="1">
              <a:lnSpc>
                <a:spcPct val="115000"/>
              </a:lnSpc>
              <a:spcBef>
                <a:spcPct val="0"/>
              </a:spcBef>
              <a:buNone/>
              <a:defRPr sz="2200" b="1" kern="1200">
                <a:solidFill>
                  <a:schemeClr val="tx1"/>
                </a:solidFill>
                <a:latin typeface="+mj-lt"/>
                <a:ea typeface="+mj-ea"/>
                <a:cs typeface="+mj-cs"/>
              </a:defRPr>
            </a:lvl1pPr>
          </a:lstStyle>
          <a:p>
            <a:r>
              <a:rPr lang="fr-FR" sz="2800" dirty="0" smtClean="0">
                <a:solidFill>
                  <a:srgbClr val="FF0000"/>
                </a:solidFill>
                <a:latin typeface="Cambria" panose="02040503050406030204" pitchFamily="18" charset="0"/>
                <a:ea typeface="Cambria" panose="02040503050406030204" pitchFamily="18" charset="0"/>
                <a:cs typeface="Calibri" panose="020F0502020204030204" pitchFamily="34" charset="0"/>
              </a:rPr>
              <a:t>La </a:t>
            </a:r>
            <a:r>
              <a:rPr lang="fr-FR" sz="2800" dirty="0">
                <a:solidFill>
                  <a:srgbClr val="FF0000"/>
                </a:solidFill>
                <a:latin typeface="Cambria" panose="02040503050406030204" pitchFamily="18" charset="0"/>
                <a:ea typeface="Cambria" panose="02040503050406030204" pitchFamily="18" charset="0"/>
                <a:cs typeface="Calibri" panose="020F0502020204030204" pitchFamily="34" charset="0"/>
              </a:rPr>
              <a:t>police de </a:t>
            </a:r>
            <a:r>
              <a:rPr lang="fr-FR" sz="2800" dirty="0" smtClean="0">
                <a:solidFill>
                  <a:srgbClr val="FF0000"/>
                </a:solidFill>
                <a:latin typeface="Cambria" panose="02040503050406030204" pitchFamily="18" charset="0"/>
                <a:ea typeface="Cambria" panose="02040503050406030204" pitchFamily="18" charset="0"/>
                <a:cs typeface="Calibri" panose="020F0502020204030204" pitchFamily="34" charset="0"/>
              </a:rPr>
              <a:t>proximité à Paris</a:t>
            </a:r>
            <a:endParaRPr lang="fr-FR" sz="28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endParaRPr lang="fr-FR" sz="2800" dirty="0"/>
          </a:p>
        </p:txBody>
      </p:sp>
    </p:spTree>
    <p:extLst>
      <p:ext uri="{BB962C8B-B14F-4D97-AF65-F5344CB8AC3E}">
        <p14:creationId xmlns:p14="http://schemas.microsoft.com/office/powerpoint/2010/main" val="303221172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14DB927-DE7D-4E19-BF9C-011DC8DF75CB}"/>
              </a:ext>
            </a:extLst>
          </p:cNvPr>
          <p:cNvSpPr>
            <a:spLocks noGrp="1"/>
          </p:cNvSpPr>
          <p:nvPr>
            <p:ph type="title"/>
          </p:nvPr>
        </p:nvSpPr>
        <p:spPr>
          <a:xfrm>
            <a:off x="540000" y="360000"/>
            <a:ext cx="10800000" cy="648000"/>
          </a:xfrm>
        </p:spPr>
        <p:txBody>
          <a:bodyPr>
            <a:noAutofit/>
          </a:bodyPr>
          <a:lstStyle/>
          <a:p>
            <a:r>
              <a:rPr lang="fr-FR" sz="2400" dirty="0" smtClean="0">
                <a:solidFill>
                  <a:schemeClr val="accent3"/>
                </a:solidFill>
                <a:latin typeface="Cambria" panose="02040503050406030204" pitchFamily="18" charset="0"/>
                <a:ea typeface="Cambria" panose="02040503050406030204" pitchFamily="18" charset="0"/>
                <a:cs typeface="Calibri" panose="020F0502020204030204" pitchFamily="34" charset="0"/>
              </a:rPr>
              <a:t>« Ville-Vie-Vacances</a:t>
            </a:r>
            <a:r>
              <a:rPr lang="fr-FR" sz="2400" dirty="0">
                <a:solidFill>
                  <a:schemeClr val="accent3"/>
                </a:solidFill>
                <a:latin typeface="Cambria" panose="02040503050406030204" pitchFamily="18" charset="0"/>
                <a:ea typeface="Cambria" panose="02040503050406030204" pitchFamily="18" charset="0"/>
                <a:cs typeface="Calibri" panose="020F0502020204030204" pitchFamily="34" charset="0"/>
              </a:rPr>
              <a:t> » (</a:t>
            </a:r>
            <a:r>
              <a:rPr lang="fr-FR" sz="2400" dirty="0" smtClean="0">
                <a:solidFill>
                  <a:schemeClr val="accent3"/>
                </a:solidFill>
                <a:latin typeface="Cambria" panose="02040503050406030204" pitchFamily="18" charset="0"/>
                <a:ea typeface="Cambria" panose="02040503050406030204" pitchFamily="18" charset="0"/>
                <a:cs typeface="Calibri" panose="020F0502020204030204" pitchFamily="34" charset="0"/>
              </a:rPr>
              <a:t>V.V.V.)</a:t>
            </a:r>
            <a:r>
              <a:rPr lang="fr-FR" sz="2400" dirty="0">
                <a:solidFill>
                  <a:schemeClr val="accent3"/>
                </a:solidFill>
                <a:latin typeface="Cambria" panose="02040503050406030204" pitchFamily="18" charset="0"/>
                <a:ea typeface="Cambria" panose="02040503050406030204" pitchFamily="18" charset="0"/>
                <a:cs typeface="Times New Roman" panose="02020603050405020304" pitchFamily="18" charset="0"/>
              </a:rPr>
              <a:t/>
            </a:r>
            <a:br>
              <a:rPr lang="fr-FR" sz="2400" dirty="0">
                <a:solidFill>
                  <a:schemeClr val="accent3"/>
                </a:solidFill>
                <a:latin typeface="Cambria" panose="02040503050406030204" pitchFamily="18" charset="0"/>
                <a:ea typeface="Cambria" panose="02040503050406030204" pitchFamily="18" charset="0"/>
                <a:cs typeface="Times New Roman" panose="02020603050405020304" pitchFamily="18" charset="0"/>
              </a:rPr>
            </a:br>
            <a:endParaRPr lang="fr-FR" sz="2400" dirty="0">
              <a:solidFill>
                <a:schemeClr val="accent3"/>
              </a:solidFill>
              <a:latin typeface="Cambria" panose="02040503050406030204" pitchFamily="18" charset="0"/>
              <a:ea typeface="Cambria" panose="02040503050406030204" pitchFamily="18" charset="0"/>
            </a:endParaRPr>
          </a:p>
        </p:txBody>
      </p:sp>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30</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7" name="ZoneTexte 6">
            <a:extLst>
              <a:ext uri="{FF2B5EF4-FFF2-40B4-BE49-F238E27FC236}">
                <a16:creationId xmlns:a16="http://schemas.microsoft.com/office/drawing/2014/main" id="{3050B83D-3AF6-449B-BF87-7644D63210ED}"/>
              </a:ext>
            </a:extLst>
          </p:cNvPr>
          <p:cNvSpPr txBox="1"/>
          <p:nvPr/>
        </p:nvSpPr>
        <p:spPr>
          <a:xfrm>
            <a:off x="540000" y="1185451"/>
            <a:ext cx="6100010" cy="4431662"/>
          </a:xfrm>
          <a:prstGeom prst="rect">
            <a:avLst/>
          </a:prstGeom>
          <a:noFill/>
        </p:spPr>
        <p:txBody>
          <a:bodyPr wrap="square">
            <a:spAutoFit/>
          </a:bodyPr>
          <a:lstStyle/>
          <a:p>
            <a:pPr>
              <a:lnSpc>
                <a:spcPct val="115000"/>
              </a:lnSpc>
              <a:spcAft>
                <a:spcPts val="1000"/>
              </a:spcAft>
            </a:pPr>
            <a:r>
              <a:rPr lang="fr-FR" sz="2400" dirty="0">
                <a:effectLst/>
                <a:latin typeface="Cambria" panose="02040503050406030204" pitchFamily="18" charset="0"/>
                <a:ea typeface="Cambria" panose="02040503050406030204" pitchFamily="18" charset="0"/>
                <a:cs typeface="Calibri" panose="020F0502020204030204" pitchFamily="34" charset="0"/>
              </a:rPr>
              <a:t>L’appel à projets </a:t>
            </a:r>
            <a:r>
              <a:rPr lang="fr-FR" sz="2400" b="1" dirty="0" smtClean="0">
                <a:solidFill>
                  <a:srgbClr val="FF0000"/>
                </a:solidFill>
                <a:effectLst/>
                <a:latin typeface="Cambria" panose="02040503050406030204" pitchFamily="18" charset="0"/>
                <a:ea typeface="Cambria" panose="02040503050406030204" pitchFamily="18" charset="0"/>
                <a:cs typeface="Calibri" panose="020F0502020204030204" pitchFamily="34" charset="0"/>
              </a:rPr>
              <a:t>V.V.V. </a:t>
            </a:r>
            <a:r>
              <a:rPr lang="fr-FR" sz="2400" dirty="0">
                <a:effectLst/>
                <a:latin typeface="Cambria" panose="02040503050406030204" pitchFamily="18" charset="0"/>
                <a:ea typeface="Cambria" panose="02040503050406030204" pitchFamily="18" charset="0"/>
                <a:cs typeface="Calibri" panose="020F0502020204030204" pitchFamily="34" charset="0"/>
              </a:rPr>
              <a:t>est un programme partenarial entre la Ville de Paris et l’État qui permet à des jeunes de 11 à 18 ans prioritairement issus des quartiers relevant de la politique de la Ville de bénéficier d’activités culturelles, civiques, sportives et de loisirs gratuites durant les vacances </a:t>
            </a:r>
            <a:r>
              <a:rPr lang="fr-FR" sz="2400" dirty="0" smtClean="0">
                <a:effectLst/>
                <a:latin typeface="Cambria" panose="02040503050406030204" pitchFamily="18" charset="0"/>
                <a:ea typeface="Cambria" panose="02040503050406030204" pitchFamily="18" charset="0"/>
                <a:cs typeface="Calibri" panose="020F0502020204030204" pitchFamily="34" charset="0"/>
              </a:rPr>
              <a:t>scolaires. </a:t>
            </a:r>
          </a:p>
          <a:p>
            <a:pPr>
              <a:lnSpc>
                <a:spcPct val="115000"/>
              </a:lnSpc>
              <a:spcAft>
                <a:spcPts val="1000"/>
              </a:spcAft>
            </a:pPr>
            <a:r>
              <a:rPr lang="fr-FR" sz="2400" dirty="0" smtClean="0">
                <a:effectLst/>
                <a:latin typeface="Cambria" panose="02040503050406030204" pitchFamily="18" charset="0"/>
                <a:ea typeface="Cambria" panose="02040503050406030204" pitchFamily="18" charset="0"/>
                <a:cs typeface="Calibri" panose="020F0502020204030204" pitchFamily="34" charset="0"/>
              </a:rPr>
              <a:t>En 2020</a:t>
            </a:r>
            <a:r>
              <a:rPr lang="fr-FR" sz="2400" dirty="0">
                <a:effectLst/>
                <a:latin typeface="Cambria" panose="02040503050406030204" pitchFamily="18" charset="0"/>
                <a:ea typeface="Cambria" panose="02040503050406030204" pitchFamily="18" charset="0"/>
                <a:cs typeface="Calibri" panose="020F0502020204030204" pitchFamily="34" charset="0"/>
              </a:rPr>
              <a:t>, 81 associations ont été subventionnées par la Ville (175 projets</a:t>
            </a:r>
            <a:r>
              <a:rPr lang="fr-FR" sz="2400" dirty="0" smtClean="0">
                <a:effectLst/>
                <a:latin typeface="Cambria" panose="02040503050406030204" pitchFamily="18" charset="0"/>
                <a:ea typeface="Cambria" panose="02040503050406030204" pitchFamily="18" charset="0"/>
                <a:cs typeface="Calibri" panose="020F0502020204030204" pitchFamily="34" charset="0"/>
              </a:rPr>
              <a:t>).</a:t>
            </a:r>
            <a:endParaRPr lang="fr-FR" sz="2400" dirty="0">
              <a:latin typeface="Cambria" panose="02040503050406030204" pitchFamily="18" charset="0"/>
              <a:ea typeface="Cambria" panose="02040503050406030204" pitchFamily="18" charset="0"/>
              <a:cs typeface="Calibri" panose="020F0502020204030204" pitchFamily="34" charset="0"/>
            </a:endParaRPr>
          </a:p>
        </p:txBody>
      </p:sp>
      <p:pic>
        <p:nvPicPr>
          <p:cNvPr id="4098" name="Picture 2" descr="Dispositif Ville Vie Vacances / 2015 / Archives / Actualités / Accueil -  Les services de l'État dans l'Oise">
            <a:extLst>
              <a:ext uri="{FF2B5EF4-FFF2-40B4-BE49-F238E27FC236}">
                <a16:creationId xmlns:a16="http://schemas.microsoft.com/office/drawing/2014/main" id="{1AA04B2B-F79E-4136-8198-EEFBA1A60D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7080" y="360000"/>
            <a:ext cx="1905000" cy="134302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Paris remercie les acteurs du dispositif Ville Vie Vacances | Le blog de  Colombe Brossel">
            <a:extLst>
              <a:ext uri="{FF2B5EF4-FFF2-40B4-BE49-F238E27FC236}">
                <a16:creationId xmlns:a16="http://schemas.microsoft.com/office/drawing/2014/main" id="{8685061D-933A-48CC-B62E-B48E4FB23C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6074" y="2458541"/>
            <a:ext cx="3985926" cy="2281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350414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14DB927-DE7D-4E19-BF9C-011DC8DF75CB}"/>
              </a:ext>
            </a:extLst>
          </p:cNvPr>
          <p:cNvSpPr>
            <a:spLocks noGrp="1"/>
          </p:cNvSpPr>
          <p:nvPr>
            <p:ph type="title"/>
          </p:nvPr>
        </p:nvSpPr>
        <p:spPr>
          <a:xfrm>
            <a:off x="540000" y="360000"/>
            <a:ext cx="10800000" cy="648000"/>
          </a:xfrm>
        </p:spPr>
        <p:txBody>
          <a:bodyPr>
            <a:noAutofit/>
          </a:bodyPr>
          <a:lstStyle/>
          <a:p>
            <a:r>
              <a:rPr lang="fr-FR" sz="2800" dirty="0">
                <a:solidFill>
                  <a:schemeClr val="accent3"/>
                </a:solidFill>
                <a:latin typeface="Cambria" panose="02040503050406030204" pitchFamily="18" charset="0"/>
                <a:ea typeface="Cambria" panose="02040503050406030204" pitchFamily="18" charset="0"/>
                <a:cs typeface="Calibri" panose="020F0502020204030204" pitchFamily="34" charset="0"/>
              </a:rPr>
              <a:t>Lutte contre les rixes</a:t>
            </a:r>
          </a:p>
        </p:txBody>
      </p:sp>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31</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9" name="ZoneTexte 8">
            <a:extLst>
              <a:ext uri="{FF2B5EF4-FFF2-40B4-BE49-F238E27FC236}">
                <a16:creationId xmlns:a16="http://schemas.microsoft.com/office/drawing/2014/main" id="{ED0019C4-43C2-41A4-9225-2AAB45BB6E23}"/>
              </a:ext>
            </a:extLst>
          </p:cNvPr>
          <p:cNvSpPr txBox="1"/>
          <p:nvPr/>
        </p:nvSpPr>
        <p:spPr>
          <a:xfrm>
            <a:off x="494380" y="1315547"/>
            <a:ext cx="8171318" cy="4524315"/>
          </a:xfrm>
          <a:prstGeom prst="rect">
            <a:avLst/>
          </a:prstGeom>
          <a:noFill/>
        </p:spPr>
        <p:txBody>
          <a:bodyPr wrap="square">
            <a:spAutoFit/>
          </a:bodyPr>
          <a:lstStyle/>
          <a:p>
            <a:pPr marL="457200" indent="-457200" algn="just">
              <a:buFont typeface="Wingdings" panose="05000000000000000000" pitchFamily="2" charset="2"/>
              <a:buChar char="q"/>
            </a:pPr>
            <a:r>
              <a:rPr lang="fr-FR" sz="2400" dirty="0">
                <a:effectLst/>
                <a:latin typeface="Cambria" panose="02040503050406030204" pitchFamily="18" charset="0"/>
                <a:ea typeface="Cambria" panose="02040503050406030204" pitchFamily="18" charset="0"/>
                <a:cs typeface="Calibri" panose="020F0502020204030204" pitchFamily="34" charset="0"/>
              </a:rPr>
              <a:t>Depuis 2016, 300 rixes ont été recensées par la Ville de Paris</a:t>
            </a:r>
            <a:r>
              <a:rPr lang="fr-FR" sz="2400" dirty="0" smtClean="0">
                <a:effectLst/>
                <a:latin typeface="Cambria" panose="02040503050406030204" pitchFamily="18" charset="0"/>
                <a:ea typeface="Cambria" panose="02040503050406030204" pitchFamily="18" charset="0"/>
                <a:cs typeface="Calibri" panose="020F0502020204030204" pitchFamily="34" charset="0"/>
              </a:rPr>
              <a:t>.</a:t>
            </a:r>
          </a:p>
          <a:p>
            <a:pPr algn="just"/>
            <a:endParaRPr lang="fr-FR" sz="2400" dirty="0">
              <a:effectLst/>
              <a:latin typeface="Cambria" panose="02040503050406030204" pitchFamily="18" charset="0"/>
              <a:ea typeface="Cambria" panose="02040503050406030204" pitchFamily="18" charset="0"/>
              <a:cs typeface="Calibri" panose="020F0502020204030204" pitchFamily="34" charset="0"/>
            </a:endParaRPr>
          </a:p>
          <a:p>
            <a:pPr marL="457200" indent="-457200" algn="just">
              <a:buFont typeface="Wingdings" panose="05000000000000000000" pitchFamily="2" charset="2"/>
              <a:buChar char="q"/>
            </a:pPr>
            <a:r>
              <a:rPr lang="fr-FR" sz="2400" dirty="0" smtClean="0">
                <a:effectLst/>
                <a:latin typeface="Cambria" panose="02040503050406030204" pitchFamily="18" charset="0"/>
                <a:ea typeface="Cambria" panose="02040503050406030204" pitchFamily="18" charset="0"/>
                <a:cs typeface="Calibri" panose="020F0502020204030204" pitchFamily="34" charset="0"/>
              </a:rPr>
              <a:t>États </a:t>
            </a:r>
            <a:r>
              <a:rPr lang="fr-FR" sz="2400" dirty="0">
                <a:effectLst/>
                <a:latin typeface="Cambria" panose="02040503050406030204" pitchFamily="18" charset="0"/>
                <a:ea typeface="Cambria" panose="02040503050406030204" pitchFamily="18" charset="0"/>
                <a:cs typeface="Calibri" panose="020F0502020204030204" pitchFamily="34" charset="0"/>
              </a:rPr>
              <a:t>Généraux de la Prévention des Rixes le 3 Octobre 2018, démarche ayant impliqué les </a:t>
            </a:r>
            <a:r>
              <a:rPr lang="fr-FR" sz="2400" dirty="0" smtClean="0">
                <a:effectLst/>
                <a:latin typeface="Cambria" panose="02040503050406030204" pitchFamily="18" charset="0"/>
                <a:ea typeface="Cambria" panose="02040503050406030204" pitchFamily="18" charset="0"/>
                <a:cs typeface="Calibri" panose="020F0502020204030204" pitchFamily="34" charset="0"/>
              </a:rPr>
              <a:t>principaux </a:t>
            </a:r>
            <a:r>
              <a:rPr lang="fr-FR" sz="2400" dirty="0">
                <a:effectLst/>
                <a:latin typeface="Cambria" panose="02040503050406030204" pitchFamily="18" charset="0"/>
                <a:ea typeface="Cambria" panose="02040503050406030204" pitchFamily="18" charset="0"/>
                <a:cs typeface="Calibri" panose="020F0502020204030204" pitchFamily="34" charset="0"/>
              </a:rPr>
              <a:t>partenaires institutionnels, associatifs et de la société civile concernés par cette question (Justice, Police, acteurs associatifs locaux</a:t>
            </a:r>
            <a:r>
              <a:rPr lang="fr-FR" sz="2400" dirty="0" smtClean="0">
                <a:effectLst/>
                <a:latin typeface="Cambria" panose="02040503050406030204" pitchFamily="18" charset="0"/>
                <a:ea typeface="Cambria" panose="02040503050406030204" pitchFamily="18" charset="0"/>
                <a:cs typeface="Calibri" panose="020F0502020204030204" pitchFamily="34" charset="0"/>
              </a:rPr>
              <a:t>).</a:t>
            </a:r>
          </a:p>
          <a:p>
            <a:pPr algn="just"/>
            <a:r>
              <a:rPr lang="fr-FR" sz="2400" dirty="0" smtClean="0">
                <a:effectLst/>
                <a:latin typeface="Cambria" panose="02040503050406030204" pitchFamily="18" charset="0"/>
                <a:ea typeface="Cambria" panose="02040503050406030204" pitchFamily="18" charset="0"/>
                <a:cs typeface="Calibri" panose="020F0502020204030204" pitchFamily="34" charset="0"/>
              </a:rPr>
              <a:t> </a:t>
            </a:r>
            <a:endParaRPr lang="fr-FR" sz="2400" dirty="0">
              <a:latin typeface="Cambria" panose="02040503050406030204" pitchFamily="18" charset="0"/>
              <a:ea typeface="Cambria" panose="02040503050406030204" pitchFamily="18" charset="0"/>
              <a:cs typeface="Calibri" panose="020F0502020204030204" pitchFamily="34" charset="0"/>
            </a:endParaRPr>
          </a:p>
          <a:p>
            <a:pPr marL="457200" indent="-457200" algn="just">
              <a:buFont typeface="Wingdings" panose="05000000000000000000" pitchFamily="2" charset="2"/>
              <a:buChar char="q"/>
            </a:pPr>
            <a:r>
              <a:rPr lang="fr-FR" sz="2400" dirty="0">
                <a:effectLst/>
                <a:latin typeface="Cambria" panose="02040503050406030204" pitchFamily="18" charset="0"/>
                <a:ea typeface="Cambria" panose="02040503050406030204" pitchFamily="18" charset="0"/>
                <a:cs typeface="Calibri" panose="020F0502020204030204" pitchFamily="34" charset="0"/>
              </a:rPr>
              <a:t>Une stratégie parisienne de prévention des rixes a été présentée le 20 juin </a:t>
            </a:r>
            <a:r>
              <a:rPr lang="fr-FR" sz="2400" dirty="0" smtClean="0">
                <a:effectLst/>
                <a:latin typeface="Cambria" panose="02040503050406030204" pitchFamily="18" charset="0"/>
                <a:ea typeface="Cambria" panose="02040503050406030204" pitchFamily="18" charset="0"/>
                <a:cs typeface="Calibri" panose="020F0502020204030204" pitchFamily="34" charset="0"/>
              </a:rPr>
              <a:t>2019.</a:t>
            </a:r>
            <a:endParaRPr lang="fr-FR" sz="2400" dirty="0">
              <a:effectLst/>
              <a:latin typeface="Cambria" panose="02040503050406030204" pitchFamily="18" charset="0"/>
              <a:ea typeface="Cambria" panose="02040503050406030204" pitchFamily="18" charset="0"/>
              <a:cs typeface="Calibri" panose="020F0502020204030204" pitchFamily="34" charset="0"/>
            </a:endParaRPr>
          </a:p>
          <a:p>
            <a:pPr algn="just"/>
            <a:endParaRPr lang="fr-FR" sz="2400" dirty="0">
              <a:effectLst/>
              <a:latin typeface="Cambria" panose="02040503050406030204" pitchFamily="18" charset="0"/>
              <a:ea typeface="Cambria" panose="02040503050406030204" pitchFamily="18" charset="0"/>
              <a:cs typeface="Calibri" panose="020F0502020204030204" pitchFamily="34" charset="0"/>
            </a:endParaRPr>
          </a:p>
        </p:txBody>
      </p:sp>
      <p:pic>
        <p:nvPicPr>
          <p:cNvPr id="5122" name="Picture 2" descr="La Ville de Paris se mobilise pour enrayer le phénomène des rixes entre  jeunes | Le blog de Colombe Brossel">
            <a:extLst>
              <a:ext uri="{FF2B5EF4-FFF2-40B4-BE49-F238E27FC236}">
                <a16:creationId xmlns:a16="http://schemas.microsoft.com/office/drawing/2014/main" id="{268C7543-AC9A-4C7C-B5CC-CCCABAD1B9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0829" y="3874585"/>
            <a:ext cx="2689506" cy="145110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Lancement des Etats Généraux des rixes à Paris - Ville de Paris">
            <a:extLst>
              <a:ext uri="{FF2B5EF4-FFF2-40B4-BE49-F238E27FC236}">
                <a16:creationId xmlns:a16="http://schemas.microsoft.com/office/drawing/2014/main" id="{ACF1EAC8-189F-4748-B667-AB5A5A23DF5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14089" y="1655129"/>
            <a:ext cx="2342986" cy="14457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147192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14DB927-DE7D-4E19-BF9C-011DC8DF75CB}"/>
              </a:ext>
            </a:extLst>
          </p:cNvPr>
          <p:cNvSpPr>
            <a:spLocks noGrp="1"/>
          </p:cNvSpPr>
          <p:nvPr>
            <p:ph type="title"/>
          </p:nvPr>
        </p:nvSpPr>
        <p:spPr>
          <a:xfrm>
            <a:off x="540000" y="360000"/>
            <a:ext cx="10800000" cy="648000"/>
          </a:xfrm>
        </p:spPr>
        <p:txBody>
          <a:bodyPr>
            <a:noAutofit/>
          </a:bodyPr>
          <a:lstStyle/>
          <a:p>
            <a:r>
              <a:rPr lang="fr-FR" sz="2800" dirty="0">
                <a:solidFill>
                  <a:schemeClr val="accent3"/>
                </a:solidFill>
                <a:latin typeface="Cambria" panose="02040503050406030204" pitchFamily="18" charset="0"/>
                <a:ea typeface="Cambria" panose="02040503050406030204" pitchFamily="18" charset="0"/>
                <a:cs typeface="Calibri" panose="020F0502020204030204" pitchFamily="34" charset="0"/>
              </a:rPr>
              <a:t>Lutte contre les rixes</a:t>
            </a:r>
          </a:p>
        </p:txBody>
      </p:sp>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32</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9" name="ZoneTexte 8">
            <a:extLst>
              <a:ext uri="{FF2B5EF4-FFF2-40B4-BE49-F238E27FC236}">
                <a16:creationId xmlns:a16="http://schemas.microsoft.com/office/drawing/2014/main" id="{ED0019C4-43C2-41A4-9225-2AAB45BB6E23}"/>
              </a:ext>
            </a:extLst>
          </p:cNvPr>
          <p:cNvSpPr txBox="1"/>
          <p:nvPr/>
        </p:nvSpPr>
        <p:spPr>
          <a:xfrm>
            <a:off x="494380" y="1315547"/>
            <a:ext cx="8171318" cy="1200329"/>
          </a:xfrm>
          <a:prstGeom prst="rect">
            <a:avLst/>
          </a:prstGeom>
          <a:noFill/>
        </p:spPr>
        <p:txBody>
          <a:bodyPr wrap="square">
            <a:spAutoFit/>
          </a:bodyPr>
          <a:lstStyle/>
          <a:p>
            <a:pPr algn="just"/>
            <a:endParaRPr lang="fr-FR" sz="2400" dirty="0">
              <a:effectLst/>
              <a:latin typeface="Cambria" panose="02040503050406030204" pitchFamily="18" charset="0"/>
              <a:ea typeface="Cambria" panose="02040503050406030204" pitchFamily="18" charset="0"/>
              <a:cs typeface="Calibri" panose="020F0502020204030204" pitchFamily="34" charset="0"/>
            </a:endParaRPr>
          </a:p>
          <a:p>
            <a:pPr algn="just"/>
            <a:r>
              <a:rPr lang="fr-FR" sz="2400" dirty="0">
                <a:effectLst/>
                <a:latin typeface="Cambria" panose="02040503050406030204" pitchFamily="18" charset="0"/>
                <a:ea typeface="Cambria" panose="02040503050406030204" pitchFamily="18" charset="0"/>
                <a:cs typeface="Calibri" panose="020F0502020204030204" pitchFamily="34" charset="0"/>
              </a:rPr>
              <a:t>Dans ce cadre, une équipe </a:t>
            </a:r>
            <a:r>
              <a:rPr lang="fr-FR" sz="2400" dirty="0" smtClean="0">
                <a:effectLst/>
                <a:latin typeface="Cambria" panose="02040503050406030204" pitchFamily="18" charset="0"/>
                <a:ea typeface="Cambria" panose="02040503050406030204" pitchFamily="18" charset="0"/>
                <a:cs typeface="Calibri" panose="020F0502020204030204" pitchFamily="34" charset="0"/>
              </a:rPr>
              <a:t>dédiée </a:t>
            </a:r>
            <a:r>
              <a:rPr lang="fr-FR" sz="2400" dirty="0">
                <a:effectLst/>
                <a:latin typeface="Cambria" panose="02040503050406030204" pitchFamily="18" charset="0"/>
                <a:ea typeface="Cambria" panose="02040503050406030204" pitchFamily="18" charset="0"/>
                <a:cs typeface="Calibri" panose="020F0502020204030204" pitchFamily="34" charset="0"/>
              </a:rPr>
              <a:t>à la prévention des rixes a été créée en juillet </a:t>
            </a:r>
            <a:r>
              <a:rPr lang="fr-FR" sz="2400" dirty="0" smtClean="0">
                <a:effectLst/>
                <a:latin typeface="Cambria" panose="02040503050406030204" pitchFamily="18" charset="0"/>
                <a:ea typeface="Cambria" panose="02040503050406030204" pitchFamily="18" charset="0"/>
                <a:cs typeface="Calibri" panose="020F0502020204030204" pitchFamily="34" charset="0"/>
              </a:rPr>
              <a:t>2019</a:t>
            </a:r>
            <a:r>
              <a:rPr lang="fr-FR" sz="2400" dirty="0">
                <a:latin typeface="Cambria" panose="02040503050406030204" pitchFamily="18" charset="0"/>
                <a:ea typeface="Cambria" panose="02040503050406030204" pitchFamily="18" charset="0"/>
              </a:rPr>
              <a:t>.</a:t>
            </a:r>
            <a:endParaRPr lang="fr-FR" sz="2400" dirty="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2" name="Rectangle à coins arrondis 1"/>
          <p:cNvSpPr/>
          <p:nvPr/>
        </p:nvSpPr>
        <p:spPr>
          <a:xfrm>
            <a:off x="2727251" y="2849526"/>
            <a:ext cx="5592725" cy="1499190"/>
          </a:xfrm>
          <a:prstGeom prst="roundRect">
            <a:avLst/>
          </a:prstGeom>
          <a:ln/>
          <a:effectLst>
            <a:glow rad="63500">
              <a:schemeClr val="accent2">
                <a:satMod val="175000"/>
                <a:alpha val="40000"/>
              </a:schemeClr>
            </a:glow>
          </a:effectLst>
          <a:scene3d>
            <a:camera prst="orthographicFront"/>
            <a:lightRig rig="threePt" dir="t"/>
          </a:scene3d>
          <a:sp3d>
            <a:bevelT prst="relaxedInset"/>
          </a:sp3d>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2000" b="1" dirty="0" smtClean="0">
                <a:latin typeface="Cambria" panose="02040503050406030204" pitchFamily="18" charset="0"/>
                <a:ea typeface="Cambria" panose="02040503050406030204" pitchFamily="18" charset="0"/>
              </a:rPr>
              <a:t>De quelle équipe s’agit-il?</a:t>
            </a:r>
            <a:endParaRPr lang="fr-FR" sz="2000" b="1" dirty="0">
              <a:latin typeface="Cambria" panose="02040503050406030204" pitchFamily="18" charset="0"/>
              <a:ea typeface="Cambria" panose="02040503050406030204" pitchFamily="18" charset="0"/>
            </a:endParaRPr>
          </a:p>
        </p:txBody>
      </p:sp>
      <p:sp>
        <p:nvSpPr>
          <p:cNvPr id="3" name="Ellipse 2"/>
          <p:cNvSpPr/>
          <p:nvPr/>
        </p:nvSpPr>
        <p:spPr>
          <a:xfrm>
            <a:off x="4012492" y="4603898"/>
            <a:ext cx="3351849" cy="925032"/>
          </a:xfrm>
          <a:prstGeom prst="ellipse">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fr-FR" sz="2400" b="1" dirty="0" smtClean="0">
                <a:latin typeface="Cambria" panose="02040503050406030204" pitchFamily="18" charset="0"/>
                <a:ea typeface="Cambria" panose="02040503050406030204" pitchFamily="18" charset="0"/>
              </a:rPr>
              <a:t>L’E.P.M.</a:t>
            </a:r>
            <a:endParaRPr lang="fr-FR" sz="2400" b="1" dirty="0">
              <a:latin typeface="Cambria" panose="02040503050406030204" pitchFamily="18" charset="0"/>
              <a:ea typeface="Cambria" panose="02040503050406030204" pitchFamily="18" charset="0"/>
            </a:endParaRPr>
          </a:p>
        </p:txBody>
      </p:sp>
      <p:sp>
        <p:nvSpPr>
          <p:cNvPr id="4" name="Flèche droite 3"/>
          <p:cNvSpPr/>
          <p:nvPr/>
        </p:nvSpPr>
        <p:spPr>
          <a:xfrm>
            <a:off x="7602279" y="4965405"/>
            <a:ext cx="903766" cy="265814"/>
          </a:xfrm>
          <a:prstGeom prst="rightArrow">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r-FR"/>
          </a:p>
        </p:txBody>
      </p:sp>
      <p:sp>
        <p:nvSpPr>
          <p:cNvPr id="6" name="Rectangle à coins arrondis 5"/>
          <p:cNvSpPr/>
          <p:nvPr/>
        </p:nvSpPr>
        <p:spPr>
          <a:xfrm>
            <a:off x="8867553" y="4646429"/>
            <a:ext cx="2945219" cy="1073888"/>
          </a:xfrm>
          <a:prstGeom prst="roundRect">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fr-FR" sz="2000" b="1" dirty="0" smtClean="0">
                <a:latin typeface="Cambria" panose="02040503050406030204" pitchFamily="18" charset="0"/>
                <a:ea typeface="Cambria" panose="02040503050406030204" pitchFamily="18" charset="0"/>
              </a:rPr>
              <a:t>Équipe parisienne de médiation</a:t>
            </a:r>
            <a:endParaRPr lang="fr-FR" sz="2000" b="1" dirty="0">
              <a:latin typeface="Cambria" panose="02040503050406030204" pitchFamily="18" charset="0"/>
              <a:ea typeface="Cambria" panose="020405030504060302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26083" y="1672913"/>
            <a:ext cx="2705100" cy="1685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07080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14DB927-DE7D-4E19-BF9C-011DC8DF75CB}"/>
              </a:ext>
            </a:extLst>
          </p:cNvPr>
          <p:cNvSpPr>
            <a:spLocks noGrp="1"/>
          </p:cNvSpPr>
          <p:nvPr>
            <p:ph type="title"/>
          </p:nvPr>
        </p:nvSpPr>
        <p:spPr>
          <a:xfrm>
            <a:off x="540000" y="360000"/>
            <a:ext cx="10800000" cy="648000"/>
          </a:xfrm>
        </p:spPr>
        <p:txBody>
          <a:bodyPr>
            <a:noAutofit/>
          </a:bodyPr>
          <a:lstStyle/>
          <a:p>
            <a:r>
              <a:rPr lang="fr-FR" sz="2800" dirty="0">
                <a:solidFill>
                  <a:schemeClr val="accent3"/>
                </a:solidFill>
                <a:latin typeface="Cambria" panose="02040503050406030204" pitchFamily="18" charset="0"/>
                <a:ea typeface="Cambria" panose="02040503050406030204" pitchFamily="18" charset="0"/>
                <a:cs typeface="Calibri" panose="020F0502020204030204" pitchFamily="34" charset="0"/>
              </a:rPr>
              <a:t>Le contrat Parisien Prévention et de Sécurité </a:t>
            </a:r>
            <a:r>
              <a:rPr lang="fr-FR" sz="2800" dirty="0">
                <a:solidFill>
                  <a:schemeClr val="accent3"/>
                </a:solidFill>
                <a:ea typeface="Calibri" panose="020F0502020204030204" pitchFamily="34" charset="0"/>
                <a:cs typeface="Calibri" panose="020F0502020204030204" pitchFamily="34" charset="0"/>
              </a:rPr>
              <a:t/>
            </a:r>
            <a:br>
              <a:rPr lang="fr-FR" sz="2800" dirty="0">
                <a:solidFill>
                  <a:schemeClr val="accent3"/>
                </a:solidFill>
                <a:ea typeface="Calibri" panose="020F0502020204030204" pitchFamily="34" charset="0"/>
                <a:cs typeface="Calibri" panose="020F0502020204030204" pitchFamily="34" charset="0"/>
              </a:rPr>
            </a:br>
            <a:endParaRPr lang="fr-FR" sz="2800" dirty="0">
              <a:solidFill>
                <a:schemeClr val="accent3"/>
              </a:solidFill>
              <a:cs typeface="Calibri" panose="020F0502020204030204" pitchFamily="34" charset="0"/>
            </a:endParaRPr>
          </a:p>
        </p:txBody>
      </p:sp>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33</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10" name="ZoneTexte 9">
            <a:extLst>
              <a:ext uri="{FF2B5EF4-FFF2-40B4-BE49-F238E27FC236}">
                <a16:creationId xmlns:a16="http://schemas.microsoft.com/office/drawing/2014/main" id="{C5D0E27A-A904-49A3-8B74-9E33125BCC96}"/>
              </a:ext>
            </a:extLst>
          </p:cNvPr>
          <p:cNvSpPr txBox="1"/>
          <p:nvPr/>
        </p:nvSpPr>
        <p:spPr>
          <a:xfrm>
            <a:off x="597606" y="1411381"/>
            <a:ext cx="9211683" cy="4883388"/>
          </a:xfrm>
          <a:prstGeom prst="rect">
            <a:avLst/>
          </a:prstGeom>
          <a:noFill/>
        </p:spPr>
        <p:txBody>
          <a:bodyPr wrap="square">
            <a:spAutoFit/>
          </a:bodyPr>
          <a:lstStyle/>
          <a:p>
            <a:pPr marL="285750" indent="-285750" algn="just" eaLnBrk="0" fontAlgn="base" hangingPunct="0">
              <a:buFont typeface="Wingdings" panose="05000000000000000000" pitchFamily="2" charset="2"/>
              <a:buChar char="q"/>
            </a:pPr>
            <a:r>
              <a:rPr lang="fr-FR" sz="2000" dirty="0">
                <a:latin typeface="Cambria" panose="02040503050406030204" pitchFamily="18" charset="0"/>
                <a:ea typeface="Cambria" panose="02040503050406030204" pitchFamily="18" charset="0"/>
                <a:cs typeface="Calibri" panose="020F0502020204030204" pitchFamily="34" charset="0"/>
              </a:rPr>
              <a:t>D</a:t>
            </a:r>
            <a:r>
              <a:rPr lang="fr-FR" sz="2000" kern="1200" dirty="0">
                <a:effectLst/>
                <a:latin typeface="Cambria" panose="02040503050406030204" pitchFamily="18" charset="0"/>
                <a:ea typeface="Cambria" panose="02040503050406030204" pitchFamily="18" charset="0"/>
                <a:cs typeface="Calibri" panose="020F0502020204030204" pitchFamily="34" charset="0"/>
              </a:rPr>
              <a:t>ocument de 166 pages élaboré conjointement par le Maire de Paris, la Préfecture de Police, le Parquet, la Préfecture de région et le rectorat. </a:t>
            </a:r>
          </a:p>
          <a:p>
            <a:pPr marL="285750" indent="-285750" algn="just" eaLnBrk="0" fontAlgn="base" hangingPunct="0">
              <a:buFont typeface="Wingdings" panose="05000000000000000000" pitchFamily="2" charset="2"/>
              <a:buChar char="q"/>
            </a:pPr>
            <a:endParaRPr lang="fr-FR" sz="2000" dirty="0">
              <a:latin typeface="Cambria" panose="02040503050406030204" pitchFamily="18" charset="0"/>
              <a:ea typeface="Cambria" panose="02040503050406030204" pitchFamily="18" charset="0"/>
              <a:cs typeface="Calibri" panose="020F0502020204030204" pitchFamily="34" charset="0"/>
            </a:endParaRPr>
          </a:p>
          <a:p>
            <a:pPr marL="285750" indent="-285750" algn="just" eaLnBrk="0" fontAlgn="base" hangingPunct="0">
              <a:buFont typeface="Wingdings" panose="05000000000000000000" pitchFamily="2" charset="2"/>
              <a:buChar char="q"/>
            </a:pPr>
            <a:r>
              <a:rPr lang="fr-FR" sz="2000" kern="1200" dirty="0">
                <a:effectLst/>
                <a:latin typeface="Cambria" panose="02040503050406030204" pitchFamily="18" charset="0"/>
                <a:ea typeface="Cambria" panose="02040503050406030204" pitchFamily="18" charset="0"/>
                <a:cs typeface="Calibri" panose="020F0502020204030204" pitchFamily="34" charset="0"/>
              </a:rPr>
              <a:t>Ce contrat fixe les objectifs des différents signataires pour 5 ans. </a:t>
            </a: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algn="just" eaLnBrk="0" fontAlgn="base" hangingPunct="0"/>
            <a:r>
              <a:rPr lang="fr-FR" sz="2000" kern="1200" dirty="0">
                <a:effectLst/>
                <a:latin typeface="Cambria" panose="02040503050406030204" pitchFamily="18" charset="0"/>
                <a:ea typeface="Cambria" panose="02040503050406030204" pitchFamily="18" charset="0"/>
                <a:cs typeface="Calibri" panose="020F0502020204030204" pitchFamily="34" charset="0"/>
              </a:rPr>
              <a:t> </a:t>
            </a: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marL="457200" indent="-457200" algn="just" eaLnBrk="0" fontAlgn="base" hangingPunct="0">
              <a:buFont typeface="Wingdings" panose="05000000000000000000" pitchFamily="2" charset="2"/>
              <a:buChar char="q"/>
            </a:pPr>
            <a:r>
              <a:rPr lang="fr-FR" sz="2000" kern="1200" dirty="0">
                <a:effectLst/>
                <a:latin typeface="Cambria" panose="02040503050406030204" pitchFamily="18" charset="0"/>
                <a:ea typeface="Cambria" panose="02040503050406030204" pitchFamily="18" charset="0"/>
                <a:cs typeface="Calibri" panose="020F0502020204030204" pitchFamily="34" charset="0"/>
              </a:rPr>
              <a:t>3 grands thèmes déclinés en fiches actions :</a:t>
            </a: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algn="just" eaLnBrk="0" fontAlgn="base" hangingPunct="0"/>
            <a:r>
              <a:rPr lang="fr-FR" sz="2000" dirty="0" smtClean="0">
                <a:latin typeface="Cambria" panose="02040503050406030204" pitchFamily="18" charset="0"/>
                <a:ea typeface="Cambria" panose="02040503050406030204" pitchFamily="18" charset="0"/>
                <a:cs typeface="Calibri" panose="020F0502020204030204" pitchFamily="34" charset="0"/>
              </a:rPr>
              <a:t>- </a:t>
            </a:r>
            <a:r>
              <a:rPr lang="fr-FR" sz="2000" kern="1200" dirty="0" smtClean="0">
                <a:effectLst/>
                <a:latin typeface="Cambria" panose="02040503050406030204" pitchFamily="18" charset="0"/>
                <a:ea typeface="Cambria" panose="02040503050406030204" pitchFamily="18" charset="0"/>
                <a:cs typeface="Calibri" panose="020F0502020204030204" pitchFamily="34" charset="0"/>
              </a:rPr>
              <a:t>La </a:t>
            </a:r>
            <a:r>
              <a:rPr lang="fr-FR" sz="2000" kern="1200" dirty="0">
                <a:effectLst/>
                <a:latin typeface="Cambria" panose="02040503050406030204" pitchFamily="18" charset="0"/>
                <a:ea typeface="Cambria" panose="02040503050406030204" pitchFamily="18" charset="0"/>
                <a:cs typeface="Calibri" panose="020F0502020204030204" pitchFamily="34" charset="0"/>
              </a:rPr>
              <a:t>prévention de la délinquance des </a:t>
            </a:r>
            <a:r>
              <a:rPr lang="fr-FR" sz="2000" kern="1200" dirty="0" smtClean="0">
                <a:effectLst/>
                <a:latin typeface="Cambria" panose="02040503050406030204" pitchFamily="18" charset="0"/>
                <a:ea typeface="Cambria" panose="02040503050406030204" pitchFamily="18" charset="0"/>
                <a:cs typeface="Calibri" panose="020F0502020204030204" pitchFamily="34" charset="0"/>
              </a:rPr>
              <a:t>jeunes,</a:t>
            </a: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algn="just" eaLnBrk="0" fontAlgn="base" hangingPunct="0"/>
            <a:r>
              <a:rPr lang="fr-FR" sz="2000" kern="1200" dirty="0">
                <a:effectLst/>
                <a:latin typeface="Cambria" panose="02040503050406030204" pitchFamily="18" charset="0"/>
                <a:ea typeface="Cambria" panose="02040503050406030204" pitchFamily="18" charset="0"/>
                <a:cs typeface="Calibri" panose="020F0502020204030204" pitchFamily="34" charset="0"/>
              </a:rPr>
              <a:t> </a:t>
            </a:r>
            <a:r>
              <a:rPr lang="fr-FR" sz="2000" kern="1200" dirty="0" smtClean="0">
                <a:effectLst/>
                <a:latin typeface="Cambria" panose="02040503050406030204" pitchFamily="18" charset="0"/>
                <a:ea typeface="Cambria" panose="02040503050406030204" pitchFamily="18" charset="0"/>
                <a:cs typeface="Calibri" panose="020F0502020204030204" pitchFamily="34" charset="0"/>
              </a:rPr>
              <a:t>- La </a:t>
            </a:r>
            <a:r>
              <a:rPr lang="fr-FR" sz="2000" kern="1200" dirty="0">
                <a:effectLst/>
                <a:latin typeface="Cambria" panose="02040503050406030204" pitchFamily="18" charset="0"/>
                <a:ea typeface="Cambria" panose="02040503050406030204" pitchFamily="18" charset="0"/>
                <a:cs typeface="Calibri" panose="020F0502020204030204" pitchFamily="34" charset="0"/>
              </a:rPr>
              <a:t>protection des personnes </a:t>
            </a:r>
            <a:r>
              <a:rPr lang="fr-FR" sz="2000" kern="1200" dirty="0" smtClean="0">
                <a:effectLst/>
                <a:latin typeface="Cambria" panose="02040503050406030204" pitchFamily="18" charset="0"/>
                <a:ea typeface="Cambria" panose="02040503050406030204" pitchFamily="18" charset="0"/>
                <a:cs typeface="Calibri" panose="020F0502020204030204" pitchFamily="34" charset="0"/>
              </a:rPr>
              <a:t>vulnérables,</a:t>
            </a: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algn="just" eaLnBrk="0" fontAlgn="base" hangingPunct="0"/>
            <a:r>
              <a:rPr lang="fr-FR" sz="2000" kern="1200" dirty="0">
                <a:effectLst/>
                <a:latin typeface="Cambria" panose="02040503050406030204" pitchFamily="18" charset="0"/>
                <a:ea typeface="Cambria" panose="02040503050406030204" pitchFamily="18" charset="0"/>
                <a:cs typeface="Calibri" panose="020F0502020204030204" pitchFamily="34" charset="0"/>
              </a:rPr>
              <a:t> </a:t>
            </a:r>
            <a:r>
              <a:rPr lang="fr-FR" sz="2000" kern="1200" dirty="0" smtClean="0">
                <a:effectLst/>
                <a:latin typeface="Cambria" panose="02040503050406030204" pitchFamily="18" charset="0"/>
                <a:ea typeface="Cambria" panose="02040503050406030204" pitchFamily="18" charset="0"/>
                <a:cs typeface="Calibri" panose="020F0502020204030204" pitchFamily="34" charset="0"/>
              </a:rPr>
              <a:t>- L’amélioration </a:t>
            </a:r>
            <a:r>
              <a:rPr lang="fr-FR" sz="2000" kern="1200" dirty="0">
                <a:effectLst/>
                <a:latin typeface="Cambria" panose="02040503050406030204" pitchFamily="18" charset="0"/>
                <a:ea typeface="Cambria" panose="02040503050406030204" pitchFamily="18" charset="0"/>
                <a:cs typeface="Calibri" panose="020F0502020204030204" pitchFamily="34" charset="0"/>
              </a:rPr>
              <a:t>de la tranquillité </a:t>
            </a:r>
            <a:r>
              <a:rPr lang="fr-FR" sz="2000" kern="1200" dirty="0" smtClean="0">
                <a:effectLst/>
                <a:latin typeface="Cambria" panose="02040503050406030204" pitchFamily="18" charset="0"/>
                <a:ea typeface="Cambria" panose="02040503050406030204" pitchFamily="18" charset="0"/>
                <a:cs typeface="Calibri" panose="020F0502020204030204" pitchFamily="34" charset="0"/>
              </a:rPr>
              <a:t>publique.</a:t>
            </a:r>
            <a:endParaRPr lang="fr-FR" sz="2000" kern="1200" dirty="0">
              <a:effectLst/>
              <a:latin typeface="Cambria" panose="02040503050406030204" pitchFamily="18" charset="0"/>
              <a:ea typeface="Cambria" panose="02040503050406030204" pitchFamily="18" charset="0"/>
              <a:cs typeface="Calibri" panose="020F0502020204030204" pitchFamily="34" charset="0"/>
            </a:endParaRPr>
          </a:p>
          <a:p>
            <a:pPr algn="just" eaLnBrk="0" fontAlgn="base" hangingPunct="0"/>
            <a:endParaRPr lang="fr-FR" sz="2000" b="1" dirty="0">
              <a:latin typeface="Cambria" panose="02040503050406030204" pitchFamily="18" charset="0"/>
              <a:ea typeface="Cambria" panose="02040503050406030204" pitchFamily="18" charset="0"/>
              <a:cs typeface="Calibri" panose="020F0502020204030204" pitchFamily="34" charset="0"/>
            </a:endParaRPr>
          </a:p>
          <a:p>
            <a:pPr marL="342900" indent="-342900" algn="just" eaLnBrk="0" fontAlgn="base" hangingPunct="0">
              <a:buFont typeface="Wingdings" panose="05000000000000000000" pitchFamily="2" charset="2"/>
              <a:buChar char="q"/>
            </a:pPr>
            <a:r>
              <a:rPr lang="fr-FR" sz="2000" b="1" dirty="0">
                <a:effectLst/>
                <a:latin typeface="Cambria" panose="02040503050406030204" pitchFamily="18" charset="0"/>
                <a:ea typeface="Cambria" panose="02040503050406030204" pitchFamily="18" charset="0"/>
                <a:cs typeface="Calibri" panose="020F0502020204030204" pitchFamily="34" charset="0"/>
              </a:rPr>
              <a:t>La convention de Partenariat entre la </a:t>
            </a:r>
            <a:r>
              <a:rPr lang="fr-FR" sz="2000" b="1" dirty="0" smtClean="0">
                <a:latin typeface="Cambria" panose="02040503050406030204" pitchFamily="18" charset="0"/>
                <a:ea typeface="Cambria" panose="02040503050406030204" pitchFamily="18" charset="0"/>
                <a:cs typeface="Calibri" panose="020F0502020204030204" pitchFamily="34" charset="0"/>
              </a:rPr>
              <a:t>ville de Paris (</a:t>
            </a:r>
            <a:r>
              <a:rPr lang="fr-FR" sz="2000" b="1" dirty="0" smtClean="0">
                <a:effectLst/>
                <a:latin typeface="Cambria" panose="02040503050406030204" pitchFamily="18" charset="0"/>
                <a:ea typeface="Cambria" panose="02040503050406030204" pitchFamily="18" charset="0"/>
                <a:cs typeface="Calibri" panose="020F0502020204030204" pitchFamily="34" charset="0"/>
              </a:rPr>
              <a:t>D.P.S.P.) </a:t>
            </a:r>
            <a:r>
              <a:rPr lang="fr-FR" sz="2000" b="1" dirty="0">
                <a:effectLst/>
                <a:latin typeface="Cambria" panose="02040503050406030204" pitchFamily="18" charset="0"/>
                <a:ea typeface="Cambria" panose="02040503050406030204" pitchFamily="18" charset="0"/>
                <a:cs typeface="Calibri" panose="020F0502020204030204" pitchFamily="34" charset="0"/>
              </a:rPr>
              <a:t>et la Préfecture de Police.</a:t>
            </a: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eaLnBrk="0" fontAlgn="base" hangingPunct="0"/>
            <a:endParaRPr lang="fr-FR" sz="2000" kern="1200" dirty="0">
              <a:effectLst/>
              <a:ea typeface="MS PGothic" panose="020B0600070205080204" pitchFamily="34" charset="-128"/>
            </a:endParaRPr>
          </a:p>
          <a:p>
            <a:pPr marL="457200">
              <a:lnSpc>
                <a:spcPct val="115000"/>
              </a:lnSpc>
              <a:spcAft>
                <a:spcPts val="1000"/>
              </a:spcAft>
            </a:pPr>
            <a:r>
              <a:rPr lang="fr-FR" sz="2000" dirty="0">
                <a:effectLst/>
                <a:ea typeface="Times New Roman" panose="02020603050405020304" pitchFamily="18" charset="0"/>
                <a:cs typeface="Calibri" panose="020F0502020204030204" pitchFamily="34" charset="0"/>
              </a:rPr>
              <a:t> </a:t>
            </a:r>
            <a:endParaRPr lang="fr-FR" sz="2000" dirty="0">
              <a:effectLst/>
              <a:ea typeface="Calibri" panose="020F0502020204030204" pitchFamily="34" charset="0"/>
              <a:cs typeface="Times New Roman" panose="02020603050405020304" pitchFamily="18" charset="0"/>
            </a:endParaRPr>
          </a:p>
          <a:p>
            <a:pPr eaLnBrk="0" fontAlgn="base" hangingPunct="0"/>
            <a:endParaRPr lang="fr-FR" sz="2000" dirty="0">
              <a:effectLst/>
              <a:ea typeface="Times New Roman" panose="02020603050405020304" pitchFamily="18" charset="0"/>
            </a:endParaRPr>
          </a:p>
        </p:txBody>
      </p:sp>
      <p:pic>
        <p:nvPicPr>
          <p:cNvPr id="11" name="Picture 8" descr="tt">
            <a:extLst>
              <a:ext uri="{FF2B5EF4-FFF2-40B4-BE49-F238E27FC236}">
                <a16:creationId xmlns:a16="http://schemas.microsoft.com/office/drawing/2014/main" id="{0E2F3CCE-3B55-4B40-AB35-FBC45BCA3D6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9809289" y="2289140"/>
            <a:ext cx="2191504" cy="3146194"/>
          </a:xfrm>
          <a:prstGeom prst="rect">
            <a:avLst/>
          </a:prstGeom>
          <a:noFill/>
          <a:ln>
            <a:noFill/>
          </a:ln>
        </p:spPr>
      </p:pic>
    </p:spTree>
    <p:extLst>
      <p:ext uri="{BB962C8B-B14F-4D97-AF65-F5344CB8AC3E}">
        <p14:creationId xmlns:p14="http://schemas.microsoft.com/office/powerpoint/2010/main" val="28093673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527A3F-5665-4DB1-831B-72D4F7E0E270}"/>
              </a:ext>
            </a:extLst>
          </p:cNvPr>
          <p:cNvSpPr>
            <a:spLocks noGrp="1"/>
          </p:cNvSpPr>
          <p:nvPr>
            <p:ph type="title"/>
          </p:nvPr>
        </p:nvSpPr>
        <p:spPr/>
        <p:txBody>
          <a:bodyPr/>
          <a:lstStyle/>
          <a:p>
            <a:pPr algn="ctr"/>
            <a:r>
              <a:rPr lang="fr-FR" dirty="0" smtClean="0"/>
              <a:t>Des questions ?</a:t>
            </a:r>
            <a:endParaRPr lang="fr-FR" dirty="0"/>
          </a:p>
        </p:txBody>
      </p:sp>
      <p:pic>
        <p:nvPicPr>
          <p:cNvPr id="3" name="Picture 3">
            <a:extLst>
              <a:ext uri="{FF2B5EF4-FFF2-40B4-BE49-F238E27FC236}">
                <a16:creationId xmlns:a16="http://schemas.microsoft.com/office/drawing/2014/main" id="{EDBD5B2A-6E2C-475E-8B66-925C9497241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97520" y="2267221"/>
            <a:ext cx="3335787" cy="31924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a:extLst>
              <a:ext uri="{FF2B5EF4-FFF2-40B4-BE49-F238E27FC236}">
                <a16:creationId xmlns:a16="http://schemas.microsoft.com/office/drawing/2014/main" id="{54C64A4B-C5B5-4DEB-AEEE-528D3D8740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288" y="3290165"/>
            <a:ext cx="2787651" cy="3043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233001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re 16"/>
          <p:cNvSpPr>
            <a:spLocks noGrp="1"/>
          </p:cNvSpPr>
          <p:nvPr>
            <p:ph type="ctrTitle"/>
          </p:nvPr>
        </p:nvSpPr>
        <p:spPr/>
        <p:txBody>
          <a:bodyPr/>
          <a:lstStyle/>
          <a:p>
            <a:r>
              <a:rPr lang="fr-FR" dirty="0" smtClean="0">
                <a:solidFill>
                  <a:schemeClr val="accent6"/>
                </a:solidFill>
                <a:latin typeface="Cambria" panose="02040503050406030204" pitchFamily="18" charset="0"/>
                <a:ea typeface="Cambria" panose="02040503050406030204" pitchFamily="18" charset="0"/>
              </a:rPr>
              <a:t>04</a:t>
            </a:r>
            <a:endParaRPr lang="fr-FR" dirty="0">
              <a:solidFill>
                <a:schemeClr val="accent6"/>
              </a:solidFill>
              <a:latin typeface="Cambria" panose="02040503050406030204" pitchFamily="18" charset="0"/>
              <a:ea typeface="Cambria" panose="02040503050406030204" pitchFamily="18" charset="0"/>
            </a:endParaRPr>
          </a:p>
        </p:txBody>
      </p:sp>
      <p:sp>
        <p:nvSpPr>
          <p:cNvPr id="18" name="Sous-titre 17"/>
          <p:cNvSpPr>
            <a:spLocks noGrp="1"/>
          </p:cNvSpPr>
          <p:nvPr>
            <p:ph type="subTitle" idx="1"/>
          </p:nvPr>
        </p:nvSpPr>
        <p:spPr/>
        <p:txBody>
          <a:bodyPr/>
          <a:lstStyle/>
          <a:p>
            <a:r>
              <a:rPr lang="fr-FR" sz="4400" dirty="0">
                <a:solidFill>
                  <a:schemeClr val="accent6"/>
                </a:solidFill>
                <a:latin typeface="Cambria" panose="02040503050406030204" pitchFamily="18" charset="0"/>
                <a:ea typeface="Cambria" panose="02040503050406030204" pitchFamily="18" charset="0"/>
              </a:rPr>
              <a:t>L</a:t>
            </a:r>
            <a:r>
              <a:rPr lang="fr-FR" sz="4400" dirty="0" smtClean="0">
                <a:solidFill>
                  <a:schemeClr val="accent6"/>
                </a:solidFill>
                <a:latin typeface="Cambria" panose="02040503050406030204" pitchFamily="18" charset="0"/>
                <a:ea typeface="Cambria" panose="02040503050406030204" pitchFamily="18" charset="0"/>
              </a:rPr>
              <a:t>’ilotage</a:t>
            </a:r>
            <a:endParaRPr lang="fr-FR" sz="4400" dirty="0">
              <a:solidFill>
                <a:schemeClr val="accent6"/>
              </a:solidFill>
              <a:latin typeface="Cambria" panose="02040503050406030204" pitchFamily="18" charset="0"/>
              <a:ea typeface="Cambria" panose="02040503050406030204" pitchFamily="18" charset="0"/>
            </a:endParaRPr>
          </a:p>
        </p:txBody>
      </p:sp>
      <p:sp>
        <p:nvSpPr>
          <p:cNvPr id="15" name="Espace réservé du numéro de diapositive 14"/>
          <p:cNvSpPr>
            <a:spLocks noGrp="1"/>
          </p:cNvSpPr>
          <p:nvPr>
            <p:ph type="sldNum" sz="quarter" idx="4294967295"/>
          </p:nvPr>
        </p:nvSpPr>
        <p:spPr>
          <a:xfrm>
            <a:off x="11761788" y="6370638"/>
            <a:ext cx="430212" cy="252412"/>
          </a:xfrm>
        </p:spPr>
        <p:txBody>
          <a:bodyPr/>
          <a:lstStyle/>
          <a:p>
            <a:fld id="{975A587B-5814-4D9B-9598-FE9CB954CB01}" type="slidenum">
              <a:rPr lang="fr-FR" smtClean="0"/>
              <a:pPr/>
              <a:t>35</a:t>
            </a:fld>
            <a:endParaRPr lang="fr-FR" dirty="0"/>
          </a:p>
        </p:txBody>
      </p:sp>
      <p:sp>
        <p:nvSpPr>
          <p:cNvPr id="16" name="Espace réservé du pied de page 15"/>
          <p:cNvSpPr>
            <a:spLocks noGrp="1"/>
          </p:cNvSpPr>
          <p:nvPr>
            <p:ph type="ftr" sz="quarter" idx="4294967295"/>
          </p:nvPr>
        </p:nvSpPr>
        <p:spPr>
          <a:xfrm>
            <a:off x="6440488" y="6370638"/>
            <a:ext cx="5751512" cy="252412"/>
          </a:xfrm>
        </p:spPr>
        <p:txBody>
          <a:bodyPr/>
          <a:lstStyle/>
          <a:p>
            <a:r>
              <a:rPr lang="fr-FR" smtClean="0"/>
              <a:t>Ecole des Métiers de la Sécurité - Septembre 2022</a:t>
            </a:r>
            <a:endParaRPr lang="fr-FR" dirty="0"/>
          </a:p>
        </p:txBody>
      </p:sp>
      <p:sp>
        <p:nvSpPr>
          <p:cNvPr id="2" name="Espace réservé du texte 1"/>
          <p:cNvSpPr>
            <a:spLocks noGrp="1"/>
          </p:cNvSpPr>
          <p:nvPr>
            <p:ph type="body" idx="13"/>
          </p:nvPr>
        </p:nvSpPr>
        <p:spPr/>
        <p:txBody>
          <a:bodyPr/>
          <a:lstStyle/>
          <a:p>
            <a:endParaRPr lang="fr-FR"/>
          </a:p>
        </p:txBody>
      </p:sp>
    </p:spTree>
    <p:extLst>
      <p:ext uri="{BB962C8B-B14F-4D97-AF65-F5344CB8AC3E}">
        <p14:creationId xmlns:p14="http://schemas.microsoft.com/office/powerpoint/2010/main" val="340503272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14DB927-DE7D-4E19-BF9C-011DC8DF75CB}"/>
              </a:ext>
            </a:extLst>
          </p:cNvPr>
          <p:cNvSpPr>
            <a:spLocks noGrp="1"/>
          </p:cNvSpPr>
          <p:nvPr>
            <p:ph type="title"/>
          </p:nvPr>
        </p:nvSpPr>
        <p:spPr>
          <a:xfrm>
            <a:off x="455594" y="193001"/>
            <a:ext cx="11544148" cy="648000"/>
          </a:xfrm>
        </p:spPr>
        <p:txBody>
          <a:bodyPr>
            <a:noAutofit/>
          </a:bodyPr>
          <a:lstStyle/>
          <a:p>
            <a:r>
              <a:rPr lang="fr-FR" sz="2400" dirty="0" smtClean="0">
                <a:solidFill>
                  <a:schemeClr val="accent6"/>
                </a:solidFill>
                <a:latin typeface="Cambria" panose="02040503050406030204" pitchFamily="18" charset="0"/>
                <a:ea typeface="Cambria" panose="02040503050406030204" pitchFamily="18" charset="0"/>
                <a:cs typeface="Calibri" panose="020F0502020204030204" pitchFamily="34" charset="0"/>
              </a:rPr>
              <a:t>Les </a:t>
            </a:r>
            <a:r>
              <a:rPr lang="fr-FR" sz="2400" dirty="0">
                <a:solidFill>
                  <a:schemeClr val="accent6"/>
                </a:solidFill>
                <a:latin typeface="Cambria" panose="02040503050406030204" pitchFamily="18" charset="0"/>
                <a:ea typeface="Cambria" panose="02040503050406030204" pitchFamily="18" charset="0"/>
                <a:cs typeface="Calibri" panose="020F0502020204030204" pitchFamily="34" charset="0"/>
              </a:rPr>
              <a:t>modalités de </a:t>
            </a:r>
            <a:r>
              <a:rPr lang="fr-FR" sz="2400" dirty="0" smtClean="0">
                <a:solidFill>
                  <a:schemeClr val="accent6"/>
                </a:solidFill>
                <a:latin typeface="Cambria" panose="02040503050406030204" pitchFamily="18" charset="0"/>
                <a:ea typeface="Cambria" panose="02040503050406030204" pitchFamily="18" charset="0"/>
                <a:cs typeface="Calibri" panose="020F0502020204030204" pitchFamily="34" charset="0"/>
              </a:rPr>
              <a:t>l’îlotage</a:t>
            </a:r>
            <a:endParaRPr lang="fr-FR" sz="2400" dirty="0">
              <a:solidFill>
                <a:schemeClr val="accent6"/>
              </a:solidFill>
              <a:latin typeface="Cambria" panose="02040503050406030204" pitchFamily="18" charset="0"/>
              <a:ea typeface="Cambria" panose="02040503050406030204" pitchFamily="18" charset="0"/>
              <a:cs typeface="Calibri" panose="020F0502020204030204" pitchFamily="34" charset="0"/>
            </a:endParaRPr>
          </a:p>
        </p:txBody>
      </p:sp>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36</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9" name="ZoneTexte 8">
            <a:extLst>
              <a:ext uri="{FF2B5EF4-FFF2-40B4-BE49-F238E27FC236}">
                <a16:creationId xmlns:a16="http://schemas.microsoft.com/office/drawing/2014/main" id="{ED0019C4-43C2-41A4-9225-2AAB45BB6E23}"/>
              </a:ext>
            </a:extLst>
          </p:cNvPr>
          <p:cNvSpPr txBox="1"/>
          <p:nvPr/>
        </p:nvSpPr>
        <p:spPr>
          <a:xfrm>
            <a:off x="343805" y="1107770"/>
            <a:ext cx="8661972" cy="5248103"/>
          </a:xfrm>
          <a:prstGeom prst="rect">
            <a:avLst/>
          </a:prstGeom>
          <a:noFill/>
        </p:spPr>
        <p:txBody>
          <a:bodyPr wrap="square">
            <a:spAutoFit/>
          </a:bodyPr>
          <a:lstStyle/>
          <a:p>
            <a:pPr marL="285750" indent="-285750" algn="just">
              <a:lnSpc>
                <a:spcPct val="115000"/>
              </a:lnSpc>
              <a:spcAft>
                <a:spcPts val="1000"/>
              </a:spcAft>
              <a:buFont typeface="Wingdings" panose="05000000000000000000" pitchFamily="2" charset="2"/>
              <a:buChar char="q"/>
            </a:pPr>
            <a:r>
              <a:rPr lang="fr-FR" sz="2000" b="1" dirty="0">
                <a:effectLst/>
                <a:latin typeface="Cambria" panose="02040503050406030204" pitchFamily="18" charset="0"/>
                <a:ea typeface="Cambria" panose="02040503050406030204" pitchFamily="18" charset="0"/>
                <a:cs typeface="Calibri" panose="020F0502020204030204" pitchFamily="34" charset="0"/>
              </a:rPr>
              <a:t> Ilotier</a:t>
            </a:r>
            <a:r>
              <a:rPr lang="fr-FR" sz="2000" b="1" dirty="0">
                <a:latin typeface="Cambria" panose="02040503050406030204" pitchFamily="18" charset="0"/>
                <a:ea typeface="Cambria" panose="02040503050406030204" pitchFamily="18" charset="0"/>
                <a:cs typeface="Calibri" panose="020F0502020204030204" pitchFamily="34" charset="0"/>
              </a:rPr>
              <a:t> </a:t>
            </a:r>
            <a:endParaRPr lang="fr-FR" sz="2000" b="1" dirty="0" smtClean="0">
              <a:latin typeface="Cambria" panose="02040503050406030204" pitchFamily="18" charset="0"/>
              <a:ea typeface="Cambria" panose="02040503050406030204" pitchFamily="18" charset="0"/>
              <a:cs typeface="Calibri" panose="020F0502020204030204" pitchFamily="34" charset="0"/>
            </a:endParaRPr>
          </a:p>
          <a:p>
            <a:pPr algn="just">
              <a:lnSpc>
                <a:spcPct val="115000"/>
              </a:lnSpc>
              <a:spcAft>
                <a:spcPts val="1000"/>
              </a:spcAft>
            </a:pPr>
            <a:r>
              <a:rPr lang="fr-FR" sz="2000" dirty="0" smtClean="0">
                <a:latin typeface="Cambria" panose="02040503050406030204" pitchFamily="18" charset="0"/>
                <a:ea typeface="Cambria" panose="02040503050406030204" pitchFamily="18" charset="0"/>
                <a:cs typeface="Calibri" panose="020F0502020204030204" pitchFamily="34" charset="0"/>
              </a:rPr>
              <a:t>- Suppose </a:t>
            </a:r>
            <a:r>
              <a:rPr lang="fr-FR" sz="2000" dirty="0" smtClean="0">
                <a:effectLst/>
                <a:latin typeface="Cambria" panose="02040503050406030204" pitchFamily="18" charset="0"/>
                <a:ea typeface="Cambria" panose="02040503050406030204" pitchFamily="18" charset="0"/>
                <a:cs typeface="Calibri" panose="020F0502020204030204" pitchFamily="34" charset="0"/>
              </a:rPr>
              <a:t>une </a:t>
            </a:r>
            <a:r>
              <a:rPr lang="fr-FR" sz="2000" dirty="0">
                <a:effectLst/>
                <a:latin typeface="Cambria" panose="02040503050406030204" pitchFamily="18" charset="0"/>
                <a:ea typeface="Cambria" panose="02040503050406030204" pitchFamily="18" charset="0"/>
                <a:cs typeface="Calibri" panose="020F0502020204030204" pitchFamily="34" charset="0"/>
              </a:rPr>
              <a:t>polyvalence et un professionnalisme de terrain qui s’articule autour d’une relation privilégiée avec la </a:t>
            </a:r>
            <a:r>
              <a:rPr lang="fr-FR" sz="2000" dirty="0" smtClean="0">
                <a:effectLst/>
                <a:latin typeface="Cambria" panose="02040503050406030204" pitchFamily="18" charset="0"/>
                <a:ea typeface="Cambria" panose="02040503050406030204" pitchFamily="18" charset="0"/>
                <a:cs typeface="Calibri" panose="020F0502020204030204" pitchFamily="34" charset="0"/>
              </a:rPr>
              <a:t>population.</a:t>
            </a:r>
            <a:endParaRPr lang="fr-FR" sz="20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spcAft>
                <a:spcPts val="1000"/>
              </a:spcAft>
              <a:buFont typeface="Wingdings" panose="05000000000000000000" pitchFamily="2" charset="2"/>
              <a:buChar char="q"/>
            </a:pPr>
            <a:r>
              <a:rPr lang="fr-FR" sz="2000" b="1" dirty="0">
                <a:effectLst/>
                <a:latin typeface="Cambria" panose="02040503050406030204" pitchFamily="18" charset="0"/>
                <a:ea typeface="Cambria" panose="02040503050406030204" pitchFamily="18" charset="0"/>
                <a:cs typeface="Calibri" panose="020F0502020204030204" pitchFamily="34" charset="0"/>
              </a:rPr>
              <a:t> Une plus grande </a:t>
            </a:r>
            <a:r>
              <a:rPr lang="fr-FR" sz="2000" b="1" dirty="0" smtClean="0">
                <a:effectLst/>
                <a:latin typeface="Cambria" panose="02040503050406030204" pitchFamily="18" charset="0"/>
                <a:ea typeface="Cambria" panose="02040503050406030204" pitchFamily="18" charset="0"/>
                <a:cs typeface="Calibri" panose="020F0502020204030204" pitchFamily="34" charset="0"/>
              </a:rPr>
              <a:t>visibilité</a:t>
            </a: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algn="just">
              <a:spcAft>
                <a:spcPts val="1000"/>
              </a:spcAft>
            </a:pPr>
            <a:r>
              <a:rPr lang="fr-FR" sz="2000" dirty="0" smtClean="0">
                <a:effectLst/>
                <a:latin typeface="Cambria" panose="02040503050406030204" pitchFamily="18" charset="0"/>
                <a:ea typeface="Cambria" panose="02040503050406030204" pitchFamily="18" charset="0"/>
                <a:cs typeface="Calibri" panose="020F0502020204030204" pitchFamily="34" charset="0"/>
              </a:rPr>
              <a:t>-  </a:t>
            </a:r>
            <a:r>
              <a:rPr lang="fr-FR" sz="2000" dirty="0" smtClean="0">
                <a:latin typeface="Cambria" panose="02040503050406030204" pitchFamily="18" charset="0"/>
                <a:ea typeface="Cambria" panose="02040503050406030204" pitchFamily="18" charset="0"/>
                <a:cs typeface="Calibri" panose="020F0502020204030204" pitchFamily="34" charset="0"/>
              </a:rPr>
              <a:t>L</a:t>
            </a:r>
            <a:r>
              <a:rPr lang="fr-FR" sz="2000" dirty="0" smtClean="0">
                <a:effectLst/>
                <a:latin typeface="Cambria" panose="02040503050406030204" pitchFamily="18" charset="0"/>
                <a:ea typeface="Cambria" panose="02040503050406030204" pitchFamily="18" charset="0"/>
                <a:cs typeface="Calibri" panose="020F0502020204030204" pitchFamily="34" charset="0"/>
              </a:rPr>
              <a:t>utter </a:t>
            </a:r>
            <a:r>
              <a:rPr lang="fr-FR" sz="2000" dirty="0">
                <a:effectLst/>
                <a:latin typeface="Cambria" panose="02040503050406030204" pitchFamily="18" charset="0"/>
                <a:ea typeface="Cambria" panose="02040503050406030204" pitchFamily="18" charset="0"/>
                <a:cs typeface="Calibri" panose="020F0502020204030204" pitchFamily="34" charset="0"/>
              </a:rPr>
              <a:t>contre le climat d’insécurité pour un ambiance apaisée de l’espace </a:t>
            </a:r>
            <a:r>
              <a:rPr lang="fr-FR" sz="2000" dirty="0" smtClean="0">
                <a:effectLst/>
                <a:latin typeface="Cambria" panose="02040503050406030204" pitchFamily="18" charset="0"/>
                <a:ea typeface="Cambria" panose="02040503050406030204" pitchFamily="18" charset="0"/>
                <a:cs typeface="Calibri" panose="020F0502020204030204" pitchFamily="34" charset="0"/>
              </a:rPr>
              <a:t>public,</a:t>
            </a: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lvl="0" algn="just"/>
            <a:r>
              <a:rPr lang="fr-FR" sz="2000" dirty="0" smtClean="0">
                <a:effectLst/>
                <a:latin typeface="Cambria" panose="02040503050406030204" pitchFamily="18" charset="0"/>
                <a:ea typeface="Cambria" panose="02040503050406030204" pitchFamily="18" charset="0"/>
                <a:cs typeface="Calibri" panose="020F0502020204030204" pitchFamily="34" charset="0"/>
              </a:rPr>
              <a:t>- Prévenir </a:t>
            </a:r>
            <a:r>
              <a:rPr lang="fr-FR" sz="2000" dirty="0">
                <a:effectLst/>
                <a:latin typeface="Cambria" panose="02040503050406030204" pitchFamily="18" charset="0"/>
                <a:ea typeface="Cambria" panose="02040503050406030204" pitchFamily="18" charset="0"/>
                <a:cs typeface="Calibri" panose="020F0502020204030204" pitchFamily="34" charset="0"/>
              </a:rPr>
              <a:t>des actes de délinquance dans une logique d’anticipation complémentaire de </a:t>
            </a:r>
            <a:r>
              <a:rPr lang="fr-FR" sz="2000" dirty="0" smtClean="0">
                <a:effectLst/>
                <a:latin typeface="Cambria" panose="02040503050406030204" pitchFamily="18" charset="0"/>
                <a:ea typeface="Cambria" panose="02040503050406030204" pitchFamily="18" charset="0"/>
                <a:cs typeface="Calibri" panose="020F0502020204030204" pitchFamily="34" charset="0"/>
              </a:rPr>
              <a:t>l’intervention.</a:t>
            </a: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lvl="0" algn="just"/>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marL="285750" indent="-285750" algn="just">
              <a:lnSpc>
                <a:spcPct val="115000"/>
              </a:lnSpc>
              <a:buFont typeface="Wingdings" panose="05000000000000000000" pitchFamily="2" charset="2"/>
              <a:buChar char="q"/>
            </a:pPr>
            <a:r>
              <a:rPr lang="fr-FR" sz="2000" b="1" dirty="0" smtClean="0">
                <a:effectLst/>
                <a:latin typeface="Cambria" panose="02040503050406030204" pitchFamily="18" charset="0"/>
                <a:ea typeface="Cambria" panose="02040503050406030204" pitchFamily="18" charset="0"/>
                <a:cs typeface="Calibri" panose="020F0502020204030204" pitchFamily="34" charset="0"/>
              </a:rPr>
              <a:t>Relation avec les partenaires </a:t>
            </a:r>
            <a:r>
              <a:rPr lang="fr-FR" sz="2000" b="1" dirty="0">
                <a:effectLst/>
                <a:latin typeface="Cambria" panose="02040503050406030204" pitchFamily="18" charset="0"/>
                <a:ea typeface="Cambria" panose="02040503050406030204" pitchFamily="18" charset="0"/>
                <a:cs typeface="Calibri" panose="020F0502020204030204" pitchFamily="34" charset="0"/>
              </a:rPr>
              <a:t>à Paris </a:t>
            </a:r>
            <a:r>
              <a:rPr lang="fr-FR" sz="2000" b="1" dirty="0">
                <a:latin typeface="Cambria" panose="02040503050406030204" pitchFamily="18" charset="0"/>
                <a:ea typeface="Cambria" panose="02040503050406030204" pitchFamily="18" charset="0"/>
                <a:cs typeface="Calibri" panose="020F0502020204030204" pitchFamily="34" charset="0"/>
              </a:rPr>
              <a:t>(PN, le GPIS, la RATP, etc</a:t>
            </a:r>
            <a:r>
              <a:rPr lang="fr-FR" sz="2000" b="1" dirty="0" smtClean="0">
                <a:latin typeface="Cambria" panose="02040503050406030204" pitchFamily="18" charset="0"/>
                <a:ea typeface="Cambria" panose="02040503050406030204" pitchFamily="18" charset="0"/>
                <a:cs typeface="Calibri" panose="020F0502020204030204" pitchFamily="34" charset="0"/>
              </a:rPr>
              <a:t>…)</a:t>
            </a:r>
            <a:endParaRPr lang="fr-FR" sz="2000" dirty="0">
              <a:latin typeface="Cambria" panose="02040503050406030204" pitchFamily="18" charset="0"/>
              <a:ea typeface="Cambria" panose="02040503050406030204" pitchFamily="18" charset="0"/>
              <a:cs typeface="Calibri" panose="020F0502020204030204" pitchFamily="34" charset="0"/>
            </a:endParaRPr>
          </a:p>
          <a:p>
            <a:pPr lvl="0" algn="just">
              <a:lnSpc>
                <a:spcPct val="115000"/>
              </a:lnSpc>
            </a:pPr>
            <a:r>
              <a:rPr lang="fr-FR" sz="2000" dirty="0" smtClean="0">
                <a:effectLst/>
                <a:latin typeface="Cambria" panose="02040503050406030204" pitchFamily="18" charset="0"/>
                <a:ea typeface="Cambria" panose="02040503050406030204" pitchFamily="18" charset="0"/>
                <a:cs typeface="Calibri" panose="020F0502020204030204" pitchFamily="34" charset="0"/>
              </a:rPr>
              <a:t>- Opérations conjointes régulières,</a:t>
            </a:r>
          </a:p>
          <a:p>
            <a:pPr lvl="0" algn="just">
              <a:lnSpc>
                <a:spcPct val="115000"/>
              </a:lnSpc>
            </a:pPr>
            <a:r>
              <a:rPr lang="fr-FR" sz="2000" dirty="0" smtClean="0">
                <a:effectLst/>
                <a:latin typeface="Cambria" panose="02040503050406030204" pitchFamily="18" charset="0"/>
                <a:ea typeface="Cambria" panose="02040503050406030204" pitchFamily="18" charset="0"/>
                <a:cs typeface="Calibri" panose="020F0502020204030204" pitchFamily="34" charset="0"/>
              </a:rPr>
              <a:t>- Remontée </a:t>
            </a:r>
            <a:r>
              <a:rPr lang="fr-FR" sz="2000" dirty="0">
                <a:effectLst/>
                <a:latin typeface="Cambria" panose="02040503050406030204" pitchFamily="18" charset="0"/>
                <a:ea typeface="Cambria" panose="02040503050406030204" pitchFamily="18" charset="0"/>
                <a:cs typeface="Calibri" panose="020F0502020204030204" pitchFamily="34" charset="0"/>
              </a:rPr>
              <a:t>d’informations, du « ressenti » de </a:t>
            </a:r>
            <a:r>
              <a:rPr lang="fr-FR" sz="2000" dirty="0" smtClean="0">
                <a:effectLst/>
                <a:latin typeface="Cambria" panose="02040503050406030204" pitchFamily="18" charset="0"/>
                <a:ea typeface="Cambria" panose="02040503050406030204" pitchFamily="18" charset="0"/>
                <a:cs typeface="Calibri" panose="020F0502020204030204" pitchFamily="34" charset="0"/>
              </a:rPr>
              <a:t>terrain, </a:t>
            </a:r>
            <a:endParaRPr lang="fr-FR" sz="2000" dirty="0">
              <a:latin typeface="Cambria" panose="02040503050406030204" pitchFamily="18" charset="0"/>
              <a:ea typeface="Cambria" panose="02040503050406030204" pitchFamily="18" charset="0"/>
              <a:cs typeface="Calibri" panose="020F0502020204030204" pitchFamily="34" charset="0"/>
            </a:endParaRPr>
          </a:p>
          <a:p>
            <a:pPr lvl="0" algn="just">
              <a:lnSpc>
                <a:spcPct val="115000"/>
              </a:lnSpc>
            </a:pPr>
            <a:r>
              <a:rPr lang="fr-FR" sz="2000" dirty="0" smtClean="0">
                <a:effectLst/>
                <a:latin typeface="Cambria" panose="02040503050406030204" pitchFamily="18" charset="0"/>
                <a:ea typeface="Cambria" panose="02040503050406030204" pitchFamily="18" charset="0"/>
                <a:cs typeface="Calibri" panose="020F0502020204030204" pitchFamily="34" charset="0"/>
              </a:rPr>
              <a:t>- Respect </a:t>
            </a:r>
            <a:r>
              <a:rPr lang="fr-FR" sz="2000" dirty="0">
                <a:effectLst/>
                <a:latin typeface="Cambria" panose="02040503050406030204" pitchFamily="18" charset="0"/>
                <a:ea typeface="Cambria" panose="02040503050406030204" pitchFamily="18" charset="0"/>
                <a:cs typeface="Calibri" panose="020F0502020204030204" pitchFamily="34" charset="0"/>
              </a:rPr>
              <a:t>envers tous les </a:t>
            </a:r>
            <a:r>
              <a:rPr lang="fr-FR" sz="2000" dirty="0" smtClean="0">
                <a:effectLst/>
                <a:latin typeface="Cambria" panose="02040503050406030204" pitchFamily="18" charset="0"/>
                <a:ea typeface="Cambria" panose="02040503050406030204" pitchFamily="18" charset="0"/>
                <a:cs typeface="Calibri" panose="020F0502020204030204" pitchFamily="34" charset="0"/>
              </a:rPr>
              <a:t>usagers.</a:t>
            </a: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algn="just">
              <a:lnSpc>
                <a:spcPct val="115000"/>
              </a:lnSpc>
              <a:spcAft>
                <a:spcPts val="1000"/>
              </a:spcAft>
            </a:pPr>
            <a:endParaRPr lang="fr-FR" dirty="0">
              <a:effectLst/>
              <a:ea typeface="Calibri" panose="020F0502020204030204" pitchFamily="34" charset="0"/>
              <a:cs typeface="Times New Roman" panose="02020603050405020304" pitchFamily="18" charset="0"/>
            </a:endParaRPr>
          </a:p>
        </p:txBody>
      </p:sp>
      <p:pic>
        <p:nvPicPr>
          <p:cNvPr id="6146" name="Picture 2" descr="Police Municipale - brigades">
            <a:extLst>
              <a:ext uri="{FF2B5EF4-FFF2-40B4-BE49-F238E27FC236}">
                <a16:creationId xmlns:a16="http://schemas.microsoft.com/office/drawing/2014/main" id="{430302C0-09E0-4706-9EC3-AE6E4A0B7F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29061" y="4240021"/>
            <a:ext cx="2724150"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241877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37</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7" name="ZoneTexte 6">
            <a:extLst>
              <a:ext uri="{FF2B5EF4-FFF2-40B4-BE49-F238E27FC236}">
                <a16:creationId xmlns:a16="http://schemas.microsoft.com/office/drawing/2014/main" id="{D4F5553B-916B-4BB5-922D-531E56CD572F}"/>
              </a:ext>
            </a:extLst>
          </p:cNvPr>
          <p:cNvSpPr txBox="1"/>
          <p:nvPr/>
        </p:nvSpPr>
        <p:spPr>
          <a:xfrm>
            <a:off x="400074" y="1754873"/>
            <a:ext cx="8259678" cy="1224951"/>
          </a:xfrm>
          <a:prstGeom prst="rect">
            <a:avLst/>
          </a:prstGeom>
          <a:noFill/>
        </p:spPr>
        <p:txBody>
          <a:bodyPr wrap="square">
            <a:spAutoFit/>
          </a:bodyPr>
          <a:lstStyle/>
          <a:p>
            <a:pPr marL="285750" lvl="0" indent="-285750">
              <a:lnSpc>
                <a:spcPct val="115000"/>
              </a:lnSpc>
              <a:buFont typeface="Wingdings" panose="05000000000000000000" pitchFamily="2" charset="2"/>
              <a:buChar char="q"/>
            </a:pPr>
            <a:r>
              <a:rPr lang="fr-FR" sz="2400" b="1" dirty="0" smtClean="0">
                <a:effectLst/>
                <a:latin typeface="Cambria" panose="02040503050406030204" pitchFamily="18" charset="0"/>
                <a:ea typeface="Cambria" panose="02040503050406030204" pitchFamily="18" charset="0"/>
                <a:cs typeface="Calibri" panose="020F0502020204030204" pitchFamily="34" charset="0"/>
              </a:rPr>
              <a:t> </a:t>
            </a:r>
            <a:r>
              <a:rPr lang="fr-FR" sz="2000" b="1" dirty="0" smtClean="0">
                <a:effectLst/>
                <a:latin typeface="Cambria" panose="02040503050406030204" pitchFamily="18" charset="0"/>
                <a:ea typeface="Cambria" panose="02040503050406030204" pitchFamily="18" charset="0"/>
                <a:cs typeface="Calibri" panose="020F0502020204030204" pitchFamily="34" charset="0"/>
              </a:rPr>
              <a:t>Avantages </a:t>
            </a:r>
            <a:r>
              <a:rPr lang="fr-FR" sz="2000" b="1" dirty="0">
                <a:effectLst/>
                <a:latin typeface="Cambria" panose="02040503050406030204" pitchFamily="18" charset="0"/>
                <a:ea typeface="Cambria" panose="02040503050406030204" pitchFamily="18" charset="0"/>
                <a:cs typeface="Calibri" panose="020F0502020204030204" pitchFamily="34" charset="0"/>
              </a:rPr>
              <a:t>opérationnels : </a:t>
            </a: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marL="342900" lvl="0" indent="-342900">
              <a:lnSpc>
                <a:spcPct val="115000"/>
              </a:lnSpc>
              <a:buFont typeface="Calibri" panose="020F0502020204030204" pitchFamily="34" charset="0"/>
              <a:buChar char="-"/>
            </a:pPr>
            <a:r>
              <a:rPr lang="fr-FR" sz="2000" dirty="0">
                <a:effectLst/>
                <a:latin typeface="Cambria" panose="02040503050406030204" pitchFamily="18" charset="0"/>
                <a:ea typeface="Cambria" panose="02040503050406030204" pitchFamily="18" charset="0"/>
                <a:cs typeface="Calibri" panose="020F0502020204030204" pitchFamily="34" charset="0"/>
              </a:rPr>
              <a:t>Connaitre son territoire, sa physionomie, détecter les anomalies, des interventions plus sécurisées</a:t>
            </a:r>
          </a:p>
        </p:txBody>
      </p:sp>
      <p:sp>
        <p:nvSpPr>
          <p:cNvPr id="11" name="ZoneTexte 10">
            <a:extLst>
              <a:ext uri="{FF2B5EF4-FFF2-40B4-BE49-F238E27FC236}">
                <a16:creationId xmlns:a16="http://schemas.microsoft.com/office/drawing/2014/main" id="{9165E43C-2A3D-4DA3-9311-22A4E01EC746}"/>
              </a:ext>
            </a:extLst>
          </p:cNvPr>
          <p:cNvSpPr txBox="1"/>
          <p:nvPr/>
        </p:nvSpPr>
        <p:spPr>
          <a:xfrm>
            <a:off x="3362178" y="3195582"/>
            <a:ext cx="8829822" cy="1990288"/>
          </a:xfrm>
          <a:prstGeom prst="rect">
            <a:avLst/>
          </a:prstGeom>
          <a:noFill/>
        </p:spPr>
        <p:txBody>
          <a:bodyPr wrap="square">
            <a:spAutoFit/>
          </a:bodyPr>
          <a:lstStyle/>
          <a:p>
            <a:pPr marL="342900" lvl="0" indent="-342900">
              <a:lnSpc>
                <a:spcPct val="115000"/>
              </a:lnSpc>
              <a:spcAft>
                <a:spcPts val="1000"/>
              </a:spcAft>
              <a:buFont typeface="Wingdings" panose="05000000000000000000" pitchFamily="2" charset="2"/>
              <a:buChar char="q"/>
            </a:pPr>
            <a:r>
              <a:rPr lang="fr-FR" sz="2000" b="1" dirty="0" smtClean="0">
                <a:effectLst/>
                <a:latin typeface="Cambria" panose="02040503050406030204" pitchFamily="18" charset="0"/>
                <a:ea typeface="Cambria" panose="02040503050406030204" pitchFamily="18" charset="0"/>
                <a:cs typeface="Calibri" panose="020F0502020204030204" pitchFamily="34" charset="0"/>
              </a:rPr>
              <a:t>Une proximité pour retisser un lien de confiance avec la population</a:t>
            </a:r>
            <a:endParaRPr lang="fr-FR" sz="2000" dirty="0" smtClean="0">
              <a:effectLst/>
              <a:latin typeface="Cambria" panose="02040503050406030204" pitchFamily="18" charset="0"/>
              <a:ea typeface="Cambria" panose="02040503050406030204" pitchFamily="18" charset="0"/>
              <a:cs typeface="Calibri" panose="020F0502020204030204" pitchFamily="34" charset="0"/>
            </a:endParaRPr>
          </a:p>
          <a:p>
            <a:pPr>
              <a:lnSpc>
                <a:spcPct val="115000"/>
              </a:lnSpc>
              <a:spcAft>
                <a:spcPts val="1000"/>
              </a:spcAft>
            </a:pPr>
            <a:r>
              <a:rPr lang="fr-FR" sz="2000" dirty="0" smtClean="0">
                <a:effectLst/>
                <a:latin typeface="Cambria" panose="02040503050406030204" pitchFamily="18" charset="0"/>
                <a:ea typeface="Cambria" panose="02040503050406030204" pitchFamily="18" charset="0"/>
                <a:cs typeface="Calibri" panose="020F0502020204030204" pitchFamily="34" charset="0"/>
              </a:rPr>
              <a:t>Les </a:t>
            </a:r>
            <a:r>
              <a:rPr lang="fr-FR" sz="2000" dirty="0">
                <a:effectLst/>
                <a:latin typeface="Cambria" panose="02040503050406030204" pitchFamily="18" charset="0"/>
                <a:ea typeface="Cambria" panose="02040503050406030204" pitchFamily="18" charset="0"/>
                <a:cs typeface="Calibri" panose="020F0502020204030204" pitchFamily="34" charset="0"/>
              </a:rPr>
              <a:t>agents en </a:t>
            </a:r>
            <a:r>
              <a:rPr lang="fr-FR" sz="2000" dirty="0">
                <a:latin typeface="Cambria" panose="02040503050406030204" pitchFamily="18" charset="0"/>
                <a:ea typeface="Cambria" panose="02040503050406030204" pitchFamily="18" charset="0"/>
                <a:cs typeface="Calibri" panose="020F0502020204030204" pitchFamily="34" charset="0"/>
              </a:rPr>
              <a:t>î</a:t>
            </a:r>
            <a:r>
              <a:rPr lang="fr-FR" sz="2000" dirty="0" smtClean="0">
                <a:effectLst/>
                <a:latin typeface="Cambria" panose="02040503050406030204" pitchFamily="18" charset="0"/>
                <a:ea typeface="Cambria" panose="02040503050406030204" pitchFamily="18" charset="0"/>
                <a:cs typeface="Calibri" panose="020F0502020204030204" pitchFamily="34" charset="0"/>
              </a:rPr>
              <a:t>lotage </a:t>
            </a:r>
            <a:r>
              <a:rPr lang="fr-FR" sz="2000" dirty="0">
                <a:effectLst/>
                <a:latin typeface="Cambria" panose="02040503050406030204" pitchFamily="18" charset="0"/>
                <a:ea typeface="Cambria" panose="02040503050406030204" pitchFamily="18" charset="0"/>
                <a:cs typeface="Calibri" panose="020F0502020204030204" pitchFamily="34" charset="0"/>
              </a:rPr>
              <a:t>devront avoir des contacts réguliers et permanents avec l’ensemble de la population </a:t>
            </a:r>
            <a:r>
              <a:rPr lang="fr-FR" sz="2000" dirty="0" smtClean="0">
                <a:effectLst/>
                <a:latin typeface="Cambria" panose="02040503050406030204" pitchFamily="18" charset="0"/>
                <a:ea typeface="Cambria" panose="02040503050406030204" pitchFamily="18" charset="0"/>
                <a:cs typeface="Calibri" panose="020F0502020204030204" pitchFamily="34" charset="0"/>
              </a:rPr>
              <a:t>et les </a:t>
            </a:r>
            <a:r>
              <a:rPr lang="fr-FR" sz="2000" dirty="0">
                <a:effectLst/>
                <a:latin typeface="Cambria" panose="02040503050406030204" pitchFamily="18" charset="0"/>
                <a:ea typeface="Cambria" panose="02040503050406030204" pitchFamily="18" charset="0"/>
                <a:cs typeface="Calibri" panose="020F0502020204030204" pitchFamily="34" charset="0"/>
              </a:rPr>
              <a:t>différentes couches sociales la composant : les jeunes, les personnes âgées, les parents, les commerçants, les gardiens d’immeuble etc…</a:t>
            </a:r>
          </a:p>
        </p:txBody>
      </p:sp>
      <p:sp>
        <p:nvSpPr>
          <p:cNvPr id="12" name="ZoneTexte 11">
            <a:extLst>
              <a:ext uri="{FF2B5EF4-FFF2-40B4-BE49-F238E27FC236}">
                <a16:creationId xmlns:a16="http://schemas.microsoft.com/office/drawing/2014/main" id="{A4A1193F-6EE6-4AA4-B44A-B23FDB513158}"/>
              </a:ext>
            </a:extLst>
          </p:cNvPr>
          <p:cNvSpPr txBox="1"/>
          <p:nvPr/>
        </p:nvSpPr>
        <p:spPr>
          <a:xfrm>
            <a:off x="400073" y="1031624"/>
            <a:ext cx="11473059" cy="517065"/>
          </a:xfrm>
          <a:prstGeom prst="rect">
            <a:avLst/>
          </a:prstGeom>
          <a:noFill/>
        </p:spPr>
        <p:txBody>
          <a:bodyPr wrap="square">
            <a:spAutoFit/>
          </a:bodyPr>
          <a:lstStyle/>
          <a:p>
            <a:pPr>
              <a:lnSpc>
                <a:spcPct val="115000"/>
              </a:lnSpc>
              <a:spcAft>
                <a:spcPts val="1000"/>
              </a:spcAft>
            </a:pPr>
            <a:r>
              <a:rPr lang="fr-FR" sz="2400" b="1" dirty="0">
                <a:latin typeface="Cambria" panose="02040503050406030204" pitchFamily="18" charset="0"/>
                <a:ea typeface="Cambria" panose="02040503050406030204" pitchFamily="18" charset="0"/>
                <a:cs typeface="Calibri" panose="020F0502020204030204" pitchFamily="34" charset="0"/>
              </a:rPr>
              <a:t>« </a:t>
            </a:r>
            <a:r>
              <a:rPr lang="fr-FR" sz="2400" b="1" dirty="0">
                <a:effectLst/>
                <a:latin typeface="Cambria" panose="02040503050406030204" pitchFamily="18" charset="0"/>
                <a:ea typeface="Cambria" panose="02040503050406030204" pitchFamily="18" charset="0"/>
                <a:cs typeface="Calibri" panose="020F0502020204030204" pitchFamily="34" charset="0"/>
              </a:rPr>
              <a:t>Prendre le pouls de son quartier </a:t>
            </a:r>
            <a:r>
              <a:rPr lang="fr-FR" sz="2400" b="1" dirty="0" smtClean="0">
                <a:effectLst/>
                <a:latin typeface="Cambria" panose="02040503050406030204" pitchFamily="18" charset="0"/>
                <a:ea typeface="Cambria" panose="02040503050406030204" pitchFamily="18" charset="0"/>
                <a:cs typeface="Calibri" panose="020F0502020204030204" pitchFamily="34" charset="0"/>
              </a:rPr>
              <a:t>»     «</a:t>
            </a:r>
            <a:r>
              <a:rPr lang="fr-FR" sz="2400" b="1" dirty="0">
                <a:effectLst/>
                <a:latin typeface="Cambria" panose="02040503050406030204" pitchFamily="18" charset="0"/>
                <a:ea typeface="Cambria" panose="02040503050406030204" pitchFamily="18" charset="0"/>
                <a:cs typeface="Calibri" panose="020F0502020204030204" pitchFamily="34" charset="0"/>
              </a:rPr>
              <a:t> Montrer de la considération »</a:t>
            </a:r>
            <a:endParaRPr lang="fr-FR" sz="2400" dirty="0">
              <a:latin typeface="Cambria" panose="02040503050406030204" pitchFamily="18" charset="0"/>
              <a:ea typeface="Cambria" panose="02040503050406030204" pitchFamily="18" charset="0"/>
              <a:cs typeface="Calibri" panose="020F0502020204030204" pitchFamily="34" charset="0"/>
            </a:endParaRPr>
          </a:p>
        </p:txBody>
      </p:sp>
      <p:sp>
        <p:nvSpPr>
          <p:cNvPr id="13" name="Titre 4">
            <a:extLst>
              <a:ext uri="{FF2B5EF4-FFF2-40B4-BE49-F238E27FC236}">
                <a16:creationId xmlns:a16="http://schemas.microsoft.com/office/drawing/2014/main" id="{B14DB927-DE7D-4E19-BF9C-011DC8DF75CB}"/>
              </a:ext>
            </a:extLst>
          </p:cNvPr>
          <p:cNvSpPr txBox="1">
            <a:spLocks/>
          </p:cNvSpPr>
          <p:nvPr/>
        </p:nvSpPr>
        <p:spPr>
          <a:xfrm>
            <a:off x="455594" y="193001"/>
            <a:ext cx="11544148" cy="648000"/>
          </a:xfrm>
          <a:prstGeom prst="rect">
            <a:avLst/>
          </a:prstGeom>
        </p:spPr>
        <p:txBody>
          <a:bodyPr vert="horz" lIns="91440" tIns="45720" rIns="91440" bIns="45720" rtlCol="0" anchor="t">
            <a:noAutofit/>
          </a:bodyPr>
          <a:lstStyle>
            <a:lvl1pPr algn="l" defTabSz="914400" rtl="0" eaLnBrk="1" latinLnBrk="0" hangingPunct="1">
              <a:lnSpc>
                <a:spcPct val="115000"/>
              </a:lnSpc>
              <a:spcBef>
                <a:spcPct val="0"/>
              </a:spcBef>
              <a:buNone/>
              <a:defRPr sz="2200" b="1" kern="1200">
                <a:solidFill>
                  <a:schemeClr val="tx1"/>
                </a:solidFill>
                <a:latin typeface="+mj-lt"/>
                <a:ea typeface="+mj-ea"/>
                <a:cs typeface="+mj-cs"/>
              </a:defRPr>
            </a:lvl1pPr>
          </a:lstStyle>
          <a:p>
            <a:r>
              <a:rPr lang="fr-FR" sz="2400" dirty="0" smtClean="0">
                <a:solidFill>
                  <a:schemeClr val="accent6"/>
                </a:solidFill>
                <a:latin typeface="Cambria" panose="02040503050406030204" pitchFamily="18" charset="0"/>
                <a:ea typeface="Cambria" panose="02040503050406030204" pitchFamily="18" charset="0"/>
                <a:cs typeface="Calibri" panose="020F0502020204030204" pitchFamily="34" charset="0"/>
              </a:rPr>
              <a:t>Les modalités de l’ilotage</a:t>
            </a:r>
            <a:endParaRPr lang="fr-FR" sz="2400" dirty="0">
              <a:solidFill>
                <a:schemeClr val="accent6"/>
              </a:solidFill>
              <a:latin typeface="Cambria" panose="02040503050406030204" pitchFamily="18" charset="0"/>
              <a:ea typeface="Cambria" panose="02040503050406030204" pitchFamily="18" charset="0"/>
              <a:cs typeface="Calibri" panose="020F0502020204030204" pitchFamily="34" charset="0"/>
            </a:endParaRPr>
          </a:p>
        </p:txBody>
      </p:sp>
      <p:pic>
        <p:nvPicPr>
          <p:cNvPr id="2" name="Imag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803" y="3363422"/>
            <a:ext cx="2619375" cy="1743075"/>
          </a:xfrm>
          <a:prstGeom prst="rect">
            <a:avLst/>
          </a:prstGeom>
        </p:spPr>
      </p:pic>
    </p:spTree>
    <p:extLst>
      <p:ext uri="{BB962C8B-B14F-4D97-AF65-F5344CB8AC3E}">
        <p14:creationId xmlns:p14="http://schemas.microsoft.com/office/powerpoint/2010/main" val="297657349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38</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9" name="ZoneTexte 8">
            <a:extLst>
              <a:ext uri="{FF2B5EF4-FFF2-40B4-BE49-F238E27FC236}">
                <a16:creationId xmlns:a16="http://schemas.microsoft.com/office/drawing/2014/main" id="{ED0019C4-43C2-41A4-9225-2AAB45BB6E23}"/>
              </a:ext>
            </a:extLst>
          </p:cNvPr>
          <p:cNvSpPr txBox="1"/>
          <p:nvPr/>
        </p:nvSpPr>
        <p:spPr>
          <a:xfrm>
            <a:off x="455594" y="1299454"/>
            <a:ext cx="6648591" cy="1932837"/>
          </a:xfrm>
          <a:prstGeom prst="rect">
            <a:avLst/>
          </a:prstGeom>
          <a:noFill/>
        </p:spPr>
        <p:txBody>
          <a:bodyPr wrap="square">
            <a:spAutoFit/>
          </a:bodyPr>
          <a:lstStyle/>
          <a:p>
            <a:pPr>
              <a:lnSpc>
                <a:spcPct val="115000"/>
              </a:lnSpc>
            </a:pPr>
            <a:r>
              <a:rPr lang="fr-FR" sz="2400" b="1" dirty="0" smtClean="0">
                <a:solidFill>
                  <a:srgbClr val="FF0000"/>
                </a:solidFill>
                <a:latin typeface="Cambria" panose="02040503050406030204" pitchFamily="18" charset="0"/>
                <a:ea typeface="Cambria" panose="02040503050406030204" pitchFamily="18" charset="0"/>
                <a:cs typeface="Calibri" panose="020F0502020204030204" pitchFamily="34" charset="0"/>
              </a:rPr>
              <a:t>Principes:</a:t>
            </a:r>
          </a:p>
          <a:p>
            <a:pPr marL="342900" indent="-342900">
              <a:lnSpc>
                <a:spcPct val="115000"/>
              </a:lnSpc>
              <a:buFont typeface="Wingdings" panose="05000000000000000000" pitchFamily="2" charset="2"/>
              <a:buChar char="q"/>
            </a:pPr>
            <a:r>
              <a:rPr lang="fr-FR" sz="2000" b="1" dirty="0" smtClean="0">
                <a:latin typeface="Cambria" panose="02040503050406030204" pitchFamily="18" charset="0"/>
                <a:ea typeface="Cambria" panose="02040503050406030204" pitchFamily="18" charset="0"/>
                <a:cs typeface="Calibri" panose="020F0502020204030204" pitchFamily="34" charset="0"/>
              </a:rPr>
              <a:t>Capacités </a:t>
            </a:r>
            <a:r>
              <a:rPr lang="fr-FR" sz="2000" b="1" dirty="0">
                <a:latin typeface="Cambria" panose="02040503050406030204" pitchFamily="18" charset="0"/>
                <a:ea typeface="Cambria" panose="02040503050406030204" pitchFamily="18" charset="0"/>
                <a:cs typeface="Calibri" panose="020F0502020204030204" pitchFamily="34" charset="0"/>
              </a:rPr>
              <a:t>d’observations et </a:t>
            </a:r>
            <a:r>
              <a:rPr lang="fr-FR" sz="2000" b="1" dirty="0" smtClean="0">
                <a:latin typeface="Cambria" panose="02040503050406030204" pitchFamily="18" charset="0"/>
                <a:ea typeface="Cambria" panose="02040503050406030204" pitchFamily="18" charset="0"/>
                <a:cs typeface="Calibri" panose="020F0502020204030204" pitchFamily="34" charset="0"/>
              </a:rPr>
              <a:t>d’analyses</a:t>
            </a:r>
            <a:endParaRPr lang="fr-FR" sz="2000" b="1" dirty="0" smtClean="0">
              <a:effectLst/>
              <a:latin typeface="Cambria" panose="02040503050406030204" pitchFamily="18" charset="0"/>
              <a:ea typeface="Cambria" panose="02040503050406030204" pitchFamily="18" charset="0"/>
              <a:cs typeface="Calibri" panose="020F0502020204030204" pitchFamily="34" charset="0"/>
            </a:endParaRPr>
          </a:p>
          <a:p>
            <a:pPr marL="342900" lvl="0" indent="-342900">
              <a:lnSpc>
                <a:spcPct val="115000"/>
              </a:lnSpc>
              <a:buFont typeface="Wingdings" panose="05000000000000000000" pitchFamily="2" charset="2"/>
              <a:buChar char="q"/>
            </a:pPr>
            <a:r>
              <a:rPr lang="fr-FR" sz="2000" b="1" dirty="0" smtClean="0">
                <a:effectLst/>
                <a:latin typeface="Cambria" panose="02040503050406030204" pitchFamily="18" charset="0"/>
                <a:ea typeface="Cambria" panose="02040503050406030204" pitchFamily="18" charset="0"/>
                <a:cs typeface="Calibri" panose="020F0502020204030204" pitchFamily="34" charset="0"/>
              </a:rPr>
              <a:t>Capacité </a:t>
            </a:r>
            <a:r>
              <a:rPr lang="fr-FR" sz="2000" b="1" dirty="0">
                <a:effectLst/>
                <a:latin typeface="Cambria" panose="02040503050406030204" pitchFamily="18" charset="0"/>
                <a:ea typeface="Cambria" panose="02040503050406030204" pitchFamily="18" charset="0"/>
                <a:cs typeface="Calibri" panose="020F0502020204030204" pitchFamily="34" charset="0"/>
              </a:rPr>
              <a:t>à rendre </a:t>
            </a:r>
            <a:r>
              <a:rPr lang="fr-FR" sz="2000" b="1" dirty="0" smtClean="0">
                <a:effectLst/>
                <a:latin typeface="Cambria" panose="02040503050406030204" pitchFamily="18" charset="0"/>
                <a:ea typeface="Cambria" panose="02040503050406030204" pitchFamily="18" charset="0"/>
                <a:cs typeface="Calibri" panose="020F0502020204030204" pitchFamily="34" charset="0"/>
              </a:rPr>
              <a:t>compte</a:t>
            </a:r>
          </a:p>
          <a:p>
            <a:pPr marL="342900" lvl="0" indent="-342900">
              <a:lnSpc>
                <a:spcPct val="115000"/>
              </a:lnSpc>
              <a:buFont typeface="Wingdings" panose="05000000000000000000" pitchFamily="2" charset="2"/>
              <a:buChar char="q"/>
            </a:pPr>
            <a:r>
              <a:rPr lang="fr-FR" sz="2000" b="1" dirty="0" smtClean="0">
                <a:latin typeface="Cambria" panose="02040503050406030204" pitchFamily="18" charset="0"/>
                <a:ea typeface="Cambria" panose="02040503050406030204" pitchFamily="18" charset="0"/>
                <a:cs typeface="Calibri" panose="020F0502020204030204" pitchFamily="34" charset="0"/>
              </a:rPr>
              <a:t>Exemplarité</a:t>
            </a:r>
            <a:r>
              <a:rPr lang="fr-FR" sz="2000" b="1" dirty="0">
                <a:latin typeface="Cambria" panose="02040503050406030204" pitchFamily="18" charset="0"/>
                <a:ea typeface="Cambria" panose="02040503050406030204" pitchFamily="18" charset="0"/>
                <a:cs typeface="Calibri" panose="020F0502020204030204" pitchFamily="34" charset="0"/>
              </a:rPr>
              <a:t> </a:t>
            </a:r>
            <a:endParaRPr lang="fr-FR" sz="2000" b="1" dirty="0" smtClean="0">
              <a:latin typeface="Cambria" panose="02040503050406030204" pitchFamily="18" charset="0"/>
              <a:ea typeface="Cambria" panose="02040503050406030204" pitchFamily="18" charset="0"/>
              <a:cs typeface="Calibri" panose="020F0502020204030204" pitchFamily="34" charset="0"/>
            </a:endParaRPr>
          </a:p>
          <a:p>
            <a:pPr marL="342900" indent="-342900">
              <a:lnSpc>
                <a:spcPct val="115000"/>
              </a:lnSpc>
              <a:buFont typeface="Wingdings" panose="05000000000000000000" pitchFamily="2" charset="2"/>
              <a:buChar char="q"/>
            </a:pPr>
            <a:r>
              <a:rPr lang="fr-FR" sz="2000" b="1" dirty="0" smtClean="0">
                <a:latin typeface="Cambria" panose="02040503050406030204" pitchFamily="18" charset="0"/>
                <a:ea typeface="Cambria" panose="02040503050406030204" pitchFamily="18" charset="0"/>
                <a:cs typeface="Calibri" panose="020F0502020204030204" pitchFamily="34" charset="0"/>
              </a:rPr>
              <a:t>Communication maitrisée</a:t>
            </a:r>
            <a:endParaRPr lang="fr-FR" sz="2000" dirty="0">
              <a:effectLst/>
              <a:latin typeface="Cambria" panose="02040503050406030204" pitchFamily="18" charset="0"/>
              <a:ea typeface="Cambria" panose="02040503050406030204" pitchFamily="18" charset="0"/>
              <a:cs typeface="Times New Roman" panose="02020603050405020304" pitchFamily="18" charset="0"/>
            </a:endParaRPr>
          </a:p>
        </p:txBody>
      </p:sp>
      <p:pic>
        <p:nvPicPr>
          <p:cNvPr id="7170" name="Picture 2" descr="La police de proximité renforcée dans des quartiers de Cannes pour lutter  contre les incivilités et l'insécurité - Nice-Matin">
            <a:extLst>
              <a:ext uri="{FF2B5EF4-FFF2-40B4-BE49-F238E27FC236}">
                <a16:creationId xmlns:a16="http://schemas.microsoft.com/office/drawing/2014/main" id="{F6F1DD08-249B-4353-BFA4-72BD3B9115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200" y="1299454"/>
            <a:ext cx="4398224" cy="2199112"/>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Aulnay : le patron de la police municipale rencontre la Révolution est en  marche - Le Parisien">
            <a:extLst>
              <a:ext uri="{FF2B5EF4-FFF2-40B4-BE49-F238E27FC236}">
                <a16:creationId xmlns:a16="http://schemas.microsoft.com/office/drawing/2014/main" id="{96D15A66-9330-4B89-9A72-548D924FC5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0369" y="3881292"/>
            <a:ext cx="3124092" cy="1947057"/>
          </a:xfrm>
          <a:prstGeom prst="rect">
            <a:avLst/>
          </a:prstGeom>
          <a:noFill/>
          <a:extLst>
            <a:ext uri="{909E8E84-426E-40DD-AFC4-6F175D3DCCD1}">
              <a14:hiddenFill xmlns:a14="http://schemas.microsoft.com/office/drawing/2010/main">
                <a:solidFill>
                  <a:srgbClr val="FFFFFF"/>
                </a:solidFill>
              </a14:hiddenFill>
            </a:ext>
          </a:extLst>
        </p:spPr>
      </p:pic>
      <p:sp>
        <p:nvSpPr>
          <p:cNvPr id="10" name="Titre 4">
            <a:extLst>
              <a:ext uri="{FF2B5EF4-FFF2-40B4-BE49-F238E27FC236}">
                <a16:creationId xmlns:a16="http://schemas.microsoft.com/office/drawing/2014/main" id="{B14DB927-DE7D-4E19-BF9C-011DC8DF75CB}"/>
              </a:ext>
            </a:extLst>
          </p:cNvPr>
          <p:cNvSpPr txBox="1">
            <a:spLocks/>
          </p:cNvSpPr>
          <p:nvPr/>
        </p:nvSpPr>
        <p:spPr>
          <a:xfrm>
            <a:off x="455594" y="193001"/>
            <a:ext cx="11544148" cy="648000"/>
          </a:xfrm>
          <a:prstGeom prst="rect">
            <a:avLst/>
          </a:prstGeom>
        </p:spPr>
        <p:txBody>
          <a:bodyPr vert="horz" lIns="91440" tIns="45720" rIns="91440" bIns="45720" rtlCol="0" anchor="t">
            <a:noAutofit/>
          </a:bodyPr>
          <a:lstStyle>
            <a:lvl1pPr algn="l" defTabSz="914400" rtl="0" eaLnBrk="1" latinLnBrk="0" hangingPunct="1">
              <a:lnSpc>
                <a:spcPct val="115000"/>
              </a:lnSpc>
              <a:spcBef>
                <a:spcPct val="0"/>
              </a:spcBef>
              <a:buNone/>
              <a:defRPr sz="2200" b="1" kern="1200">
                <a:solidFill>
                  <a:schemeClr val="tx1"/>
                </a:solidFill>
                <a:latin typeface="+mj-lt"/>
                <a:ea typeface="+mj-ea"/>
                <a:cs typeface="+mj-cs"/>
              </a:defRPr>
            </a:lvl1pPr>
          </a:lstStyle>
          <a:p>
            <a:r>
              <a:rPr lang="fr-FR" sz="2400" dirty="0" smtClean="0">
                <a:solidFill>
                  <a:schemeClr val="accent6"/>
                </a:solidFill>
                <a:latin typeface="Cambria" panose="02040503050406030204" pitchFamily="18" charset="0"/>
                <a:ea typeface="Cambria" panose="02040503050406030204" pitchFamily="18" charset="0"/>
                <a:cs typeface="Calibri" panose="020F0502020204030204" pitchFamily="34" charset="0"/>
              </a:rPr>
              <a:t>L’ilotage</a:t>
            </a:r>
            <a:endParaRPr lang="fr-FR" sz="2400" dirty="0">
              <a:solidFill>
                <a:schemeClr val="accent6"/>
              </a:solidFill>
              <a:latin typeface="Cambria" panose="02040503050406030204" pitchFamily="18" charset="0"/>
              <a:ea typeface="Cambria" panose="02040503050406030204" pitchFamily="18" charset="0"/>
              <a:cs typeface="Calibri" panose="020F0502020204030204" pitchFamily="34" charset="0"/>
            </a:endParaRPr>
          </a:p>
        </p:txBody>
      </p:sp>
      <p:sp>
        <p:nvSpPr>
          <p:cNvPr id="3" name="Rectangle 2"/>
          <p:cNvSpPr/>
          <p:nvPr/>
        </p:nvSpPr>
        <p:spPr>
          <a:xfrm>
            <a:off x="5312898" y="3881292"/>
            <a:ext cx="6096000" cy="1932837"/>
          </a:xfrm>
          <a:prstGeom prst="rect">
            <a:avLst/>
          </a:prstGeom>
        </p:spPr>
        <p:txBody>
          <a:bodyPr>
            <a:spAutoFit/>
          </a:bodyPr>
          <a:lstStyle/>
          <a:p>
            <a:pPr lvl="0">
              <a:lnSpc>
                <a:spcPct val="115000"/>
              </a:lnSpc>
            </a:pPr>
            <a:r>
              <a:rPr lang="fr-FR" sz="2400" b="1" dirty="0" smtClean="0">
                <a:solidFill>
                  <a:srgbClr val="FF0000"/>
                </a:solidFill>
                <a:latin typeface="Cambria" panose="02040503050406030204" pitchFamily="18" charset="0"/>
                <a:ea typeface="Cambria" panose="02040503050406030204" pitchFamily="18" charset="0"/>
                <a:cs typeface="Calibri" panose="020F0502020204030204" pitchFamily="34" charset="0"/>
              </a:rPr>
              <a:t>Objectifs:</a:t>
            </a:r>
          </a:p>
          <a:p>
            <a:pPr marL="342900" lvl="0" indent="-342900">
              <a:lnSpc>
                <a:spcPct val="115000"/>
              </a:lnSpc>
              <a:buFont typeface="Wingdings" panose="05000000000000000000" pitchFamily="2" charset="2"/>
              <a:buChar char="q"/>
            </a:pPr>
            <a:r>
              <a:rPr lang="fr-FR" sz="2000" b="1" dirty="0" smtClean="0">
                <a:latin typeface="Cambria" panose="02040503050406030204" pitchFamily="18" charset="0"/>
                <a:ea typeface="Cambria" panose="02040503050406030204" pitchFamily="18" charset="0"/>
                <a:cs typeface="Calibri" panose="020F0502020204030204" pitchFamily="34" charset="0"/>
              </a:rPr>
              <a:t>Savoir </a:t>
            </a:r>
            <a:r>
              <a:rPr lang="fr-FR" sz="2000" b="1" dirty="0">
                <a:latin typeface="Cambria" panose="02040503050406030204" pitchFamily="18" charset="0"/>
                <a:ea typeface="Cambria" panose="02040503050406030204" pitchFamily="18" charset="0"/>
                <a:cs typeface="Calibri" panose="020F0502020204030204" pitchFamily="34" charset="0"/>
              </a:rPr>
              <a:t>entretenir une relation de confiance</a:t>
            </a:r>
            <a:endParaRPr lang="fr-FR" sz="2000" dirty="0">
              <a:latin typeface="Cambria" panose="02040503050406030204" pitchFamily="18" charset="0"/>
              <a:ea typeface="Cambria" panose="02040503050406030204" pitchFamily="18" charset="0"/>
              <a:cs typeface="Times New Roman" panose="02020603050405020304" pitchFamily="18" charset="0"/>
            </a:endParaRPr>
          </a:p>
          <a:p>
            <a:pPr marL="342900" lvl="0" indent="-342900">
              <a:lnSpc>
                <a:spcPct val="115000"/>
              </a:lnSpc>
              <a:buFont typeface="Wingdings" panose="05000000000000000000" pitchFamily="2" charset="2"/>
              <a:buChar char="q"/>
            </a:pPr>
            <a:r>
              <a:rPr lang="fr-FR" sz="2000" b="1" dirty="0">
                <a:latin typeface="Cambria" panose="02040503050406030204" pitchFamily="18" charset="0"/>
                <a:ea typeface="Cambria" panose="02040503050406030204" pitchFamily="18" charset="0"/>
                <a:cs typeface="Calibri" panose="020F0502020204030204" pitchFamily="34" charset="0"/>
              </a:rPr>
              <a:t>Une écoute « proactive »</a:t>
            </a:r>
          </a:p>
          <a:p>
            <a:pPr marL="285750" indent="-285750" algn="just">
              <a:lnSpc>
                <a:spcPct val="115000"/>
              </a:lnSpc>
              <a:spcAft>
                <a:spcPts val="1000"/>
              </a:spcAft>
              <a:buFont typeface="Wingdings" panose="05000000000000000000" pitchFamily="2" charset="2"/>
              <a:buChar char="q"/>
            </a:pPr>
            <a:r>
              <a:rPr lang="fr-FR" sz="2000" b="1" dirty="0" smtClean="0">
                <a:latin typeface="Cambria" panose="02040503050406030204" pitchFamily="18" charset="0"/>
                <a:ea typeface="Cambria" panose="02040503050406030204" pitchFamily="18" charset="0"/>
                <a:cs typeface="Calibri" panose="020F0502020204030204" pitchFamily="34" charset="0"/>
              </a:rPr>
              <a:t> Humaniser </a:t>
            </a:r>
            <a:r>
              <a:rPr lang="fr-FR" sz="2000" b="1" dirty="0">
                <a:latin typeface="Cambria" panose="02040503050406030204" pitchFamily="18" charset="0"/>
                <a:ea typeface="Cambria" panose="02040503050406030204" pitchFamily="18" charset="0"/>
                <a:cs typeface="Calibri" panose="020F0502020204030204" pitchFamily="34" charset="0"/>
              </a:rPr>
              <a:t>à nouveau le visage de la police vis-à-vis de la </a:t>
            </a:r>
            <a:r>
              <a:rPr lang="fr-FR" sz="2000" b="1" dirty="0" smtClean="0">
                <a:latin typeface="Cambria" panose="02040503050406030204" pitchFamily="18" charset="0"/>
                <a:ea typeface="Cambria" panose="02040503050406030204" pitchFamily="18" charset="0"/>
                <a:cs typeface="Calibri" panose="020F0502020204030204" pitchFamily="34" charset="0"/>
              </a:rPr>
              <a:t>population.</a:t>
            </a:r>
          </a:p>
        </p:txBody>
      </p:sp>
    </p:spTree>
    <p:extLst>
      <p:ext uri="{BB962C8B-B14F-4D97-AF65-F5344CB8AC3E}">
        <p14:creationId xmlns:p14="http://schemas.microsoft.com/office/powerpoint/2010/main" val="39547611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527A3F-5665-4DB1-831B-72D4F7E0E270}"/>
              </a:ext>
            </a:extLst>
          </p:cNvPr>
          <p:cNvSpPr>
            <a:spLocks noGrp="1"/>
          </p:cNvSpPr>
          <p:nvPr>
            <p:ph type="title"/>
          </p:nvPr>
        </p:nvSpPr>
        <p:spPr/>
        <p:txBody>
          <a:bodyPr/>
          <a:lstStyle/>
          <a:p>
            <a:pPr algn="ctr"/>
            <a:r>
              <a:rPr lang="fr-FR" dirty="0" smtClean="0"/>
              <a:t>Des questions ?</a:t>
            </a:r>
            <a:endParaRPr lang="fr-FR" dirty="0"/>
          </a:p>
        </p:txBody>
      </p:sp>
      <p:pic>
        <p:nvPicPr>
          <p:cNvPr id="3" name="Picture 3">
            <a:extLst>
              <a:ext uri="{FF2B5EF4-FFF2-40B4-BE49-F238E27FC236}">
                <a16:creationId xmlns:a16="http://schemas.microsoft.com/office/drawing/2014/main" id="{EDBD5B2A-6E2C-475E-8B66-925C9497241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97520" y="2267221"/>
            <a:ext cx="3335787" cy="31924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a:extLst>
              <a:ext uri="{FF2B5EF4-FFF2-40B4-BE49-F238E27FC236}">
                <a16:creationId xmlns:a16="http://schemas.microsoft.com/office/drawing/2014/main" id="{54C64A4B-C5B5-4DEB-AEEE-528D3D8740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288" y="3290165"/>
            <a:ext cx="2787651" cy="3043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233001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re 16"/>
          <p:cNvSpPr>
            <a:spLocks noGrp="1"/>
          </p:cNvSpPr>
          <p:nvPr>
            <p:ph type="ctrTitle"/>
          </p:nvPr>
        </p:nvSpPr>
        <p:spPr/>
        <p:txBody>
          <a:bodyPr/>
          <a:lstStyle/>
          <a:p>
            <a:r>
              <a:rPr lang="fr-FR" dirty="0" smtClean="0">
                <a:solidFill>
                  <a:schemeClr val="accent2"/>
                </a:solidFill>
                <a:latin typeface="Cambria" panose="02040503050406030204" pitchFamily="18" charset="0"/>
                <a:ea typeface="Cambria" panose="02040503050406030204" pitchFamily="18" charset="0"/>
              </a:rPr>
              <a:t>05</a:t>
            </a:r>
            <a:endParaRPr lang="fr-FR" dirty="0">
              <a:solidFill>
                <a:schemeClr val="accent2"/>
              </a:solidFill>
              <a:latin typeface="Cambria" panose="02040503050406030204" pitchFamily="18" charset="0"/>
              <a:ea typeface="Cambria" panose="02040503050406030204" pitchFamily="18" charset="0"/>
            </a:endParaRPr>
          </a:p>
        </p:txBody>
      </p:sp>
      <p:sp>
        <p:nvSpPr>
          <p:cNvPr id="18" name="Sous-titre 17"/>
          <p:cNvSpPr>
            <a:spLocks noGrp="1"/>
          </p:cNvSpPr>
          <p:nvPr>
            <p:ph type="subTitle" idx="1"/>
          </p:nvPr>
        </p:nvSpPr>
        <p:spPr/>
        <p:txBody>
          <a:bodyPr/>
          <a:lstStyle/>
          <a:p>
            <a:r>
              <a:rPr lang="fr-FR" sz="4400" dirty="0" smtClean="0">
                <a:solidFill>
                  <a:schemeClr val="accent2"/>
                </a:solidFill>
                <a:latin typeface="Cambria" panose="02040503050406030204" pitchFamily="18" charset="0"/>
                <a:ea typeface="Cambria" panose="02040503050406030204" pitchFamily="18" charset="0"/>
              </a:rPr>
              <a:t>Proximité avec les usagers </a:t>
            </a:r>
            <a:endParaRPr lang="fr-FR" sz="4400" dirty="0">
              <a:solidFill>
                <a:schemeClr val="accent2"/>
              </a:solidFill>
              <a:latin typeface="Cambria" panose="02040503050406030204" pitchFamily="18" charset="0"/>
              <a:ea typeface="Cambria" panose="02040503050406030204" pitchFamily="18" charset="0"/>
            </a:endParaRPr>
          </a:p>
        </p:txBody>
      </p:sp>
      <p:sp>
        <p:nvSpPr>
          <p:cNvPr id="19" name="Espace réservé du texte 18"/>
          <p:cNvSpPr>
            <a:spLocks noGrp="1"/>
          </p:cNvSpPr>
          <p:nvPr>
            <p:ph type="body" idx="13"/>
          </p:nvPr>
        </p:nvSpPr>
        <p:spPr/>
        <p:txBody>
          <a:bodyPr/>
          <a:lstStyle/>
          <a:p>
            <a:endParaRPr lang="fr-FR"/>
          </a:p>
        </p:txBody>
      </p:sp>
      <p:sp>
        <p:nvSpPr>
          <p:cNvPr id="15" name="Espace réservé du numéro de diapositive 14"/>
          <p:cNvSpPr>
            <a:spLocks noGrp="1"/>
          </p:cNvSpPr>
          <p:nvPr>
            <p:ph type="sldNum" sz="quarter" idx="4294967295"/>
          </p:nvPr>
        </p:nvSpPr>
        <p:spPr>
          <a:xfrm>
            <a:off x="11761788" y="6370638"/>
            <a:ext cx="430212" cy="252412"/>
          </a:xfrm>
        </p:spPr>
        <p:txBody>
          <a:bodyPr/>
          <a:lstStyle/>
          <a:p>
            <a:fld id="{975A587B-5814-4D9B-9598-FE9CB954CB01}" type="slidenum">
              <a:rPr lang="fr-FR" smtClean="0"/>
              <a:pPr/>
              <a:t>40</a:t>
            </a:fld>
            <a:endParaRPr lang="fr-FR" dirty="0"/>
          </a:p>
        </p:txBody>
      </p:sp>
      <p:sp>
        <p:nvSpPr>
          <p:cNvPr id="16" name="Espace réservé du pied de page 15"/>
          <p:cNvSpPr>
            <a:spLocks noGrp="1"/>
          </p:cNvSpPr>
          <p:nvPr>
            <p:ph type="ftr" sz="quarter" idx="4294967295"/>
          </p:nvPr>
        </p:nvSpPr>
        <p:spPr>
          <a:xfrm>
            <a:off x="6440488" y="6370638"/>
            <a:ext cx="5751512" cy="252412"/>
          </a:xfrm>
        </p:spPr>
        <p:txBody>
          <a:bodyPr/>
          <a:lstStyle/>
          <a:p>
            <a:r>
              <a:rPr lang="fr-FR" smtClean="0"/>
              <a:t>Ecole des Métiers de la Sécurité - Septembre 2022</a:t>
            </a:r>
            <a:endParaRPr lang="fr-FR" dirty="0"/>
          </a:p>
        </p:txBody>
      </p:sp>
    </p:spTree>
    <p:extLst>
      <p:ext uri="{BB962C8B-B14F-4D97-AF65-F5344CB8AC3E}">
        <p14:creationId xmlns:p14="http://schemas.microsoft.com/office/powerpoint/2010/main" val="182562847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14DB927-DE7D-4E19-BF9C-011DC8DF75CB}"/>
              </a:ext>
            </a:extLst>
          </p:cNvPr>
          <p:cNvSpPr>
            <a:spLocks noGrp="1"/>
          </p:cNvSpPr>
          <p:nvPr>
            <p:ph type="title"/>
          </p:nvPr>
        </p:nvSpPr>
        <p:spPr>
          <a:xfrm>
            <a:off x="540000" y="360000"/>
            <a:ext cx="10800000" cy="648000"/>
          </a:xfrm>
        </p:spPr>
        <p:txBody>
          <a:bodyPr>
            <a:noAutofit/>
          </a:bodyPr>
          <a:lstStyle/>
          <a:p>
            <a:r>
              <a:rPr lang="fr-FR" sz="2400" dirty="0">
                <a:solidFill>
                  <a:schemeClr val="accent2"/>
                </a:solidFill>
                <a:ea typeface="Calibri" panose="020F0502020204030204" pitchFamily="34" charset="0"/>
                <a:cs typeface="Calibri" panose="020F0502020204030204" pitchFamily="34" charset="0"/>
              </a:rPr>
              <a:t/>
            </a:r>
            <a:br>
              <a:rPr lang="fr-FR" sz="2400" dirty="0">
                <a:solidFill>
                  <a:schemeClr val="accent2"/>
                </a:solidFill>
                <a:ea typeface="Calibri" panose="020F0502020204030204" pitchFamily="34" charset="0"/>
                <a:cs typeface="Calibri" panose="020F0502020204030204" pitchFamily="34" charset="0"/>
              </a:rPr>
            </a:br>
            <a:endParaRPr lang="fr-FR" sz="2400" dirty="0">
              <a:solidFill>
                <a:schemeClr val="accent2"/>
              </a:solidFill>
              <a:cs typeface="Calibri" panose="020F0502020204030204" pitchFamily="34" charset="0"/>
            </a:endParaRPr>
          </a:p>
        </p:txBody>
      </p:sp>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41</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pic>
        <p:nvPicPr>
          <p:cNvPr id="6" name="Image 5">
            <a:extLst>
              <a:ext uri="{FF2B5EF4-FFF2-40B4-BE49-F238E27FC236}">
                <a16:creationId xmlns:a16="http://schemas.microsoft.com/office/drawing/2014/main" id="{05E2370C-FFE7-41BB-B06F-8E77CFDCD0B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88848" y="3869454"/>
            <a:ext cx="3921127" cy="1975675"/>
          </a:xfrm>
          <a:prstGeom prst="rect">
            <a:avLst/>
          </a:prstGeom>
          <a:noFill/>
          <a:ln>
            <a:noFill/>
          </a:ln>
        </p:spPr>
      </p:pic>
      <p:sp>
        <p:nvSpPr>
          <p:cNvPr id="8" name="ZoneTexte 7">
            <a:extLst>
              <a:ext uri="{FF2B5EF4-FFF2-40B4-BE49-F238E27FC236}">
                <a16:creationId xmlns:a16="http://schemas.microsoft.com/office/drawing/2014/main" id="{0005CD07-9449-4F05-BA3A-C6D51A26C2CE}"/>
              </a:ext>
            </a:extLst>
          </p:cNvPr>
          <p:cNvSpPr txBox="1"/>
          <p:nvPr/>
        </p:nvSpPr>
        <p:spPr>
          <a:xfrm>
            <a:off x="641599" y="1672844"/>
            <a:ext cx="6814278" cy="3631763"/>
          </a:xfrm>
          <a:prstGeom prst="rect">
            <a:avLst/>
          </a:prstGeom>
          <a:noFill/>
        </p:spPr>
        <p:txBody>
          <a:bodyPr wrap="square">
            <a:spAutoFit/>
          </a:bodyPr>
          <a:lstStyle/>
          <a:p>
            <a:pPr marL="342900" lvl="0" indent="-342900">
              <a:lnSpc>
                <a:spcPct val="115000"/>
              </a:lnSpc>
              <a:buFont typeface="Wingdings" panose="05000000000000000000" pitchFamily="2" charset="2"/>
              <a:buChar char="q"/>
            </a:pPr>
            <a:r>
              <a:rPr lang="fr-FR" sz="2400" b="1" dirty="0">
                <a:effectLst/>
                <a:latin typeface="Cambria" panose="02040503050406030204" pitchFamily="18" charset="0"/>
                <a:ea typeface="Cambria" panose="02040503050406030204" pitchFamily="18" charset="0"/>
                <a:cs typeface="Calibri" panose="020F0502020204030204" pitchFamily="34" charset="0"/>
              </a:rPr>
              <a:t>Une police municipale joignable </a:t>
            </a:r>
            <a:r>
              <a:rPr lang="fr-FR" sz="2400" b="1" dirty="0" smtClean="0">
                <a:effectLst/>
                <a:latin typeface="Cambria" panose="02040503050406030204" pitchFamily="18" charset="0"/>
                <a:ea typeface="Cambria" panose="02040503050406030204" pitchFamily="18" charset="0"/>
                <a:cs typeface="Calibri" panose="020F0502020204030204" pitchFamily="34" charset="0"/>
              </a:rPr>
              <a:t>7/7 </a:t>
            </a:r>
            <a:r>
              <a:rPr lang="fr-FR" sz="2400" b="1" dirty="0">
                <a:effectLst/>
                <a:latin typeface="Cambria" panose="02040503050406030204" pitchFamily="18" charset="0"/>
                <a:ea typeface="Cambria" panose="02040503050406030204" pitchFamily="18" charset="0"/>
                <a:cs typeface="Calibri" panose="020F0502020204030204" pitchFamily="34" charset="0"/>
              </a:rPr>
              <a:t>et </a:t>
            </a:r>
            <a:r>
              <a:rPr lang="fr-FR" sz="2400" b="1" dirty="0" smtClean="0">
                <a:effectLst/>
                <a:latin typeface="Cambria" panose="02040503050406030204" pitchFamily="18" charset="0"/>
                <a:ea typeface="Cambria" panose="02040503050406030204" pitchFamily="18" charset="0"/>
                <a:cs typeface="Calibri" panose="020F0502020204030204" pitchFamily="34" charset="0"/>
              </a:rPr>
              <a:t>24h/24h</a:t>
            </a:r>
          </a:p>
          <a:p>
            <a:pPr marL="342900" lvl="0" indent="-342900">
              <a:lnSpc>
                <a:spcPct val="115000"/>
              </a:lnSpc>
              <a:buFont typeface="Wingdings" panose="05000000000000000000" pitchFamily="2" charset="2"/>
              <a:buChar char="q"/>
            </a:pPr>
            <a:endParaRPr lang="fr-FR" sz="2400" dirty="0">
              <a:effectLst/>
              <a:latin typeface="Cambria" panose="02040503050406030204" pitchFamily="18" charset="0"/>
              <a:ea typeface="Cambria" panose="02040503050406030204" pitchFamily="18" charset="0"/>
              <a:cs typeface="Calibri" panose="020F0502020204030204" pitchFamily="34" charset="0"/>
            </a:endParaRPr>
          </a:p>
          <a:p>
            <a:pPr marL="457200" algn="just">
              <a:lnSpc>
                <a:spcPct val="115000"/>
              </a:lnSpc>
              <a:spcAft>
                <a:spcPts val="1000"/>
              </a:spcAft>
            </a:pPr>
            <a:r>
              <a:rPr lang="fr-FR" sz="2400" b="1" dirty="0">
                <a:effectLst/>
                <a:latin typeface="Cambria" panose="02040503050406030204" pitchFamily="18" charset="0"/>
                <a:ea typeface="Cambria" panose="02040503050406030204" pitchFamily="18" charset="0"/>
                <a:cs typeface="Calibri" panose="020F0502020204030204" pitchFamily="34" charset="0"/>
              </a:rPr>
              <a:t>« </a:t>
            </a:r>
            <a:r>
              <a:rPr lang="fr-FR" sz="2000" dirty="0">
                <a:effectLst/>
                <a:latin typeface="Cambria" panose="02040503050406030204" pitchFamily="18" charset="0"/>
                <a:ea typeface="Cambria" panose="02040503050406030204" pitchFamily="18" charset="0"/>
                <a:cs typeface="Calibri" panose="020F0502020204030204" pitchFamily="34" charset="0"/>
              </a:rPr>
              <a:t>Parce que notre action municipale restera toujours d’abord préventive, nous maintiendrons à un niveau très élevé notre effort en matière de prévention de la délinquance et de la récidive et développerons de nouveaux outils pour valoriser l’engagement des citoyens, des jeunes, des habitants et des familles </a:t>
            </a:r>
            <a:r>
              <a:rPr lang="fr-FR" sz="2000" dirty="0" smtClean="0">
                <a:effectLst/>
                <a:latin typeface="Cambria" panose="02040503050406030204" pitchFamily="18" charset="0"/>
                <a:ea typeface="Cambria" panose="02040503050406030204" pitchFamily="18" charset="0"/>
                <a:cs typeface="Calibri" panose="020F0502020204030204" pitchFamily="34" charset="0"/>
              </a:rPr>
              <a:t> </a:t>
            </a:r>
            <a:r>
              <a:rPr lang="fr-FR" sz="2400" dirty="0" smtClean="0">
                <a:effectLst/>
                <a:latin typeface="Cambria" panose="02040503050406030204" pitchFamily="18" charset="0"/>
                <a:ea typeface="Cambria" panose="02040503050406030204" pitchFamily="18" charset="0"/>
                <a:cs typeface="Calibri" panose="020F0502020204030204" pitchFamily="34" charset="0"/>
              </a:rPr>
              <a:t>»</a:t>
            </a:r>
            <a:endParaRPr lang="fr-FR" sz="2400" dirty="0">
              <a:latin typeface="Cambria" panose="02040503050406030204" pitchFamily="18" charset="0"/>
              <a:ea typeface="Cambria" panose="02040503050406030204" pitchFamily="18" charset="0"/>
            </a:endParaRPr>
          </a:p>
        </p:txBody>
      </p:sp>
      <p:sp>
        <p:nvSpPr>
          <p:cNvPr id="9" name="Titre 4">
            <a:extLst>
              <a:ext uri="{FF2B5EF4-FFF2-40B4-BE49-F238E27FC236}">
                <a16:creationId xmlns:a16="http://schemas.microsoft.com/office/drawing/2014/main" id="{B14DB927-DE7D-4E19-BF9C-011DC8DF75CB}"/>
              </a:ext>
            </a:extLst>
          </p:cNvPr>
          <p:cNvSpPr txBox="1">
            <a:spLocks/>
          </p:cNvSpPr>
          <p:nvPr/>
        </p:nvSpPr>
        <p:spPr>
          <a:xfrm>
            <a:off x="692400" y="512400"/>
            <a:ext cx="10800000" cy="648000"/>
          </a:xfrm>
          <a:prstGeom prst="rect">
            <a:avLst/>
          </a:prstGeom>
        </p:spPr>
        <p:txBody>
          <a:bodyPr vert="horz" lIns="91440" tIns="45720" rIns="91440" bIns="45720" rtlCol="0" anchor="t">
            <a:noAutofit/>
          </a:bodyPr>
          <a:lstStyle>
            <a:lvl1pPr algn="l" defTabSz="914400" rtl="0" eaLnBrk="1" latinLnBrk="0" hangingPunct="1">
              <a:lnSpc>
                <a:spcPct val="115000"/>
              </a:lnSpc>
              <a:spcBef>
                <a:spcPct val="0"/>
              </a:spcBef>
              <a:buNone/>
              <a:defRPr sz="2200" b="1" kern="1200">
                <a:solidFill>
                  <a:schemeClr val="tx1"/>
                </a:solidFill>
                <a:latin typeface="+mj-lt"/>
                <a:ea typeface="+mj-ea"/>
                <a:cs typeface="+mj-cs"/>
              </a:defRPr>
            </a:lvl1pPr>
          </a:lstStyle>
          <a:p>
            <a:r>
              <a:rPr lang="fr-FR" sz="2800" dirty="0" smtClean="0">
                <a:solidFill>
                  <a:schemeClr val="accent2"/>
                </a:solidFill>
                <a:latin typeface="Cambria" panose="02040503050406030204" pitchFamily="18" charset="0"/>
                <a:ea typeface="Cambria" panose="02040503050406030204" pitchFamily="18" charset="0"/>
                <a:cs typeface="Calibri" panose="020F0502020204030204" pitchFamily="34" charset="0"/>
              </a:rPr>
              <a:t>Proximité avec les usagers </a:t>
            </a:r>
            <a:r>
              <a:rPr lang="fr-FR" sz="2800" dirty="0" smtClean="0">
                <a:solidFill>
                  <a:schemeClr val="accent2"/>
                </a:solidFill>
                <a:latin typeface="Cambria" panose="02040503050406030204" pitchFamily="18" charset="0"/>
                <a:ea typeface="Cambria" panose="02040503050406030204" pitchFamily="18" charset="0"/>
                <a:cs typeface="Times New Roman" panose="02020603050405020304" pitchFamily="18" charset="0"/>
              </a:rPr>
              <a:t/>
            </a:r>
            <a:br>
              <a:rPr lang="fr-FR" sz="2800" dirty="0" smtClean="0">
                <a:solidFill>
                  <a:schemeClr val="accent2"/>
                </a:solidFill>
                <a:latin typeface="Cambria" panose="02040503050406030204" pitchFamily="18" charset="0"/>
                <a:ea typeface="Cambria" panose="02040503050406030204" pitchFamily="18" charset="0"/>
                <a:cs typeface="Times New Roman" panose="02020603050405020304" pitchFamily="18" charset="0"/>
              </a:rPr>
            </a:br>
            <a:endParaRPr lang="fr-FR" sz="2800" dirty="0">
              <a:solidFill>
                <a:schemeClr val="accent2"/>
              </a:solidFill>
              <a:latin typeface="Cambria" panose="02040503050406030204" pitchFamily="18" charset="0"/>
              <a:ea typeface="Cambria" panose="02040503050406030204" pitchFamily="18" charset="0"/>
            </a:endParaRPr>
          </a:p>
        </p:txBody>
      </p:sp>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5872" y="1406304"/>
            <a:ext cx="2832808" cy="2068058"/>
          </a:xfrm>
          <a:prstGeom prst="rect">
            <a:avLst/>
          </a:prstGeom>
        </p:spPr>
      </p:pic>
    </p:spTree>
    <p:extLst>
      <p:ext uri="{BB962C8B-B14F-4D97-AF65-F5344CB8AC3E}">
        <p14:creationId xmlns:p14="http://schemas.microsoft.com/office/powerpoint/2010/main" val="37295885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14DB927-DE7D-4E19-BF9C-011DC8DF75CB}"/>
              </a:ext>
            </a:extLst>
          </p:cNvPr>
          <p:cNvSpPr>
            <a:spLocks noGrp="1"/>
          </p:cNvSpPr>
          <p:nvPr>
            <p:ph type="title"/>
          </p:nvPr>
        </p:nvSpPr>
        <p:spPr>
          <a:xfrm>
            <a:off x="540000" y="360000"/>
            <a:ext cx="10800000" cy="648000"/>
          </a:xfrm>
        </p:spPr>
        <p:txBody>
          <a:bodyPr>
            <a:noAutofit/>
          </a:bodyPr>
          <a:lstStyle/>
          <a:p>
            <a:r>
              <a:rPr lang="fr-FR" sz="2800" dirty="0">
                <a:solidFill>
                  <a:schemeClr val="accent2"/>
                </a:solidFill>
                <a:latin typeface="Cambria" panose="02040503050406030204" pitchFamily="18" charset="0"/>
                <a:ea typeface="Cambria" panose="02040503050406030204" pitchFamily="18" charset="0"/>
                <a:cs typeface="Calibri" panose="020F0502020204030204" pitchFamily="34" charset="0"/>
              </a:rPr>
              <a:t>Les nouveaux modes d’exercice de la Police de Proximité à Paris</a:t>
            </a:r>
            <a:r>
              <a:rPr lang="fr-FR" sz="2800" dirty="0">
                <a:latin typeface="Cambria" panose="02040503050406030204" pitchFamily="18" charset="0"/>
                <a:ea typeface="Cambria" panose="02040503050406030204" pitchFamily="18" charset="0"/>
                <a:cs typeface="Times New Roman" panose="02020603050405020304" pitchFamily="18" charset="0"/>
              </a:rPr>
              <a:t/>
            </a:r>
            <a:br>
              <a:rPr lang="fr-FR" sz="2800" dirty="0">
                <a:latin typeface="Cambria" panose="02040503050406030204" pitchFamily="18" charset="0"/>
                <a:ea typeface="Cambria" panose="02040503050406030204" pitchFamily="18" charset="0"/>
                <a:cs typeface="Times New Roman" panose="02020603050405020304" pitchFamily="18" charset="0"/>
              </a:rPr>
            </a:br>
            <a:endParaRPr lang="fr-FR" sz="2800" dirty="0">
              <a:latin typeface="Cambria" panose="02040503050406030204" pitchFamily="18" charset="0"/>
              <a:ea typeface="Cambria" panose="02040503050406030204" pitchFamily="18" charset="0"/>
            </a:endParaRPr>
          </a:p>
        </p:txBody>
      </p:sp>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42</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9" name="ZoneTexte 8">
            <a:extLst>
              <a:ext uri="{FF2B5EF4-FFF2-40B4-BE49-F238E27FC236}">
                <a16:creationId xmlns:a16="http://schemas.microsoft.com/office/drawing/2014/main" id="{ED0019C4-43C2-41A4-9225-2AAB45BB6E23}"/>
              </a:ext>
            </a:extLst>
          </p:cNvPr>
          <p:cNvSpPr txBox="1"/>
          <p:nvPr/>
        </p:nvSpPr>
        <p:spPr>
          <a:xfrm>
            <a:off x="540000" y="1356262"/>
            <a:ext cx="8603097" cy="4202176"/>
          </a:xfrm>
          <a:prstGeom prst="rect">
            <a:avLst/>
          </a:prstGeom>
          <a:noFill/>
        </p:spPr>
        <p:txBody>
          <a:bodyPr wrap="square">
            <a:spAutoFit/>
          </a:bodyPr>
          <a:lstStyle/>
          <a:p>
            <a:pPr marL="285750" indent="-285750">
              <a:lnSpc>
                <a:spcPct val="115000"/>
              </a:lnSpc>
              <a:spcAft>
                <a:spcPts val="1000"/>
              </a:spcAft>
              <a:buFont typeface="Wingdings" panose="05000000000000000000" pitchFamily="2" charset="2"/>
              <a:buChar char="q"/>
            </a:pPr>
            <a:r>
              <a:rPr lang="fr-FR" sz="2400" b="1" dirty="0" smtClean="0">
                <a:effectLst/>
                <a:latin typeface="Cambria" panose="02040503050406030204" pitchFamily="18" charset="0"/>
                <a:ea typeface="Cambria" panose="02040503050406030204" pitchFamily="18" charset="0"/>
                <a:cs typeface="Calibri" panose="020F0502020204030204" pitchFamily="34" charset="0"/>
              </a:rPr>
              <a:t> Un territoire </a:t>
            </a:r>
          </a:p>
          <a:p>
            <a:pPr>
              <a:lnSpc>
                <a:spcPct val="115000"/>
              </a:lnSpc>
              <a:spcAft>
                <a:spcPts val="1000"/>
              </a:spcAft>
            </a:pPr>
            <a:r>
              <a:rPr lang="fr-FR" sz="2400" dirty="0" smtClean="0">
                <a:effectLst/>
                <a:latin typeface="Cambria" panose="02040503050406030204" pitchFamily="18" charset="0"/>
                <a:ea typeface="Cambria" panose="02040503050406030204" pitchFamily="18" charset="0"/>
                <a:cs typeface="Calibri" panose="020F0502020204030204" pitchFamily="34" charset="0"/>
              </a:rPr>
              <a:t>La notion de police de proximité sous-entend la notion de périmètre restreint.</a:t>
            </a:r>
          </a:p>
          <a:p>
            <a:pPr marL="285750" indent="-285750">
              <a:lnSpc>
                <a:spcPct val="115000"/>
              </a:lnSpc>
              <a:spcAft>
                <a:spcPts val="1000"/>
              </a:spcAft>
              <a:buFont typeface="Wingdings" panose="05000000000000000000" pitchFamily="2" charset="2"/>
              <a:buChar char="q"/>
            </a:pPr>
            <a:r>
              <a:rPr lang="fr-FR" sz="2400" dirty="0" smtClean="0">
                <a:effectLst/>
                <a:latin typeface="Cambria" panose="02040503050406030204" pitchFamily="18" charset="0"/>
                <a:ea typeface="Cambria" panose="02040503050406030204" pitchFamily="18" charset="0"/>
                <a:cs typeface="Calibri" panose="020F0502020204030204" pitchFamily="34" charset="0"/>
              </a:rPr>
              <a:t> Différentes manières d’appréhender cette notion de périmètre :</a:t>
            </a:r>
          </a:p>
          <a:p>
            <a:pPr>
              <a:lnSpc>
                <a:spcPct val="115000"/>
              </a:lnSpc>
              <a:spcAft>
                <a:spcPts val="1000"/>
              </a:spcAft>
            </a:pPr>
            <a:r>
              <a:rPr lang="fr-FR" sz="2400" dirty="0" smtClean="0">
                <a:effectLst/>
                <a:latin typeface="Cambria" panose="02040503050406030204" pitchFamily="18" charset="0"/>
                <a:ea typeface="Cambria" panose="02040503050406030204" pitchFamily="18" charset="0"/>
                <a:cs typeface="Calibri" panose="020F0502020204030204" pitchFamily="34" charset="0"/>
              </a:rPr>
              <a:t>- Le plan tourisme à Paris (</a:t>
            </a:r>
            <a:r>
              <a:rPr lang="fr-FR" sz="2400" dirty="0" err="1" smtClean="0">
                <a:effectLst/>
                <a:latin typeface="Cambria" panose="02040503050406030204" pitchFamily="18" charset="0"/>
                <a:ea typeface="Cambria" panose="02040503050406030204" pitchFamily="18" charset="0"/>
                <a:cs typeface="Calibri" panose="020F0502020204030204" pitchFamily="34" charset="0"/>
              </a:rPr>
              <a:t>cf</a:t>
            </a:r>
            <a:r>
              <a:rPr lang="fr-FR" sz="2400" dirty="0" smtClean="0">
                <a:effectLst/>
                <a:latin typeface="Cambria" panose="02040503050406030204" pitchFamily="18" charset="0"/>
                <a:ea typeface="Cambria" panose="02040503050406030204" pitchFamily="18" charset="0"/>
                <a:cs typeface="Calibri" panose="020F0502020204030204" pitchFamily="34" charset="0"/>
              </a:rPr>
              <a:t> </a:t>
            </a:r>
            <a:r>
              <a:rPr lang="fr-FR" sz="2400" dirty="0" err="1" smtClean="0">
                <a:effectLst/>
                <a:latin typeface="Cambria" panose="02040503050406030204" pitchFamily="18" charset="0"/>
                <a:ea typeface="Cambria" panose="02040503050406030204" pitchFamily="18" charset="0"/>
                <a:cs typeface="Calibri" panose="020F0502020204030204" pitchFamily="34" charset="0"/>
              </a:rPr>
              <a:t>carto</a:t>
            </a:r>
            <a:r>
              <a:rPr lang="fr-FR" sz="2400" dirty="0" smtClean="0">
                <a:effectLst/>
                <a:latin typeface="Cambria" panose="02040503050406030204" pitchFamily="18" charset="0"/>
                <a:ea typeface="Cambria" panose="02040503050406030204" pitchFamily="18" charset="0"/>
                <a:cs typeface="Calibri" panose="020F0502020204030204" pitchFamily="34" charset="0"/>
              </a:rPr>
              <a:t> du Plan Tourisme), </a:t>
            </a:r>
          </a:p>
          <a:p>
            <a:pPr>
              <a:lnSpc>
                <a:spcPct val="115000"/>
              </a:lnSpc>
              <a:spcAft>
                <a:spcPts val="1000"/>
              </a:spcAft>
            </a:pPr>
            <a:r>
              <a:rPr lang="fr-FR" sz="2400" dirty="0" smtClean="0">
                <a:effectLst/>
                <a:latin typeface="Cambria" panose="02040503050406030204" pitchFamily="18" charset="0"/>
                <a:ea typeface="Cambria" panose="02040503050406030204" pitchFamily="18" charset="0"/>
                <a:cs typeface="Calibri" panose="020F0502020204030204" pitchFamily="34" charset="0"/>
              </a:rPr>
              <a:t>- Le plan Vigipirate et opération « Sentinelle ».</a:t>
            </a:r>
          </a:p>
          <a:p>
            <a:pPr>
              <a:lnSpc>
                <a:spcPct val="115000"/>
              </a:lnSpc>
              <a:spcAft>
                <a:spcPts val="1000"/>
              </a:spcAft>
            </a:pPr>
            <a:r>
              <a:rPr lang="fr-FR" sz="2800" dirty="0">
                <a:effectLst/>
                <a:latin typeface="+mj-lt"/>
                <a:ea typeface="Times New Roman" panose="02020603050405020304" pitchFamily="18" charset="0"/>
                <a:cs typeface="Calibri" panose="020F0502020204030204" pitchFamily="34" charset="0"/>
              </a:rPr>
              <a:t> </a:t>
            </a:r>
            <a:endParaRPr lang="fr-FR" sz="2800" dirty="0">
              <a:effectLst/>
              <a:latin typeface="+mj-lt"/>
              <a:ea typeface="Calibri" panose="020F0502020204030204" pitchFamily="34" charset="0"/>
              <a:cs typeface="Times New Roman" panose="02020603050405020304" pitchFamily="18" charset="0"/>
            </a:endParaRPr>
          </a:p>
        </p:txBody>
      </p:sp>
      <p:pic>
        <p:nvPicPr>
          <p:cNvPr id="9218" name="Picture 2" descr="Présentation du Plan 2015 pour la #sécurité des sites touristiques à #Paris  | Le blog de Colombe Brossel">
            <a:extLst>
              <a:ext uri="{FF2B5EF4-FFF2-40B4-BE49-F238E27FC236}">
                <a16:creationId xmlns:a16="http://schemas.microsoft.com/office/drawing/2014/main" id="{672B5992-3FB0-4519-8434-8B593F3699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59430" y="1356262"/>
            <a:ext cx="24003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a:extLst>
              <a:ext uri="{FF2B5EF4-FFF2-40B4-BE49-F238E27FC236}">
                <a16:creationId xmlns:a16="http://schemas.microsoft.com/office/drawing/2014/main" id="{CE77ECF0-9BE4-4E22-9C55-7F0D6AD193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55810" y="4000753"/>
            <a:ext cx="2705100" cy="1685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238130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14DB927-DE7D-4E19-BF9C-011DC8DF75CB}"/>
              </a:ext>
            </a:extLst>
          </p:cNvPr>
          <p:cNvSpPr>
            <a:spLocks noGrp="1"/>
          </p:cNvSpPr>
          <p:nvPr>
            <p:ph type="title"/>
          </p:nvPr>
        </p:nvSpPr>
        <p:spPr>
          <a:xfrm>
            <a:off x="540000" y="360000"/>
            <a:ext cx="10800000" cy="648000"/>
          </a:xfrm>
        </p:spPr>
        <p:txBody>
          <a:bodyPr>
            <a:noAutofit/>
          </a:bodyPr>
          <a:lstStyle/>
          <a:p>
            <a:r>
              <a:rPr lang="fr-FR" sz="2800" dirty="0" smtClean="0">
                <a:solidFill>
                  <a:schemeClr val="accent2"/>
                </a:solidFill>
                <a:latin typeface="Cambria" panose="02040503050406030204" pitchFamily="18" charset="0"/>
                <a:ea typeface="Cambria" panose="02040503050406030204" pitchFamily="18" charset="0"/>
                <a:cs typeface="Calibri" panose="020F0502020204030204" pitchFamily="34" charset="0"/>
              </a:rPr>
              <a:t>Proximité avec les usagers</a:t>
            </a:r>
            <a:r>
              <a:rPr lang="fr-FR" sz="2800" dirty="0">
                <a:solidFill>
                  <a:schemeClr val="accent2"/>
                </a:solidFill>
                <a:latin typeface="Cambria" panose="02040503050406030204" pitchFamily="18" charset="0"/>
                <a:ea typeface="Cambria" panose="02040503050406030204" pitchFamily="18" charset="0"/>
                <a:cs typeface="Calibri" panose="020F0502020204030204" pitchFamily="34" charset="0"/>
              </a:rPr>
              <a:t> </a:t>
            </a:r>
            <a:r>
              <a:rPr lang="fr-FR" sz="2800" dirty="0">
                <a:solidFill>
                  <a:schemeClr val="accent2"/>
                </a:solidFill>
                <a:latin typeface="Cambria" panose="02040503050406030204" pitchFamily="18" charset="0"/>
                <a:ea typeface="Cambria" panose="02040503050406030204" pitchFamily="18" charset="0"/>
                <a:cs typeface="Times New Roman" panose="02020603050405020304" pitchFamily="18" charset="0"/>
              </a:rPr>
              <a:t/>
            </a:r>
            <a:br>
              <a:rPr lang="fr-FR" sz="2800" dirty="0">
                <a:solidFill>
                  <a:schemeClr val="accent2"/>
                </a:solidFill>
                <a:latin typeface="Cambria" panose="02040503050406030204" pitchFamily="18" charset="0"/>
                <a:ea typeface="Cambria" panose="02040503050406030204" pitchFamily="18" charset="0"/>
                <a:cs typeface="Times New Roman" panose="02020603050405020304" pitchFamily="18" charset="0"/>
              </a:rPr>
            </a:br>
            <a:endParaRPr lang="fr-FR" sz="2800" dirty="0">
              <a:solidFill>
                <a:schemeClr val="accent2"/>
              </a:solidFill>
              <a:latin typeface="Cambria" panose="02040503050406030204" pitchFamily="18" charset="0"/>
              <a:ea typeface="Cambria" panose="02040503050406030204" pitchFamily="18" charset="0"/>
            </a:endParaRPr>
          </a:p>
        </p:txBody>
      </p:sp>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43</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10" name="ZoneTexte 9">
            <a:extLst>
              <a:ext uri="{FF2B5EF4-FFF2-40B4-BE49-F238E27FC236}">
                <a16:creationId xmlns:a16="http://schemas.microsoft.com/office/drawing/2014/main" id="{B69E890C-918D-4985-8EA9-5D2CAD3D287D}"/>
              </a:ext>
            </a:extLst>
          </p:cNvPr>
          <p:cNvSpPr txBox="1"/>
          <p:nvPr/>
        </p:nvSpPr>
        <p:spPr>
          <a:xfrm>
            <a:off x="3012776" y="1368066"/>
            <a:ext cx="8913974" cy="1410643"/>
          </a:xfrm>
          <a:prstGeom prst="rect">
            <a:avLst/>
          </a:prstGeom>
          <a:noFill/>
        </p:spPr>
        <p:txBody>
          <a:bodyPr wrap="square">
            <a:spAutoFit/>
          </a:bodyPr>
          <a:lstStyle/>
          <a:p>
            <a:pPr marL="457200" indent="-457200">
              <a:lnSpc>
                <a:spcPct val="115000"/>
              </a:lnSpc>
              <a:spcAft>
                <a:spcPts val="1000"/>
              </a:spcAft>
              <a:buFont typeface="Wingdings" panose="05000000000000000000" pitchFamily="2" charset="2"/>
              <a:buChar char="q"/>
            </a:pPr>
            <a:r>
              <a:rPr lang="fr-FR" sz="2000" b="1" dirty="0" smtClean="0">
                <a:latin typeface="Cambria" panose="02040503050406030204" pitchFamily="18" charset="0"/>
                <a:ea typeface="Cambria" panose="02040503050406030204" pitchFamily="18" charset="0"/>
                <a:cs typeface="Calibri" panose="020F0502020204030204" pitchFamily="34" charset="0"/>
              </a:rPr>
              <a:t>Les totems </a:t>
            </a:r>
            <a:r>
              <a:rPr lang="fr-FR" sz="2000" dirty="0" smtClean="0">
                <a:latin typeface="Cambria" panose="02040503050406030204" pitchFamily="18" charset="0"/>
                <a:ea typeface="Cambria" panose="02040503050406030204" pitchFamily="18" charset="0"/>
                <a:cs typeface="Calibri" panose="020F0502020204030204" pitchFamily="34" charset="0"/>
              </a:rPr>
              <a:t>: </a:t>
            </a:r>
            <a:r>
              <a:rPr lang="fr-FR" sz="2000" dirty="0">
                <a:latin typeface="Cambria" panose="02040503050406030204" pitchFamily="18" charset="0"/>
                <a:ea typeface="Cambria" panose="02040503050406030204" pitchFamily="18" charset="0"/>
                <a:cs typeface="Calibri" panose="020F0502020204030204" pitchFamily="34" charset="0"/>
              </a:rPr>
              <a:t>Une communication tournée vers </a:t>
            </a:r>
            <a:r>
              <a:rPr lang="fr-FR" sz="2000" dirty="0" smtClean="0">
                <a:latin typeface="Cambria" panose="02040503050406030204" pitchFamily="18" charset="0"/>
                <a:ea typeface="Cambria" panose="02040503050406030204" pitchFamily="18" charset="0"/>
                <a:cs typeface="Calibri" panose="020F0502020204030204" pitchFamily="34" charset="0"/>
              </a:rPr>
              <a:t>l’usager</a:t>
            </a:r>
            <a:endParaRPr lang="fr-FR" sz="2000" dirty="0">
              <a:latin typeface="Cambria" panose="02040503050406030204" pitchFamily="18" charset="0"/>
              <a:ea typeface="Cambria" panose="02040503050406030204" pitchFamily="18" charset="0"/>
              <a:cs typeface="Calibri" panose="020F0502020204030204" pitchFamily="34" charset="0"/>
            </a:endParaRPr>
          </a:p>
          <a:p>
            <a:pPr>
              <a:lnSpc>
                <a:spcPct val="115000"/>
              </a:lnSpc>
              <a:spcAft>
                <a:spcPts val="1000"/>
              </a:spcAft>
            </a:pPr>
            <a:r>
              <a:rPr lang="fr-FR" sz="2000" dirty="0" smtClean="0">
                <a:effectLst/>
                <a:latin typeface="Cambria" panose="02040503050406030204" pitchFamily="18" charset="0"/>
                <a:ea typeface="Cambria" panose="02040503050406030204" pitchFamily="18" charset="0"/>
                <a:cs typeface="Calibri" panose="020F0502020204030204" pitchFamily="34" charset="0"/>
              </a:rPr>
              <a:t>Point </a:t>
            </a:r>
            <a:r>
              <a:rPr lang="fr-FR" sz="2000" dirty="0">
                <a:effectLst/>
                <a:latin typeface="Cambria" panose="02040503050406030204" pitchFamily="18" charset="0"/>
                <a:ea typeface="Cambria" panose="02040503050406030204" pitchFamily="18" charset="0"/>
                <a:cs typeface="Calibri" panose="020F0502020204030204" pitchFamily="34" charset="0"/>
              </a:rPr>
              <a:t>de rencontre = </a:t>
            </a:r>
            <a:r>
              <a:rPr lang="fr-FR" sz="2000" i="1" u="sng" dirty="0">
                <a:effectLst/>
                <a:latin typeface="Cambria" panose="02040503050406030204" pitchFamily="18" charset="0"/>
                <a:ea typeface="Cambria" panose="02040503050406030204" pitchFamily="18" charset="0"/>
                <a:cs typeface="Calibri" panose="020F0502020204030204" pitchFamily="34" charset="0"/>
              </a:rPr>
              <a:t>une rencontre entre un usager et un policier</a:t>
            </a:r>
            <a:r>
              <a:rPr lang="fr-FR" sz="2000" dirty="0">
                <a:effectLst/>
                <a:latin typeface="Cambria" panose="02040503050406030204" pitchFamily="18" charset="0"/>
                <a:ea typeface="Cambria" panose="02040503050406030204" pitchFamily="18" charset="0"/>
                <a:cs typeface="Calibri" panose="020F0502020204030204" pitchFamily="34" charset="0"/>
              </a:rPr>
              <a:t> </a:t>
            </a:r>
            <a:endParaRPr lang="fr-FR" sz="2000" dirty="0" smtClean="0">
              <a:effectLst/>
              <a:latin typeface="Cambria" panose="02040503050406030204" pitchFamily="18" charset="0"/>
              <a:ea typeface="Cambria" panose="02040503050406030204" pitchFamily="18" charset="0"/>
              <a:cs typeface="Calibri" panose="020F0502020204030204" pitchFamily="34" charset="0"/>
            </a:endParaRPr>
          </a:p>
          <a:p>
            <a:pPr>
              <a:lnSpc>
                <a:spcPct val="115000"/>
              </a:lnSpc>
              <a:spcAft>
                <a:spcPts val="1000"/>
              </a:spcAft>
            </a:pPr>
            <a:r>
              <a:rPr lang="fr-FR" sz="2000" dirty="0" smtClean="0">
                <a:effectLst/>
                <a:latin typeface="Cambria" panose="02040503050406030204" pitchFamily="18" charset="0"/>
                <a:ea typeface="Cambria" panose="02040503050406030204" pitchFamily="18" charset="0"/>
                <a:cs typeface="Calibri" panose="020F0502020204030204" pitchFamily="34" charset="0"/>
              </a:rPr>
              <a:t>Un </a:t>
            </a:r>
            <a:r>
              <a:rPr lang="fr-FR" sz="2000" dirty="0">
                <a:effectLst/>
                <a:latin typeface="Cambria" panose="02040503050406030204" pitchFamily="18" charset="0"/>
                <a:ea typeface="Cambria" panose="02040503050406030204" pitchFamily="18" charset="0"/>
                <a:cs typeface="Calibri" panose="020F0502020204030204" pitchFamily="34" charset="0"/>
              </a:rPr>
              <a:t>rapport individualisé de </a:t>
            </a:r>
            <a:r>
              <a:rPr lang="fr-FR" sz="2000" dirty="0" smtClean="0">
                <a:effectLst/>
                <a:latin typeface="Cambria" panose="02040503050406030204" pitchFamily="18" charset="0"/>
                <a:ea typeface="Cambria" panose="02040503050406030204" pitchFamily="18" charset="0"/>
                <a:cs typeface="Calibri" panose="020F0502020204030204" pitchFamily="34" charset="0"/>
              </a:rPr>
              <a:t>proximité</a:t>
            </a:r>
            <a:endParaRPr lang="fr-FR" sz="2000" dirty="0">
              <a:effectLst/>
              <a:latin typeface="Cambria" panose="02040503050406030204" pitchFamily="18" charset="0"/>
              <a:ea typeface="Cambria" panose="02040503050406030204" pitchFamily="18" charset="0"/>
              <a:cs typeface="Times New Roman" panose="02020603050405020304" pitchFamily="18" charset="0"/>
            </a:endParaRPr>
          </a:p>
        </p:txBody>
      </p:sp>
      <p:pic>
        <p:nvPicPr>
          <p:cNvPr id="11266" name="Picture 2" descr="Cy Jung, écrivaine on Twitter: &quot;Bonjour @cbrossel. Je découvre cet article  sur les totems pour rencontrer la DPSP. Malheureusement, la carte n'est pas  lisible pour la malvoyante que je suis (#BasseVision) et">
            <a:extLst>
              <a:ext uri="{FF2B5EF4-FFF2-40B4-BE49-F238E27FC236}">
                <a16:creationId xmlns:a16="http://schemas.microsoft.com/office/drawing/2014/main" id="{CEA6E7A3-740A-4AC2-9B7E-939BF60C5F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5698" y="3926657"/>
            <a:ext cx="3071052" cy="2173891"/>
          </a:xfrm>
          <a:prstGeom prst="rect">
            <a:avLst/>
          </a:prstGeom>
          <a:noFill/>
          <a:extLst>
            <a:ext uri="{909E8E84-426E-40DD-AFC4-6F175D3DCCD1}">
              <a14:hiddenFill xmlns:a14="http://schemas.microsoft.com/office/drawing/2010/main">
                <a:solidFill>
                  <a:srgbClr val="FFFFFF"/>
                </a:solidFill>
              </a14:hiddenFill>
            </a:ext>
          </a:extLst>
        </p:spPr>
      </p:pic>
      <p:pic>
        <p:nvPicPr>
          <p:cNvPr id="15" name="Image 14">
            <a:extLst>
              <a:ext uri="{FF2B5EF4-FFF2-40B4-BE49-F238E27FC236}">
                <a16:creationId xmlns:a16="http://schemas.microsoft.com/office/drawing/2014/main" id="{00773788-5684-4482-8C21-1F8840A6E363}"/>
              </a:ext>
            </a:extLst>
          </p:cNvPr>
          <p:cNvPicPr/>
          <p:nvPr/>
        </p:nvPicPr>
        <p:blipFill rotWithShape="1">
          <a:blip r:embed="rId3"/>
          <a:srcRect l="36760" r="27702" b="15904"/>
          <a:stretch/>
        </p:blipFill>
        <p:spPr>
          <a:xfrm>
            <a:off x="628612" y="1345791"/>
            <a:ext cx="1780760" cy="1833680"/>
          </a:xfrm>
          <a:prstGeom prst="rect">
            <a:avLst/>
          </a:prstGeom>
        </p:spPr>
      </p:pic>
      <p:sp>
        <p:nvSpPr>
          <p:cNvPr id="11" name="Espace réservé du texte 3"/>
          <p:cNvSpPr>
            <a:spLocks noGrp="1"/>
          </p:cNvSpPr>
          <p:nvPr>
            <p:ph type="body" sz="quarter" idx="13"/>
          </p:nvPr>
        </p:nvSpPr>
        <p:spPr>
          <a:xfrm>
            <a:off x="430326" y="3696333"/>
            <a:ext cx="8179102" cy="2404215"/>
          </a:xfrm>
        </p:spPr>
        <p:txBody>
          <a:bodyPr/>
          <a:lstStyle/>
          <a:p>
            <a:pPr marL="342900" lvl="0" indent="-342900">
              <a:lnSpc>
                <a:spcPct val="115000"/>
              </a:lnSpc>
              <a:buFont typeface="Wingdings" panose="05000000000000000000" pitchFamily="2" charset="2"/>
              <a:buChar char="q"/>
            </a:pPr>
            <a:r>
              <a:rPr lang="fr-FR" dirty="0">
                <a:latin typeface="Cambria" panose="02040503050406030204" pitchFamily="18" charset="0"/>
                <a:ea typeface="Cambria" panose="02040503050406030204" pitchFamily="18" charset="0"/>
                <a:cs typeface="Calibri" panose="020F0502020204030204" pitchFamily="34" charset="0"/>
              </a:rPr>
              <a:t>DMR </a:t>
            </a:r>
            <a:r>
              <a:rPr lang="fr-FR" b="0" dirty="0" smtClean="0">
                <a:latin typeface="Cambria" panose="02040503050406030204" pitchFamily="18" charset="0"/>
                <a:ea typeface="Cambria" panose="02040503050406030204" pitchFamily="18" charset="0"/>
                <a:cs typeface="Calibri" panose="020F0502020204030204" pitchFamily="34" charset="0"/>
              </a:rPr>
              <a:t>: L’application DansMaRue permet de signaler les incidents VP.</a:t>
            </a:r>
          </a:p>
          <a:p>
            <a:pPr marL="342900" lvl="0" indent="-342900">
              <a:lnSpc>
                <a:spcPct val="115000"/>
              </a:lnSpc>
              <a:buFont typeface="Wingdings" panose="05000000000000000000" pitchFamily="2" charset="2"/>
              <a:buChar char="q"/>
            </a:pPr>
            <a:endParaRPr lang="fr-FR" b="0" dirty="0" smtClean="0">
              <a:latin typeface="Cambria" panose="02040503050406030204" pitchFamily="18" charset="0"/>
              <a:ea typeface="Cambria" panose="02040503050406030204" pitchFamily="18" charset="0"/>
              <a:cs typeface="Calibri" panose="020F0502020204030204" pitchFamily="34" charset="0"/>
            </a:endParaRPr>
          </a:p>
          <a:p>
            <a:pPr marL="342900" lvl="0" indent="-342900">
              <a:lnSpc>
                <a:spcPct val="115000"/>
              </a:lnSpc>
              <a:buFont typeface="Wingdings" panose="05000000000000000000" pitchFamily="2" charset="2"/>
              <a:buChar char="q"/>
            </a:pPr>
            <a:r>
              <a:rPr lang="fr-FR" dirty="0" smtClean="0">
                <a:latin typeface="Cambria" panose="02040503050406030204" pitchFamily="18" charset="0"/>
                <a:ea typeface="Cambria" panose="02040503050406030204" pitchFamily="18" charset="0"/>
                <a:cs typeface="Calibri" panose="020F0502020204030204" pitchFamily="34" charset="0"/>
              </a:rPr>
              <a:t>Service de </a:t>
            </a:r>
            <a:r>
              <a:rPr lang="fr-FR" dirty="0">
                <a:latin typeface="Cambria" panose="02040503050406030204" pitchFamily="18" charset="0"/>
                <a:ea typeface="Cambria" panose="02040503050406030204" pitchFamily="18" charset="0"/>
                <a:cs typeface="Calibri" panose="020F0502020204030204" pitchFamily="34" charset="0"/>
              </a:rPr>
              <a:t>relation usagers</a:t>
            </a:r>
            <a:r>
              <a:rPr lang="fr-FR" b="0" dirty="0">
                <a:latin typeface="Cambria" panose="02040503050406030204" pitchFamily="18" charset="0"/>
                <a:ea typeface="Cambria" panose="02040503050406030204" pitchFamily="18" charset="0"/>
                <a:cs typeface="Calibri" panose="020F0502020204030204" pitchFamily="34" charset="0"/>
              </a:rPr>
              <a:t> : </a:t>
            </a:r>
            <a:r>
              <a:rPr lang="fr-FR" b="0" dirty="0" smtClean="0">
                <a:latin typeface="Cambria" panose="02040503050406030204" pitchFamily="18" charset="0"/>
                <a:ea typeface="Cambria" panose="02040503050406030204" pitchFamily="18" charset="0"/>
                <a:cs typeface="Calibri" panose="020F0502020204030204" pitchFamily="34" charset="0"/>
              </a:rPr>
              <a:t>Mails, Courrier, accueil en mairie.</a:t>
            </a:r>
          </a:p>
          <a:p>
            <a:pPr marL="342900" lvl="0" indent="-342900">
              <a:lnSpc>
                <a:spcPct val="115000"/>
              </a:lnSpc>
              <a:buFont typeface="Wingdings" panose="05000000000000000000" pitchFamily="2" charset="2"/>
              <a:buChar char="q"/>
            </a:pPr>
            <a:endParaRPr lang="fr-FR" b="0" dirty="0">
              <a:latin typeface="Cambria" panose="02040503050406030204" pitchFamily="18" charset="0"/>
              <a:ea typeface="Cambria" panose="02040503050406030204" pitchFamily="18" charset="0"/>
              <a:cs typeface="Calibri" panose="020F0502020204030204" pitchFamily="34" charset="0"/>
            </a:endParaRPr>
          </a:p>
          <a:p>
            <a:pPr marL="342900" lvl="0" indent="-342900">
              <a:lnSpc>
                <a:spcPct val="115000"/>
              </a:lnSpc>
              <a:buFont typeface="Wingdings" panose="05000000000000000000" pitchFamily="2" charset="2"/>
              <a:buChar char="q"/>
            </a:pPr>
            <a:r>
              <a:rPr lang="fr-FR" dirty="0">
                <a:latin typeface="Cambria" panose="02040503050406030204" pitchFamily="18" charset="0"/>
                <a:ea typeface="Cambria" panose="02040503050406030204" pitchFamily="18" charset="0"/>
                <a:cs typeface="Calibri" panose="020F0502020204030204" pitchFamily="34" charset="0"/>
              </a:rPr>
              <a:t>Réseaux </a:t>
            </a:r>
            <a:r>
              <a:rPr lang="fr-FR" dirty="0" smtClean="0">
                <a:latin typeface="Cambria" panose="02040503050406030204" pitchFamily="18" charset="0"/>
                <a:ea typeface="Cambria" panose="02040503050406030204" pitchFamily="18" charset="0"/>
                <a:cs typeface="Calibri" panose="020F0502020204030204" pitchFamily="34" charset="0"/>
              </a:rPr>
              <a:t>sociaux </a:t>
            </a:r>
            <a:r>
              <a:rPr lang="fr-FR" b="0" dirty="0" smtClean="0">
                <a:latin typeface="Cambria" panose="02040503050406030204" pitchFamily="18" charset="0"/>
                <a:ea typeface="Cambria" panose="02040503050406030204" pitchFamily="18" charset="0"/>
                <a:cs typeface="Calibri" panose="020F0502020204030204" pitchFamily="34" charset="0"/>
              </a:rPr>
              <a:t>: compte twitter des mairie ardt ou DICOM.</a:t>
            </a:r>
            <a:endParaRPr lang="fr-FR" b="0" dirty="0">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106494331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4" name="Picture 4" descr="Pour plus de tranquilité dans un espace urbain... de Michel Felkay - Grand  Format - Livre - Decitre">
            <a:extLst>
              <a:ext uri="{FF2B5EF4-FFF2-40B4-BE49-F238E27FC236}">
                <a16:creationId xmlns:a16="http://schemas.microsoft.com/office/drawing/2014/main" id="{139C9FF8-41AA-4C6F-9BAE-071614C77C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2594" y="2080645"/>
            <a:ext cx="2291899" cy="3656738"/>
          </a:xfrm>
          <a:prstGeom prst="rect">
            <a:avLst/>
          </a:prstGeom>
          <a:noFill/>
          <a:extLst>
            <a:ext uri="{909E8E84-426E-40DD-AFC4-6F175D3DCCD1}">
              <a14:hiddenFill xmlns:a14="http://schemas.microsoft.com/office/drawing/2010/main">
                <a:solidFill>
                  <a:srgbClr val="FFFFFF"/>
                </a:solidFill>
              </a14:hiddenFill>
            </a:ext>
          </a:extLst>
        </p:spPr>
      </p:pic>
      <p:sp>
        <p:nvSpPr>
          <p:cNvPr id="20"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3486" y="6785790"/>
            <a:ext cx="429596" cy="252000"/>
          </a:xfrm>
          <a:prstGeom prst="rect">
            <a:avLst/>
          </a:prstGeom>
        </p:spPr>
        <p:txBody>
          <a:bodyPr vert="horz" lIns="91440" tIns="45720" rIns="91440" bIns="45720" rtlCol="0" anchor="ctr">
            <a:noAutofit/>
          </a:bodyPr>
          <a:lstStyle>
            <a:lvl1pPr algn="r">
              <a:lnSpc>
                <a:spcPct val="115000"/>
              </a:lnSpc>
              <a:defRPr sz="1000" b="1">
                <a:solidFill>
                  <a:schemeClr val="tx1"/>
                </a:solidFill>
              </a:defRPr>
            </a:lvl1pPr>
          </a:lstStyle>
          <a:p>
            <a:fld id="{975A587B-5814-4D9B-9598-FE9CB954CB01}" type="slidenum">
              <a:rPr lang="fr-FR" sz="1200" smtClean="0">
                <a:latin typeface="Montserrat" pitchFamily="50" charset="0"/>
              </a:rPr>
              <a:pPr/>
              <a:t>44</a:t>
            </a:fld>
            <a:endParaRPr lang="fr-FR" sz="1200" dirty="0">
              <a:latin typeface="Montserrat" pitchFamily="50" charset="0"/>
            </a:endParaRPr>
          </a:p>
        </p:txBody>
      </p:sp>
      <p:sp>
        <p:nvSpPr>
          <p:cNvPr id="17"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6096000" y="6381328"/>
            <a:ext cx="5752197" cy="252000"/>
          </a:xfrm>
          <a:prstGeom prst="rect">
            <a:avLst/>
          </a:prstGeom>
        </p:spPr>
        <p:txBody>
          <a:bodyPr vert="horz" lIns="91440" tIns="45720" rIns="91440" bIns="45720" rtlCol="0" anchor="ctr">
            <a:noAutofit/>
          </a:bodyPr>
          <a:lstStyle>
            <a:lvl1pPr algn="r">
              <a:lnSpc>
                <a:spcPct val="115000"/>
              </a:lnSpc>
              <a:defRPr sz="1000" b="0">
                <a:solidFill>
                  <a:schemeClr val="tx1"/>
                </a:solidFill>
              </a:defRPr>
            </a:lvl1pPr>
          </a:lstStyle>
          <a:p>
            <a:r>
              <a:rPr lang="fr-FR" sz="1200" smtClean="0">
                <a:latin typeface="Montserrat" pitchFamily="50" charset="0"/>
              </a:rPr>
              <a:t>Ecole des Métiers de la Sécurité - Septembre 2022</a:t>
            </a:r>
            <a:endParaRPr lang="fr-FR" sz="1200" dirty="0">
              <a:latin typeface="Montserrat" pitchFamily="50" charset="0"/>
            </a:endParaRPr>
          </a:p>
        </p:txBody>
      </p:sp>
      <p:sp>
        <p:nvSpPr>
          <p:cNvPr id="9" name="ZoneTexte 8">
            <a:extLst>
              <a:ext uri="{FF2B5EF4-FFF2-40B4-BE49-F238E27FC236}">
                <a16:creationId xmlns:a16="http://schemas.microsoft.com/office/drawing/2014/main" id="{ED0019C4-43C2-41A4-9225-2AAB45BB6E23}"/>
              </a:ext>
            </a:extLst>
          </p:cNvPr>
          <p:cNvSpPr txBox="1"/>
          <p:nvPr/>
        </p:nvSpPr>
        <p:spPr>
          <a:xfrm>
            <a:off x="461253" y="1169856"/>
            <a:ext cx="9148116" cy="1990288"/>
          </a:xfrm>
          <a:prstGeom prst="rect">
            <a:avLst/>
          </a:prstGeom>
          <a:noFill/>
        </p:spPr>
        <p:txBody>
          <a:bodyPr wrap="square">
            <a:spAutoFit/>
          </a:bodyPr>
          <a:lstStyle/>
          <a:p>
            <a:pPr>
              <a:lnSpc>
                <a:spcPct val="115000"/>
              </a:lnSpc>
              <a:spcAft>
                <a:spcPts val="1000"/>
              </a:spcAft>
            </a:pPr>
            <a:r>
              <a:rPr lang="fr-FR" sz="2000" dirty="0" smtClean="0">
                <a:latin typeface="Cambria" panose="02040503050406030204" pitchFamily="18" charset="0"/>
                <a:ea typeface="Cambria" panose="02040503050406030204" pitchFamily="18" charset="0"/>
                <a:cs typeface="Calibri" panose="020F0502020204030204" pitchFamily="34" charset="0"/>
              </a:rPr>
              <a:t>La </a:t>
            </a:r>
            <a:r>
              <a:rPr lang="fr-FR" sz="2000" dirty="0">
                <a:latin typeface="Cambria" panose="02040503050406030204" pitchFamily="18" charset="0"/>
                <a:ea typeface="Cambria" panose="02040503050406030204" pitchFamily="18" charset="0"/>
                <a:cs typeface="Calibri" panose="020F0502020204030204" pitchFamily="34" charset="0"/>
              </a:rPr>
              <a:t>notion de police de proximité sous-entend la notion de périmètre restreint</a:t>
            </a:r>
            <a:r>
              <a:rPr lang="fr-FR" sz="2000" dirty="0" smtClean="0">
                <a:latin typeface="Cambria" panose="02040503050406030204" pitchFamily="18" charset="0"/>
                <a:ea typeface="Cambria" panose="02040503050406030204" pitchFamily="18" charset="0"/>
                <a:cs typeface="Calibri" panose="020F0502020204030204" pitchFamily="34" charset="0"/>
              </a:rPr>
              <a:t>.</a:t>
            </a: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marL="342900" lvl="0" indent="-342900">
              <a:lnSpc>
                <a:spcPct val="115000"/>
              </a:lnSpc>
              <a:buFont typeface="Wingdings" panose="05000000000000000000" pitchFamily="2" charset="2"/>
              <a:buChar char="q"/>
            </a:pPr>
            <a:r>
              <a:rPr lang="fr-FR" sz="2000" b="1" dirty="0">
                <a:effectLst/>
                <a:latin typeface="Cambria" panose="02040503050406030204" pitchFamily="18" charset="0"/>
                <a:ea typeface="Cambria" panose="02040503050406030204" pitchFamily="18" charset="0"/>
                <a:cs typeface="Calibri" panose="020F0502020204030204" pitchFamily="34" charset="0"/>
              </a:rPr>
              <a:t>Les arrondissements et les conseils de quartiers : </a:t>
            </a:r>
            <a:endParaRPr lang="fr-FR" sz="2000" b="1" dirty="0" smtClean="0">
              <a:effectLst/>
              <a:latin typeface="Cambria" panose="02040503050406030204" pitchFamily="18" charset="0"/>
              <a:ea typeface="Cambria" panose="02040503050406030204" pitchFamily="18" charset="0"/>
              <a:cs typeface="Calibri" panose="020F0502020204030204" pitchFamily="34" charset="0"/>
            </a:endParaRPr>
          </a:p>
          <a:p>
            <a:pPr lvl="1">
              <a:lnSpc>
                <a:spcPct val="115000"/>
              </a:lnSpc>
            </a:pPr>
            <a:r>
              <a:rPr lang="fr-FR" sz="2000" dirty="0" smtClean="0">
                <a:effectLst/>
                <a:latin typeface="Cambria" panose="02040503050406030204" pitchFamily="18" charset="0"/>
                <a:ea typeface="Cambria" panose="02040503050406030204" pitchFamily="18" charset="0"/>
                <a:cs typeface="Calibri" panose="020F0502020204030204" pitchFamily="34" charset="0"/>
              </a:rPr>
              <a:t>124 </a:t>
            </a:r>
            <a:r>
              <a:rPr lang="fr-FR" sz="2000" dirty="0">
                <a:effectLst/>
                <a:latin typeface="Cambria" panose="02040503050406030204" pitchFamily="18" charset="0"/>
                <a:ea typeface="Cambria" panose="02040503050406030204" pitchFamily="18" charset="0"/>
                <a:cs typeface="Calibri" panose="020F0502020204030204" pitchFamily="34" charset="0"/>
              </a:rPr>
              <a:t>conseils de quartier à Paris </a:t>
            </a:r>
            <a:endParaRPr lang="fr-FR" sz="2000" dirty="0" smtClean="0">
              <a:effectLst/>
              <a:latin typeface="Cambria" panose="02040503050406030204" pitchFamily="18" charset="0"/>
              <a:ea typeface="Cambria" panose="02040503050406030204" pitchFamily="18" charset="0"/>
              <a:cs typeface="Calibri" panose="020F0502020204030204" pitchFamily="34" charset="0"/>
            </a:endParaRPr>
          </a:p>
          <a:p>
            <a:pPr lvl="1">
              <a:lnSpc>
                <a:spcPct val="115000"/>
              </a:lnSpc>
            </a:pPr>
            <a:endParaRPr lang="fr-FR" sz="2000" dirty="0">
              <a:effectLst/>
              <a:latin typeface="Cambria" panose="02040503050406030204" pitchFamily="18" charset="0"/>
              <a:ea typeface="Cambria" panose="02040503050406030204" pitchFamily="18" charset="0"/>
              <a:cs typeface="Calibri" panose="020F0502020204030204" pitchFamily="34" charset="0"/>
            </a:endParaRPr>
          </a:p>
          <a:p>
            <a:pPr marL="342900" lvl="0" indent="-342900">
              <a:lnSpc>
                <a:spcPct val="115000"/>
              </a:lnSpc>
              <a:buFont typeface="Wingdings" panose="05000000000000000000" pitchFamily="2" charset="2"/>
              <a:buChar char="q"/>
            </a:pPr>
            <a:r>
              <a:rPr lang="fr-FR" sz="2000" b="1" dirty="0">
                <a:effectLst/>
                <a:latin typeface="Cambria" panose="02040503050406030204" pitchFamily="18" charset="0"/>
                <a:ea typeface="Cambria" panose="02040503050406030204" pitchFamily="18" charset="0"/>
                <a:cs typeface="Calibri" panose="020F0502020204030204" pitchFamily="34" charset="0"/>
              </a:rPr>
              <a:t>La notion d’hyper-proximité : « </a:t>
            </a:r>
            <a:r>
              <a:rPr lang="fr-FR" sz="2000" b="1" dirty="0" smtClean="0">
                <a:effectLst/>
                <a:latin typeface="Cambria" panose="02040503050406030204" pitchFamily="18" charset="0"/>
                <a:ea typeface="Cambria" panose="02040503050406030204" pitchFamily="18" charset="0"/>
                <a:cs typeface="Calibri" panose="020F0502020204030204" pitchFamily="34" charset="0"/>
              </a:rPr>
              <a:t>Le </a:t>
            </a:r>
            <a:r>
              <a:rPr lang="fr-FR" sz="2000" b="1" dirty="0">
                <a:effectLst/>
                <a:latin typeface="Cambria" panose="02040503050406030204" pitchFamily="18" charset="0"/>
                <a:ea typeface="Cambria" panose="02040503050406030204" pitchFamily="18" charset="0"/>
                <a:cs typeface="Calibri" panose="020F0502020204030204" pitchFamily="34" charset="0"/>
              </a:rPr>
              <a:t>Paris du quart d’heure </a:t>
            </a:r>
            <a:r>
              <a:rPr lang="fr-FR" sz="2000" b="1" dirty="0" smtClean="0">
                <a:effectLst/>
                <a:latin typeface="Cambria" panose="02040503050406030204" pitchFamily="18" charset="0"/>
                <a:ea typeface="Cambria" panose="02040503050406030204" pitchFamily="18" charset="0"/>
                <a:cs typeface="Calibri" panose="020F0502020204030204" pitchFamily="34" charset="0"/>
              </a:rPr>
              <a:t>»</a:t>
            </a:r>
            <a:endParaRPr lang="fr-FR" sz="2000" dirty="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6" name="Titre 4">
            <a:extLst>
              <a:ext uri="{FF2B5EF4-FFF2-40B4-BE49-F238E27FC236}">
                <a16:creationId xmlns:a16="http://schemas.microsoft.com/office/drawing/2014/main" id="{7C77F46E-1A42-4576-A1C5-E2A0DF006E88}"/>
              </a:ext>
            </a:extLst>
          </p:cNvPr>
          <p:cNvSpPr>
            <a:spLocks noGrp="1"/>
          </p:cNvSpPr>
          <p:nvPr>
            <p:ph type="title"/>
          </p:nvPr>
        </p:nvSpPr>
        <p:spPr>
          <a:xfrm>
            <a:off x="539750" y="360363"/>
            <a:ext cx="10799763" cy="647700"/>
          </a:xfrm>
        </p:spPr>
        <p:txBody>
          <a:bodyPr>
            <a:noAutofit/>
          </a:bodyPr>
          <a:lstStyle/>
          <a:p>
            <a:r>
              <a:rPr lang="fr-FR" sz="2800" dirty="0">
                <a:solidFill>
                  <a:schemeClr val="accent2"/>
                </a:solidFill>
                <a:latin typeface="Calibri" panose="020F0502020204030204" pitchFamily="34" charset="0"/>
                <a:ea typeface="Calibri" panose="020F0502020204030204" pitchFamily="34" charset="0"/>
                <a:cs typeface="Calibri" panose="020F0502020204030204" pitchFamily="34" charset="0"/>
              </a:rPr>
              <a:t/>
            </a:r>
            <a:br>
              <a:rPr lang="fr-FR" sz="2800" dirty="0">
                <a:solidFill>
                  <a:schemeClr val="accent2"/>
                </a:solidFill>
                <a:latin typeface="Calibri" panose="020F0502020204030204" pitchFamily="34" charset="0"/>
                <a:ea typeface="Calibri" panose="020F0502020204030204" pitchFamily="34" charset="0"/>
                <a:cs typeface="Calibri" panose="020F0502020204030204" pitchFamily="34" charset="0"/>
              </a:rPr>
            </a:br>
            <a:endParaRPr lang="fr-FR" sz="2800" dirty="0">
              <a:solidFill>
                <a:schemeClr val="accent2"/>
              </a:solidFill>
              <a:latin typeface="Calibri" panose="020F0502020204030204" pitchFamily="34" charset="0"/>
              <a:cs typeface="Calibri" panose="020F0502020204030204" pitchFamily="34" charset="0"/>
            </a:endParaRPr>
          </a:p>
        </p:txBody>
      </p:sp>
      <p:sp>
        <p:nvSpPr>
          <p:cNvPr id="10" name="ZoneTexte 9">
            <a:extLst>
              <a:ext uri="{FF2B5EF4-FFF2-40B4-BE49-F238E27FC236}">
                <a16:creationId xmlns:a16="http://schemas.microsoft.com/office/drawing/2014/main" id="{3F396280-F41C-4524-929B-7C26009BD092}"/>
              </a:ext>
            </a:extLst>
          </p:cNvPr>
          <p:cNvSpPr txBox="1"/>
          <p:nvPr/>
        </p:nvSpPr>
        <p:spPr>
          <a:xfrm>
            <a:off x="689318" y="3909014"/>
            <a:ext cx="7793074" cy="707886"/>
          </a:xfrm>
          <a:prstGeom prst="rect">
            <a:avLst/>
          </a:prstGeom>
          <a:noFill/>
        </p:spPr>
        <p:txBody>
          <a:bodyPr wrap="square">
            <a:spAutoFit/>
          </a:bodyPr>
          <a:lstStyle/>
          <a:p>
            <a:r>
              <a:rPr lang="fr-FR" sz="2000" dirty="0">
                <a:effectLst/>
                <a:latin typeface="Cambria" panose="02040503050406030204" pitchFamily="18" charset="0"/>
                <a:ea typeface="Cambria" panose="02040503050406030204" pitchFamily="18" charset="0"/>
                <a:cs typeface="Calibri" panose="020F0502020204030204" pitchFamily="34" charset="0"/>
              </a:rPr>
              <a:t>Michel </a:t>
            </a:r>
            <a:r>
              <a:rPr lang="fr-FR" sz="2000" b="1" dirty="0" err="1">
                <a:effectLst/>
                <a:latin typeface="Cambria" panose="02040503050406030204" pitchFamily="18" charset="0"/>
                <a:ea typeface="Cambria" panose="02040503050406030204" pitchFamily="18" charset="0"/>
                <a:cs typeface="Calibri" panose="020F0502020204030204" pitchFamily="34" charset="0"/>
              </a:rPr>
              <a:t>Felkay</a:t>
            </a:r>
            <a:r>
              <a:rPr lang="fr-FR" sz="2000" dirty="0">
                <a:effectLst/>
                <a:latin typeface="Cambria" panose="02040503050406030204" pitchFamily="18" charset="0"/>
                <a:ea typeface="Cambria" panose="02040503050406030204" pitchFamily="18" charset="0"/>
                <a:cs typeface="Calibri" panose="020F0502020204030204" pitchFamily="34" charset="0"/>
              </a:rPr>
              <a:t> dans son ouvrage: « </a:t>
            </a:r>
            <a:r>
              <a:rPr lang="fr-FR" sz="2000" b="1" dirty="0">
                <a:effectLst/>
                <a:latin typeface="Cambria" panose="02040503050406030204" pitchFamily="18" charset="0"/>
                <a:ea typeface="Cambria" panose="02040503050406030204" pitchFamily="18" charset="0"/>
                <a:cs typeface="Calibri" panose="020F0502020204030204" pitchFamily="34" charset="0"/>
              </a:rPr>
              <a:t>C’est pourquoi Paris doit être reconsidéré en petits villages de proximité</a:t>
            </a:r>
            <a:r>
              <a:rPr lang="fr-FR" sz="2000" dirty="0">
                <a:effectLst/>
                <a:latin typeface="Cambria" panose="02040503050406030204" pitchFamily="18" charset="0"/>
                <a:ea typeface="Cambria" panose="02040503050406030204" pitchFamily="18" charset="0"/>
                <a:cs typeface="Calibri" panose="020F0502020204030204" pitchFamily="34" charset="0"/>
              </a:rPr>
              <a:t> </a:t>
            </a:r>
            <a:r>
              <a:rPr lang="fr-FR" sz="2000" dirty="0" smtClean="0">
                <a:effectLst/>
                <a:latin typeface="Cambria" panose="02040503050406030204" pitchFamily="18" charset="0"/>
                <a:ea typeface="Cambria" panose="02040503050406030204" pitchFamily="18" charset="0"/>
                <a:cs typeface="Calibri" panose="020F0502020204030204" pitchFamily="34" charset="0"/>
              </a:rPr>
              <a:t>».</a:t>
            </a:r>
            <a:endParaRPr lang="fr-FR" sz="2000" dirty="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8" name="Titre 4">
            <a:extLst>
              <a:ext uri="{FF2B5EF4-FFF2-40B4-BE49-F238E27FC236}">
                <a16:creationId xmlns:a16="http://schemas.microsoft.com/office/drawing/2014/main" id="{B14DB927-DE7D-4E19-BF9C-011DC8DF75CB}"/>
              </a:ext>
            </a:extLst>
          </p:cNvPr>
          <p:cNvSpPr txBox="1">
            <a:spLocks/>
          </p:cNvSpPr>
          <p:nvPr/>
        </p:nvSpPr>
        <p:spPr>
          <a:xfrm>
            <a:off x="540000" y="360000"/>
            <a:ext cx="10800000" cy="648000"/>
          </a:xfrm>
          <a:prstGeom prst="rect">
            <a:avLst/>
          </a:prstGeom>
        </p:spPr>
        <p:txBody>
          <a:bodyPr vert="horz" lIns="91440" tIns="45720" rIns="91440" bIns="45720" rtlCol="0" anchor="t">
            <a:noAutofit/>
          </a:bodyPr>
          <a:lstStyle>
            <a:lvl1pPr algn="l" defTabSz="914400" rtl="0" eaLnBrk="1" latinLnBrk="0" hangingPunct="1">
              <a:lnSpc>
                <a:spcPct val="115000"/>
              </a:lnSpc>
              <a:spcBef>
                <a:spcPct val="0"/>
              </a:spcBef>
              <a:buNone/>
              <a:defRPr sz="2200" b="1" kern="1200">
                <a:solidFill>
                  <a:schemeClr val="tx1"/>
                </a:solidFill>
                <a:latin typeface="+mj-lt"/>
                <a:ea typeface="+mj-ea"/>
                <a:cs typeface="+mj-cs"/>
              </a:defRPr>
            </a:lvl1pPr>
          </a:lstStyle>
          <a:p>
            <a:r>
              <a:rPr lang="fr-FR" sz="2800" dirty="0" smtClean="0">
                <a:solidFill>
                  <a:schemeClr val="accent2"/>
                </a:solidFill>
                <a:latin typeface="Cambria" panose="02040503050406030204" pitchFamily="18" charset="0"/>
                <a:ea typeface="Cambria" panose="02040503050406030204" pitchFamily="18" charset="0"/>
                <a:cs typeface="Calibri" panose="020F0502020204030204" pitchFamily="34" charset="0"/>
              </a:rPr>
              <a:t>Proximité avec les usagers </a:t>
            </a:r>
            <a:r>
              <a:rPr lang="fr-FR" sz="2800" dirty="0" smtClean="0">
                <a:solidFill>
                  <a:schemeClr val="accent2"/>
                </a:solidFill>
                <a:latin typeface="Cambria" panose="02040503050406030204" pitchFamily="18" charset="0"/>
                <a:ea typeface="Cambria" panose="02040503050406030204" pitchFamily="18" charset="0"/>
                <a:cs typeface="Times New Roman" panose="02020603050405020304" pitchFamily="18" charset="0"/>
              </a:rPr>
              <a:t/>
            </a:r>
            <a:br>
              <a:rPr lang="fr-FR" sz="2800" dirty="0" smtClean="0">
                <a:solidFill>
                  <a:schemeClr val="accent2"/>
                </a:solidFill>
                <a:latin typeface="Cambria" panose="02040503050406030204" pitchFamily="18" charset="0"/>
                <a:ea typeface="Cambria" panose="02040503050406030204" pitchFamily="18" charset="0"/>
                <a:cs typeface="Times New Roman" panose="02020603050405020304" pitchFamily="18" charset="0"/>
              </a:rPr>
            </a:br>
            <a:endParaRPr lang="fr-FR" sz="2800" dirty="0">
              <a:solidFill>
                <a:schemeClr val="accent2"/>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2968275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527A3F-5665-4DB1-831B-72D4F7E0E270}"/>
              </a:ext>
            </a:extLst>
          </p:cNvPr>
          <p:cNvSpPr>
            <a:spLocks noGrp="1"/>
          </p:cNvSpPr>
          <p:nvPr>
            <p:ph type="title"/>
          </p:nvPr>
        </p:nvSpPr>
        <p:spPr/>
        <p:txBody>
          <a:bodyPr/>
          <a:lstStyle/>
          <a:p>
            <a:pPr algn="ctr"/>
            <a:r>
              <a:rPr lang="fr-FR" dirty="0" smtClean="0">
                <a:latin typeface="Cambria" panose="02040503050406030204" pitchFamily="18" charset="0"/>
                <a:ea typeface="Cambria" panose="02040503050406030204" pitchFamily="18" charset="0"/>
              </a:rPr>
              <a:t>Merci pour votre attention</a:t>
            </a:r>
            <a:r>
              <a:rPr lang="fr-FR" dirty="0" smtClean="0"/>
              <a:t> </a:t>
            </a:r>
            <a:endParaRPr lang="fr-FR" dirty="0"/>
          </a:p>
        </p:txBody>
      </p:sp>
    </p:spTree>
    <p:extLst>
      <p:ext uri="{BB962C8B-B14F-4D97-AF65-F5344CB8AC3E}">
        <p14:creationId xmlns:p14="http://schemas.microsoft.com/office/powerpoint/2010/main" val="2900027243"/>
      </p:ext>
    </p:extLst>
  </p:cSld>
  <p:clrMapOvr>
    <a:masterClrMapping/>
  </p:clrMapOvr>
  <p:timing>
    <p:tnLst>
      <p:par>
        <p:cTn id="1" dur="indefinite" restart="never" nodeType="tmRoot"/>
      </p:par>
    </p:tnLst>
  </p:timing>
</p:sld>
</file>

<file path=ppt/theme/theme1.xml><?xml version="1.0" encoding="utf-8"?>
<a:theme xmlns:a="http://schemas.openxmlformats.org/drawingml/2006/main" name="PARIS_PPT_MASQUE_2019_MONTSERRAT_BLEU_LIGHT">
  <a:themeElements>
    <a:clrScheme name="Ville de Paris - PowerPoint">
      <a:dk1>
        <a:srgbClr val="071F32"/>
      </a:dk1>
      <a:lt1>
        <a:sysClr val="window" lastClr="FFFFFF"/>
      </a:lt1>
      <a:dk2>
        <a:srgbClr val="071F32"/>
      </a:dk2>
      <a:lt2>
        <a:srgbClr val="F0F0F0"/>
      </a:lt2>
      <a:accent1>
        <a:srgbClr val="25DCCC"/>
      </a:accent1>
      <a:accent2>
        <a:srgbClr val="FFCD00"/>
      </a:accent2>
      <a:accent3>
        <a:srgbClr val="FB394A"/>
      </a:accent3>
      <a:accent4>
        <a:srgbClr val="3ECD2E"/>
      </a:accent4>
      <a:accent5>
        <a:srgbClr val="FF3300"/>
      </a:accent5>
      <a:accent6>
        <a:srgbClr val="354BCF"/>
      </a:accent6>
      <a:hlink>
        <a:srgbClr val="31EEF3"/>
      </a:hlink>
      <a:folHlink>
        <a:srgbClr val="F0F0F0"/>
      </a:folHlink>
    </a:clrScheme>
    <a:fontScheme name="dpsp">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175"/>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 id="{24935C6C-5BE7-3642-9754-D247BE079794}" vid="{5A13ADF8-95AD-E045-81CB-6C711A319CEA}"/>
    </a:ext>
  </a:extLst>
</a:theme>
</file>

<file path=ppt/theme/theme2.xml><?xml version="1.0" encoding="utf-8"?>
<a:theme xmlns:a="http://schemas.openxmlformats.org/drawingml/2006/main" name="Ville de Paris - Partie 1">
  <a:themeElements>
    <a:clrScheme name="Ville de Paris - PowerPoint">
      <a:dk1>
        <a:srgbClr val="071F32"/>
      </a:dk1>
      <a:lt1>
        <a:sysClr val="window" lastClr="FFFFFF"/>
      </a:lt1>
      <a:dk2>
        <a:srgbClr val="071F32"/>
      </a:dk2>
      <a:lt2>
        <a:srgbClr val="F0F0F0"/>
      </a:lt2>
      <a:accent1>
        <a:srgbClr val="25DCCC"/>
      </a:accent1>
      <a:accent2>
        <a:srgbClr val="FFCD00"/>
      </a:accent2>
      <a:accent3>
        <a:srgbClr val="FB394A"/>
      </a:accent3>
      <a:accent4>
        <a:srgbClr val="3ECD2E"/>
      </a:accent4>
      <a:accent5>
        <a:srgbClr val="FF3300"/>
      </a:accent5>
      <a:accent6>
        <a:srgbClr val="354BCF"/>
      </a:accent6>
      <a:hlink>
        <a:srgbClr val="31EEF3"/>
      </a:hlink>
      <a:folHlink>
        <a:srgbClr val="F0F0F0"/>
      </a:folHlink>
    </a:clrScheme>
    <a:fontScheme name="Montserrat">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175"/>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 id="{24935C6C-5BE7-3642-9754-D247BE079794}" vid="{41C100BE-0D3E-7E4D-861C-537861C41808}"/>
    </a:ext>
  </a:extLst>
</a:theme>
</file>

<file path=ppt/theme/theme3.xml><?xml version="1.0" encoding="utf-8"?>
<a:theme xmlns:a="http://schemas.openxmlformats.org/drawingml/2006/main" name="Ville_de_Paris_Template_PowerPoint">
  <a:themeElements>
    <a:clrScheme name="Ville de Paris - PowerPoint">
      <a:dk1>
        <a:srgbClr val="071F32"/>
      </a:dk1>
      <a:lt1>
        <a:sysClr val="window" lastClr="FFFFFF"/>
      </a:lt1>
      <a:dk2>
        <a:srgbClr val="071F32"/>
      </a:dk2>
      <a:lt2>
        <a:srgbClr val="F0F0F0"/>
      </a:lt2>
      <a:accent1>
        <a:srgbClr val="25DCCC"/>
      </a:accent1>
      <a:accent2>
        <a:srgbClr val="FFCD00"/>
      </a:accent2>
      <a:accent3>
        <a:srgbClr val="FB394A"/>
      </a:accent3>
      <a:accent4>
        <a:srgbClr val="3ECD2E"/>
      </a:accent4>
      <a:accent5>
        <a:srgbClr val="FF3300"/>
      </a:accent5>
      <a:accent6>
        <a:srgbClr val="354BCF"/>
      </a:accent6>
      <a:hlink>
        <a:srgbClr val="31EEF3"/>
      </a:hlink>
      <a:folHlink>
        <a:srgbClr val="F0F0F0"/>
      </a:folHlink>
    </a:clrScheme>
    <a:fontScheme name="Montserrat">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175"/>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Ville-de-Paris-Template-PowerPoint-v1.potx" id="{32628B6C-A38D-478F-AF03-48F334E5C995}" vid="{A39227A4-35BA-4474-9852-76C53028F546}"/>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PARIS_PPT_MASQUE_2019_MONTSERRAT_BLEU_LIGHT</Template>
  <TotalTime>10062</TotalTime>
  <Words>3027</Words>
  <Application>Microsoft Office PowerPoint</Application>
  <PresentationFormat>Grand écran</PresentationFormat>
  <Paragraphs>338</Paragraphs>
  <Slides>45</Slides>
  <Notes>4</Notes>
  <HiddenSlides>0</HiddenSlides>
  <MMClips>0</MMClips>
  <ScaleCrop>false</ScaleCrop>
  <HeadingPairs>
    <vt:vector size="6" baseType="variant">
      <vt:variant>
        <vt:lpstr>Polices utilisées</vt:lpstr>
      </vt:variant>
      <vt:variant>
        <vt:i4>10</vt:i4>
      </vt:variant>
      <vt:variant>
        <vt:lpstr>Thème</vt:lpstr>
      </vt:variant>
      <vt:variant>
        <vt:i4>3</vt:i4>
      </vt:variant>
      <vt:variant>
        <vt:lpstr>Titres des diapositives</vt:lpstr>
      </vt:variant>
      <vt:variant>
        <vt:i4>45</vt:i4>
      </vt:variant>
    </vt:vector>
  </HeadingPairs>
  <TitlesOfParts>
    <vt:vector size="58" baseType="lpstr">
      <vt:lpstr>Calibri</vt:lpstr>
      <vt:lpstr>Wingdings</vt:lpstr>
      <vt:lpstr>Times New Roman</vt:lpstr>
      <vt:lpstr>MS PGothic</vt:lpstr>
      <vt:lpstr>Montserrat</vt:lpstr>
      <vt:lpstr>MinionPro-Regular</vt:lpstr>
      <vt:lpstr>Cambria</vt:lpstr>
      <vt:lpstr>Symbol</vt:lpstr>
      <vt:lpstr>Arial</vt:lpstr>
      <vt:lpstr>Times</vt:lpstr>
      <vt:lpstr>PARIS_PPT_MASQUE_2019_MONTSERRAT_BLEU_LIGHT</vt:lpstr>
      <vt:lpstr>Ville de Paris - Partie 1</vt:lpstr>
      <vt:lpstr>Ville_de_Paris_Template_PowerPoint</vt:lpstr>
      <vt:lpstr>Les enjeux de la Police de Proximité</vt:lpstr>
      <vt:lpstr>Les enjeux de la Police de Proximité</vt:lpstr>
      <vt:lpstr>01</vt:lpstr>
      <vt:lpstr>Qu’est ce que la Police de proximité ? </vt:lpstr>
      <vt:lpstr>Concept de police de proximité</vt:lpstr>
      <vt:lpstr>Doctrine de la police de proximité, les 3 objectifs</vt:lpstr>
      <vt:lpstr>Doctrine de la police de proximité, les 3 objectifs</vt:lpstr>
      <vt:lpstr>Doctrine de la police de proximité, les 3 objectifs</vt:lpstr>
      <vt:lpstr>Des questions ?</vt:lpstr>
      <vt:lpstr>02</vt:lpstr>
      <vt:lpstr>Histoire de la police de proximité  </vt:lpstr>
      <vt:lpstr>Histoire de la police de proximité</vt:lpstr>
      <vt:lpstr>Histoire de la police de proximité</vt:lpstr>
      <vt:lpstr>Histoire de la police de proximité</vt:lpstr>
      <vt:lpstr>Histoire de la police de proximité</vt:lpstr>
      <vt:lpstr>Eclipse de la police de proximité</vt:lpstr>
      <vt:lpstr>La police de proximité, le retour</vt:lpstr>
      <vt:lpstr>Des questions ?</vt:lpstr>
      <vt:lpstr>03</vt:lpstr>
      <vt:lpstr>Présentation PowerPoint</vt:lpstr>
      <vt:lpstr>Présentation PowerPoint</vt:lpstr>
      <vt:lpstr> Évolution au sein de la Ville de Paris avant 2012</vt:lpstr>
      <vt:lpstr> Évolution au sein de la Ville de Paris avant 2012</vt:lpstr>
      <vt:lpstr>Évolution au sein de la Ville de Paris après 2012</vt:lpstr>
      <vt:lpstr>  </vt:lpstr>
      <vt:lpstr>La police de proximité à Paris </vt:lpstr>
      <vt:lpstr>Présentation PowerPoint</vt:lpstr>
      <vt:lpstr>La police de proximité à Paris </vt:lpstr>
      <vt:lpstr>Présentation PowerPoint</vt:lpstr>
      <vt:lpstr>« Ville-Vie-Vacances » (V.V.V.) </vt:lpstr>
      <vt:lpstr>Lutte contre les rixes</vt:lpstr>
      <vt:lpstr>Lutte contre les rixes</vt:lpstr>
      <vt:lpstr>Le contrat Parisien Prévention et de Sécurité  </vt:lpstr>
      <vt:lpstr>Des questions ?</vt:lpstr>
      <vt:lpstr>04</vt:lpstr>
      <vt:lpstr>Les modalités de l’îlotage</vt:lpstr>
      <vt:lpstr>Présentation PowerPoint</vt:lpstr>
      <vt:lpstr>Présentation PowerPoint</vt:lpstr>
      <vt:lpstr>Des questions ?</vt:lpstr>
      <vt:lpstr>05</vt:lpstr>
      <vt:lpstr> </vt:lpstr>
      <vt:lpstr>Les nouveaux modes d’exercice de la Police de Proximité à Paris </vt:lpstr>
      <vt:lpstr>Proximité avec les usagers  </vt:lpstr>
      <vt:lpstr> </vt:lpstr>
      <vt:lpstr>Merci pour votre attention </vt:lpstr>
    </vt:vector>
  </TitlesOfParts>
  <Company>Marie de Paris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Titre de la présentation sur une ligne ou deux lignes maximum</dc:title>
  <dc:creator>Benyoucef, Sandrine</dc:creator>
  <cp:lastModifiedBy>Le Puil, Olivier</cp:lastModifiedBy>
  <cp:revision>178</cp:revision>
  <dcterms:created xsi:type="dcterms:W3CDTF">2019-02-21T10:10:22Z</dcterms:created>
  <dcterms:modified xsi:type="dcterms:W3CDTF">2022-09-30T07:04:24Z</dcterms:modified>
</cp:coreProperties>
</file>